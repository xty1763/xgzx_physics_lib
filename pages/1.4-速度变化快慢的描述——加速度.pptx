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9"/>
  </p:notesMasterIdLst>
  <p:sldIdLst>
    <p:sldId id="438" r:id="rId2"/>
    <p:sldId id="627" r:id="rId3"/>
    <p:sldId id="453" r:id="rId4"/>
    <p:sldId id="763" r:id="rId5"/>
    <p:sldId id="766" r:id="rId6"/>
    <p:sldId id="762" r:id="rId7"/>
    <p:sldId id="764" r:id="rId8"/>
    <p:sldId id="768" r:id="rId9"/>
    <p:sldId id="696" r:id="rId10"/>
    <p:sldId id="771" r:id="rId11"/>
    <p:sldId id="776" r:id="rId12"/>
    <p:sldId id="774" r:id="rId13"/>
    <p:sldId id="777" r:id="rId14"/>
    <p:sldId id="778" r:id="rId15"/>
    <p:sldId id="794" r:id="rId16"/>
    <p:sldId id="795" r:id="rId17"/>
    <p:sldId id="779" r:id="rId18"/>
    <p:sldId id="780" r:id="rId19"/>
    <p:sldId id="781" r:id="rId20"/>
    <p:sldId id="782" r:id="rId21"/>
    <p:sldId id="563" r:id="rId22"/>
    <p:sldId id="685" r:id="rId23"/>
    <p:sldId id="505" r:id="rId24"/>
    <p:sldId id="686" r:id="rId25"/>
    <p:sldId id="807" r:id="rId26"/>
    <p:sldId id="1607" r:id="rId27"/>
    <p:sldId id="1482" r:id="rId28"/>
    <p:sldId id="1604" r:id="rId29"/>
    <p:sldId id="1483" r:id="rId30"/>
    <p:sldId id="1495" r:id="rId31"/>
    <p:sldId id="1606" r:id="rId32"/>
    <p:sldId id="1485" r:id="rId33"/>
    <p:sldId id="1555" r:id="rId34"/>
    <p:sldId id="1486" r:id="rId35"/>
    <p:sldId id="1488" r:id="rId36"/>
    <p:sldId id="1489" r:id="rId37"/>
    <p:sldId id="1491" r:id="rId38"/>
  </p:sldIdLst>
  <p:sldSz cx="12192000" cy="6858000"/>
  <p:notesSz cx="6858000" cy="9144000"/>
  <p:embeddedFontLst>
    <p:embeddedFont>
      <p:font typeface="Cambria Math" panose="02040503050406030204" pitchFamily="18" charset="0"/>
      <p:regular r:id="rId40"/>
    </p:embeddedFont>
    <p:embeddedFont>
      <p:font typeface="黑体" panose="02010609060101010101" pitchFamily="49" charset="-122"/>
      <p:regular r:id="rId41"/>
    </p:embeddedFont>
  </p:embeddedFontLst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34" userDrawn="1">
          <p15:clr>
            <a:srgbClr val="A4A3A4"/>
          </p15:clr>
        </p15:guide>
        <p15:guide id="2" orient="horz" pos="493" userDrawn="1">
          <p15:clr>
            <a:srgbClr val="A4A3A4"/>
          </p15:clr>
        </p15:guide>
        <p15:guide id="3" pos="145" userDrawn="1">
          <p15:clr>
            <a:srgbClr val="A4A3A4"/>
          </p15:clr>
        </p15:guide>
        <p15:guide id="4" orient="horz" pos="3874" userDrawn="1">
          <p15:clr>
            <a:srgbClr val="A4A3A4"/>
          </p15:clr>
        </p15:guide>
        <p15:guide id="5" pos="3801" userDrawn="1">
          <p15:clr>
            <a:srgbClr val="A4A3A4"/>
          </p15:clr>
        </p15:guide>
        <p15:guide id="6" orient="horz" pos="1494" userDrawn="1">
          <p15:clr>
            <a:srgbClr val="A4A3A4"/>
          </p15:clr>
        </p15:guide>
        <p15:guide id="7" orient="horz" pos="28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D" initials="H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3" autoAdjust="0"/>
    <p:restoredTop sz="94039" autoAdjust="0"/>
  </p:normalViewPr>
  <p:slideViewPr>
    <p:cSldViewPr snapToGrid="0" snapToObjects="1" showGuides="1">
      <p:cViewPr varScale="1">
        <p:scale>
          <a:sx n="107" d="100"/>
          <a:sy n="107" d="100"/>
        </p:scale>
        <p:origin x="576" y="114"/>
      </p:cViewPr>
      <p:guideLst>
        <p:guide pos="534"/>
        <p:guide orient="horz" pos="493"/>
        <p:guide pos="145"/>
        <p:guide orient="horz" pos="3874"/>
        <p:guide pos="3801"/>
        <p:guide orient="horz" pos="1494"/>
        <p:guide orient="horz" pos="28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624"/>
    </p:cViewPr>
  </p:sorterViewPr>
  <p:notesViewPr>
    <p:cSldViewPr snapToGrid="0" snapToObjects="1">
      <p:cViewPr varScale="1">
        <p:scale>
          <a:sx n="63" d="100"/>
          <a:sy n="63" d="100"/>
        </p:scale>
        <p:origin x="313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gs" Target="tags/tag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2" Type="http://schemas.openxmlformats.org/officeDocument/2006/relationships/tags" Target="../tags/tag6.xml"/><Relationship Id="rId1" Type="http://schemas.openxmlformats.org/officeDocument/2006/relationships/theme" Target="../theme/theme2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Light" panose="020B0400000000000000" pitchFamily="34" charset="-122"/>
                <a:ea typeface="思源黑体 CN Light" panose="020B0400000000000000" pitchFamily="34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Light" panose="020B0400000000000000" pitchFamily="34" charset="-122"/>
                <a:ea typeface="思源黑体 CN Light" panose="020B0400000000000000" pitchFamily="34" charset="-122"/>
              </a:defRPr>
            </a:lvl1pPr>
          </a:lstStyle>
          <a:p>
            <a:fld id="{C447EC32-24EB-424B-8707-2C2E4081F270}" type="datetimeFigureOut">
              <a:rPr kumimoji="1" lang="zh-CN" altLang="en-US" smtClean="0"/>
              <a:t>2024/9/18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Light" panose="020B0400000000000000" pitchFamily="34" charset="-122"/>
                <a:ea typeface="思源黑体 CN Light" panose="020B0400000000000000" pitchFamily="34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Light" panose="020B0400000000000000" pitchFamily="34" charset="-122"/>
                <a:ea typeface="思源黑体 CN Light" panose="020B0400000000000000" pitchFamily="34" charset="-122"/>
              </a:defRPr>
            </a:lvl1pPr>
          </a:lstStyle>
          <a:p>
            <a:fld id="{070D7410-EFF8-234A-9DF0-23F51615F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Light" panose="020B0400000000000000" pitchFamily="34" charset="-122"/>
        <a:ea typeface="思源黑体 CN Light" panose="020B0400000000000000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Light" panose="020B0400000000000000" pitchFamily="34" charset="-122"/>
        <a:ea typeface="思源黑体 CN Light" panose="020B0400000000000000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Light" panose="020B0400000000000000" pitchFamily="34" charset="-122"/>
        <a:ea typeface="思源黑体 CN Light" panose="020B0400000000000000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Light" panose="020B0400000000000000" pitchFamily="34" charset="-122"/>
        <a:ea typeface="思源黑体 CN Light" panose="020B0400000000000000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Light" panose="020B0400000000000000" pitchFamily="34" charset="-122"/>
        <a:ea typeface="思源黑体 CN Light" panose="020B0400000000000000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462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12" Type="http://schemas.openxmlformats.org/officeDocument/2006/relationships/image" Target="file:///D:\qq&#25991;&#20214;\712321467\Image\C2C\Image2\%7b75232B38-A165-1FB7-499C-2E1C792CACB5%7d.png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11" Type="http://schemas.openxmlformats.org/officeDocument/2006/relationships/image" Target="../media/image4.png"/><Relationship Id="rId5" Type="http://schemas.openxmlformats.org/officeDocument/2006/relationships/tags" Target="../tags/tag3.xml"/><Relationship Id="rId10" Type="http://schemas.openxmlformats.org/officeDocument/2006/relationships/image" Target="../media/image3.png"/><Relationship Id="rId4" Type="http://schemas.openxmlformats.org/officeDocument/2006/relationships/tags" Target="../tags/tag2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5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2834640"/>
            <a:ext cx="12185650" cy="4023360"/>
          </a:xfrm>
          <a:prstGeom prst="rect">
            <a:avLst/>
          </a:prstGeom>
        </p:spPr>
      </p:pic>
      <p:pic>
        <p:nvPicPr>
          <p:cNvPr id="3" name="图片 2" descr="图片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2834640"/>
            <a:ext cx="12185650" cy="4023360"/>
          </a:xfrm>
          <a:prstGeom prst="rect">
            <a:avLst/>
          </a:prstGeom>
        </p:spPr>
      </p:pic>
      <p:pic>
        <p:nvPicPr>
          <p:cNvPr id="4" name="图片 3" descr="图片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2545" y="823595"/>
            <a:ext cx="12106910" cy="6114415"/>
          </a:xfrm>
          <a:prstGeom prst="rect">
            <a:avLst/>
          </a:prstGeom>
        </p:spPr>
      </p:pic>
      <p:pic>
        <p:nvPicPr>
          <p:cNvPr id="5" name="图片 1073743875" descr="学科网 zxxk.com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1" r:link="rId1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Light" panose="020B0400000000000000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Light" panose="020B0400000000000000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Light" panose="020B04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Light" panose="020B0400000000000000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Light" panose="020B0400000000000000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5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image" Target="../media/image6.wmf"/><Relationship Id="rId5" Type="http://schemas.openxmlformats.org/officeDocument/2006/relationships/tags" Target="../tags/tag28.xml"/><Relationship Id="rId10" Type="http://schemas.openxmlformats.org/officeDocument/2006/relationships/oleObject" Target="../embeddings/oleObject1.bin"/><Relationship Id="rId4" Type="http://schemas.openxmlformats.org/officeDocument/2006/relationships/tags" Target="../tags/tag27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18" Type="http://schemas.openxmlformats.org/officeDocument/2006/relationships/tags" Target="../tags/tag70.xml"/><Relationship Id="rId26" Type="http://schemas.openxmlformats.org/officeDocument/2006/relationships/tags" Target="../tags/tag78.xml"/><Relationship Id="rId39" Type="http://schemas.openxmlformats.org/officeDocument/2006/relationships/tags" Target="../tags/tag91.xml"/><Relationship Id="rId3" Type="http://schemas.openxmlformats.org/officeDocument/2006/relationships/tags" Target="../tags/tag55.xml"/><Relationship Id="rId21" Type="http://schemas.openxmlformats.org/officeDocument/2006/relationships/tags" Target="../tags/tag73.xml"/><Relationship Id="rId34" Type="http://schemas.openxmlformats.org/officeDocument/2006/relationships/tags" Target="../tags/tag86.xml"/><Relationship Id="rId42" Type="http://schemas.openxmlformats.org/officeDocument/2006/relationships/tags" Target="../tags/tag94.xml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17" Type="http://schemas.openxmlformats.org/officeDocument/2006/relationships/tags" Target="../tags/tag69.xml"/><Relationship Id="rId25" Type="http://schemas.openxmlformats.org/officeDocument/2006/relationships/tags" Target="../tags/tag77.xml"/><Relationship Id="rId33" Type="http://schemas.openxmlformats.org/officeDocument/2006/relationships/tags" Target="../tags/tag85.xml"/><Relationship Id="rId38" Type="http://schemas.openxmlformats.org/officeDocument/2006/relationships/tags" Target="../tags/tag90.xml"/><Relationship Id="rId2" Type="http://schemas.openxmlformats.org/officeDocument/2006/relationships/tags" Target="../tags/tag54.xml"/><Relationship Id="rId16" Type="http://schemas.openxmlformats.org/officeDocument/2006/relationships/tags" Target="../tags/tag68.xml"/><Relationship Id="rId20" Type="http://schemas.openxmlformats.org/officeDocument/2006/relationships/tags" Target="../tags/tag72.xml"/><Relationship Id="rId29" Type="http://schemas.openxmlformats.org/officeDocument/2006/relationships/tags" Target="../tags/tag81.xml"/><Relationship Id="rId41" Type="http://schemas.openxmlformats.org/officeDocument/2006/relationships/tags" Target="../tags/tag93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24" Type="http://schemas.openxmlformats.org/officeDocument/2006/relationships/tags" Target="../tags/tag76.xml"/><Relationship Id="rId32" Type="http://schemas.openxmlformats.org/officeDocument/2006/relationships/tags" Target="../tags/tag84.xml"/><Relationship Id="rId37" Type="http://schemas.openxmlformats.org/officeDocument/2006/relationships/tags" Target="../tags/tag89.xml"/><Relationship Id="rId40" Type="http://schemas.openxmlformats.org/officeDocument/2006/relationships/tags" Target="../tags/tag92.xml"/><Relationship Id="rId45" Type="http://schemas.openxmlformats.org/officeDocument/2006/relationships/slideLayout" Target="../slideLayouts/slideLayout1.xml"/><Relationship Id="rId5" Type="http://schemas.openxmlformats.org/officeDocument/2006/relationships/tags" Target="../tags/tag57.xml"/><Relationship Id="rId15" Type="http://schemas.openxmlformats.org/officeDocument/2006/relationships/tags" Target="../tags/tag67.xml"/><Relationship Id="rId23" Type="http://schemas.openxmlformats.org/officeDocument/2006/relationships/tags" Target="../tags/tag75.xml"/><Relationship Id="rId28" Type="http://schemas.openxmlformats.org/officeDocument/2006/relationships/tags" Target="../tags/tag80.xml"/><Relationship Id="rId36" Type="http://schemas.openxmlformats.org/officeDocument/2006/relationships/tags" Target="../tags/tag88.xml"/><Relationship Id="rId10" Type="http://schemas.openxmlformats.org/officeDocument/2006/relationships/tags" Target="../tags/tag62.xml"/><Relationship Id="rId19" Type="http://schemas.openxmlformats.org/officeDocument/2006/relationships/tags" Target="../tags/tag71.xml"/><Relationship Id="rId31" Type="http://schemas.openxmlformats.org/officeDocument/2006/relationships/tags" Target="../tags/tag83.xml"/><Relationship Id="rId44" Type="http://schemas.openxmlformats.org/officeDocument/2006/relationships/tags" Target="../tags/tag96.xml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tags" Target="../tags/tag66.xml"/><Relationship Id="rId22" Type="http://schemas.openxmlformats.org/officeDocument/2006/relationships/tags" Target="../tags/tag74.xml"/><Relationship Id="rId27" Type="http://schemas.openxmlformats.org/officeDocument/2006/relationships/tags" Target="../tags/tag79.xml"/><Relationship Id="rId30" Type="http://schemas.openxmlformats.org/officeDocument/2006/relationships/tags" Target="../tags/tag82.xml"/><Relationship Id="rId35" Type="http://schemas.openxmlformats.org/officeDocument/2006/relationships/tags" Target="../tags/tag87.xml"/><Relationship Id="rId43" Type="http://schemas.openxmlformats.org/officeDocument/2006/relationships/tags" Target="../tags/tag9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tags" Target="../tags/tag109.xml"/><Relationship Id="rId18" Type="http://schemas.openxmlformats.org/officeDocument/2006/relationships/tags" Target="../tags/tag114.xml"/><Relationship Id="rId26" Type="http://schemas.openxmlformats.org/officeDocument/2006/relationships/tags" Target="../tags/tag122.xml"/><Relationship Id="rId39" Type="http://schemas.openxmlformats.org/officeDocument/2006/relationships/tags" Target="../tags/tag135.xml"/><Relationship Id="rId3" Type="http://schemas.openxmlformats.org/officeDocument/2006/relationships/tags" Target="../tags/tag99.xml"/><Relationship Id="rId21" Type="http://schemas.openxmlformats.org/officeDocument/2006/relationships/tags" Target="../tags/tag117.xml"/><Relationship Id="rId34" Type="http://schemas.openxmlformats.org/officeDocument/2006/relationships/tags" Target="../tags/tag130.xml"/><Relationship Id="rId42" Type="http://schemas.openxmlformats.org/officeDocument/2006/relationships/tags" Target="../tags/tag138.xml"/><Relationship Id="rId7" Type="http://schemas.openxmlformats.org/officeDocument/2006/relationships/tags" Target="../tags/tag103.xml"/><Relationship Id="rId12" Type="http://schemas.openxmlformats.org/officeDocument/2006/relationships/tags" Target="../tags/tag108.xml"/><Relationship Id="rId17" Type="http://schemas.openxmlformats.org/officeDocument/2006/relationships/tags" Target="../tags/tag113.xml"/><Relationship Id="rId25" Type="http://schemas.openxmlformats.org/officeDocument/2006/relationships/tags" Target="../tags/tag121.xml"/><Relationship Id="rId33" Type="http://schemas.openxmlformats.org/officeDocument/2006/relationships/tags" Target="../tags/tag129.xml"/><Relationship Id="rId38" Type="http://schemas.openxmlformats.org/officeDocument/2006/relationships/tags" Target="../tags/tag134.xml"/><Relationship Id="rId2" Type="http://schemas.openxmlformats.org/officeDocument/2006/relationships/tags" Target="../tags/tag98.xml"/><Relationship Id="rId16" Type="http://schemas.openxmlformats.org/officeDocument/2006/relationships/tags" Target="../tags/tag112.xml"/><Relationship Id="rId20" Type="http://schemas.openxmlformats.org/officeDocument/2006/relationships/tags" Target="../tags/tag116.xml"/><Relationship Id="rId29" Type="http://schemas.openxmlformats.org/officeDocument/2006/relationships/tags" Target="../tags/tag125.xml"/><Relationship Id="rId41" Type="http://schemas.openxmlformats.org/officeDocument/2006/relationships/tags" Target="../tags/tag137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24" Type="http://schemas.openxmlformats.org/officeDocument/2006/relationships/tags" Target="../tags/tag120.xml"/><Relationship Id="rId32" Type="http://schemas.openxmlformats.org/officeDocument/2006/relationships/tags" Target="../tags/tag128.xml"/><Relationship Id="rId37" Type="http://schemas.openxmlformats.org/officeDocument/2006/relationships/tags" Target="../tags/tag133.xml"/><Relationship Id="rId40" Type="http://schemas.openxmlformats.org/officeDocument/2006/relationships/tags" Target="../tags/tag136.xml"/><Relationship Id="rId45" Type="http://schemas.openxmlformats.org/officeDocument/2006/relationships/slideLayout" Target="../slideLayouts/slideLayout1.xml"/><Relationship Id="rId5" Type="http://schemas.openxmlformats.org/officeDocument/2006/relationships/tags" Target="../tags/tag101.xml"/><Relationship Id="rId15" Type="http://schemas.openxmlformats.org/officeDocument/2006/relationships/tags" Target="../tags/tag111.xml"/><Relationship Id="rId23" Type="http://schemas.openxmlformats.org/officeDocument/2006/relationships/tags" Target="../tags/tag119.xml"/><Relationship Id="rId28" Type="http://schemas.openxmlformats.org/officeDocument/2006/relationships/tags" Target="../tags/tag124.xml"/><Relationship Id="rId36" Type="http://schemas.openxmlformats.org/officeDocument/2006/relationships/tags" Target="../tags/tag132.xml"/><Relationship Id="rId10" Type="http://schemas.openxmlformats.org/officeDocument/2006/relationships/tags" Target="../tags/tag106.xml"/><Relationship Id="rId19" Type="http://schemas.openxmlformats.org/officeDocument/2006/relationships/tags" Target="../tags/tag115.xml"/><Relationship Id="rId31" Type="http://schemas.openxmlformats.org/officeDocument/2006/relationships/tags" Target="../tags/tag127.xml"/><Relationship Id="rId44" Type="http://schemas.openxmlformats.org/officeDocument/2006/relationships/tags" Target="../tags/tag140.xml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tags" Target="../tags/tag110.xml"/><Relationship Id="rId22" Type="http://schemas.openxmlformats.org/officeDocument/2006/relationships/tags" Target="../tags/tag118.xml"/><Relationship Id="rId27" Type="http://schemas.openxmlformats.org/officeDocument/2006/relationships/tags" Target="../tags/tag123.xml"/><Relationship Id="rId30" Type="http://schemas.openxmlformats.org/officeDocument/2006/relationships/tags" Target="../tags/tag126.xml"/><Relationship Id="rId35" Type="http://schemas.openxmlformats.org/officeDocument/2006/relationships/tags" Target="../tags/tag131.xml"/><Relationship Id="rId43" Type="http://schemas.openxmlformats.org/officeDocument/2006/relationships/tags" Target="../tags/tag13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5" Type="http://schemas.openxmlformats.org/officeDocument/2006/relationships/image" Target="../media/image7.jpeg"/><Relationship Id="rId4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51.xml"/><Relationship Id="rId3" Type="http://schemas.openxmlformats.org/officeDocument/2006/relationships/tags" Target="../tags/tag146.xml"/><Relationship Id="rId7" Type="http://schemas.openxmlformats.org/officeDocument/2006/relationships/tags" Target="../tags/tag150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9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59.xml"/><Relationship Id="rId3" Type="http://schemas.openxmlformats.org/officeDocument/2006/relationships/tags" Target="../tags/tag154.xml"/><Relationship Id="rId7" Type="http://schemas.openxmlformats.org/officeDocument/2006/relationships/tags" Target="../tags/tag158.xml"/><Relationship Id="rId2" Type="http://schemas.openxmlformats.org/officeDocument/2006/relationships/tags" Target="../tags/tag153.xml"/><Relationship Id="rId1" Type="http://schemas.openxmlformats.org/officeDocument/2006/relationships/tags" Target="../tags/tag152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9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62.xml"/><Relationship Id="rId7" Type="http://schemas.openxmlformats.org/officeDocument/2006/relationships/image" Target="../media/image8.png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64.xml"/><Relationship Id="rId4" Type="http://schemas.openxmlformats.org/officeDocument/2006/relationships/tags" Target="../tags/tag16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67.xml"/><Relationship Id="rId7" Type="http://schemas.openxmlformats.org/officeDocument/2006/relationships/image" Target="../media/image8.png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69.xml"/><Relationship Id="rId4" Type="http://schemas.openxmlformats.org/officeDocument/2006/relationships/tags" Target="../tags/tag16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77.xml"/><Relationship Id="rId3" Type="http://schemas.openxmlformats.org/officeDocument/2006/relationships/tags" Target="../tags/tag172.xml"/><Relationship Id="rId7" Type="http://schemas.openxmlformats.org/officeDocument/2006/relationships/tags" Target="../tags/tag176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10" Type="http://schemas.openxmlformats.org/officeDocument/2006/relationships/image" Target="../media/image8.png"/><Relationship Id="rId4" Type="http://schemas.openxmlformats.org/officeDocument/2006/relationships/tags" Target="../tags/tag173.xml"/><Relationship Id="rId9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13" Type="http://schemas.openxmlformats.org/officeDocument/2006/relationships/tags" Target="../tags/tag190.xml"/><Relationship Id="rId18" Type="http://schemas.openxmlformats.org/officeDocument/2006/relationships/tags" Target="../tags/tag195.xml"/><Relationship Id="rId26" Type="http://schemas.openxmlformats.org/officeDocument/2006/relationships/tags" Target="../tags/tag203.xml"/><Relationship Id="rId39" Type="http://schemas.openxmlformats.org/officeDocument/2006/relationships/tags" Target="../tags/tag216.xml"/><Relationship Id="rId3" Type="http://schemas.openxmlformats.org/officeDocument/2006/relationships/tags" Target="../tags/tag180.xml"/><Relationship Id="rId21" Type="http://schemas.openxmlformats.org/officeDocument/2006/relationships/tags" Target="../tags/tag198.xml"/><Relationship Id="rId34" Type="http://schemas.openxmlformats.org/officeDocument/2006/relationships/tags" Target="../tags/tag211.xml"/><Relationship Id="rId42" Type="http://schemas.openxmlformats.org/officeDocument/2006/relationships/tags" Target="../tags/tag219.xml"/><Relationship Id="rId7" Type="http://schemas.openxmlformats.org/officeDocument/2006/relationships/tags" Target="../tags/tag184.xml"/><Relationship Id="rId12" Type="http://schemas.openxmlformats.org/officeDocument/2006/relationships/tags" Target="../tags/tag189.xml"/><Relationship Id="rId17" Type="http://schemas.openxmlformats.org/officeDocument/2006/relationships/tags" Target="../tags/tag194.xml"/><Relationship Id="rId25" Type="http://schemas.openxmlformats.org/officeDocument/2006/relationships/tags" Target="../tags/tag202.xml"/><Relationship Id="rId33" Type="http://schemas.openxmlformats.org/officeDocument/2006/relationships/tags" Target="../tags/tag210.xml"/><Relationship Id="rId38" Type="http://schemas.openxmlformats.org/officeDocument/2006/relationships/tags" Target="../tags/tag215.xml"/><Relationship Id="rId2" Type="http://schemas.openxmlformats.org/officeDocument/2006/relationships/tags" Target="../tags/tag179.xml"/><Relationship Id="rId16" Type="http://schemas.openxmlformats.org/officeDocument/2006/relationships/tags" Target="../tags/tag193.xml"/><Relationship Id="rId20" Type="http://schemas.openxmlformats.org/officeDocument/2006/relationships/tags" Target="../tags/tag197.xml"/><Relationship Id="rId29" Type="http://schemas.openxmlformats.org/officeDocument/2006/relationships/tags" Target="../tags/tag206.xml"/><Relationship Id="rId41" Type="http://schemas.openxmlformats.org/officeDocument/2006/relationships/tags" Target="../tags/tag218.xml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11" Type="http://schemas.openxmlformats.org/officeDocument/2006/relationships/tags" Target="../tags/tag188.xml"/><Relationship Id="rId24" Type="http://schemas.openxmlformats.org/officeDocument/2006/relationships/tags" Target="../tags/tag201.xml"/><Relationship Id="rId32" Type="http://schemas.openxmlformats.org/officeDocument/2006/relationships/tags" Target="../tags/tag209.xml"/><Relationship Id="rId37" Type="http://schemas.openxmlformats.org/officeDocument/2006/relationships/tags" Target="../tags/tag214.xml"/><Relationship Id="rId40" Type="http://schemas.openxmlformats.org/officeDocument/2006/relationships/tags" Target="../tags/tag217.xml"/><Relationship Id="rId5" Type="http://schemas.openxmlformats.org/officeDocument/2006/relationships/tags" Target="../tags/tag182.xml"/><Relationship Id="rId15" Type="http://schemas.openxmlformats.org/officeDocument/2006/relationships/tags" Target="../tags/tag192.xml"/><Relationship Id="rId23" Type="http://schemas.openxmlformats.org/officeDocument/2006/relationships/tags" Target="../tags/tag200.xml"/><Relationship Id="rId28" Type="http://schemas.openxmlformats.org/officeDocument/2006/relationships/tags" Target="../tags/tag205.xml"/><Relationship Id="rId36" Type="http://schemas.openxmlformats.org/officeDocument/2006/relationships/tags" Target="../tags/tag213.xml"/><Relationship Id="rId10" Type="http://schemas.openxmlformats.org/officeDocument/2006/relationships/tags" Target="../tags/tag187.xml"/><Relationship Id="rId19" Type="http://schemas.openxmlformats.org/officeDocument/2006/relationships/tags" Target="../tags/tag196.xml"/><Relationship Id="rId31" Type="http://schemas.openxmlformats.org/officeDocument/2006/relationships/tags" Target="../tags/tag208.xml"/><Relationship Id="rId44" Type="http://schemas.openxmlformats.org/officeDocument/2006/relationships/slideLayout" Target="../slideLayouts/slideLayout1.xml"/><Relationship Id="rId4" Type="http://schemas.openxmlformats.org/officeDocument/2006/relationships/tags" Target="../tags/tag181.xml"/><Relationship Id="rId9" Type="http://schemas.openxmlformats.org/officeDocument/2006/relationships/tags" Target="../tags/tag186.xml"/><Relationship Id="rId14" Type="http://schemas.openxmlformats.org/officeDocument/2006/relationships/tags" Target="../tags/tag191.xml"/><Relationship Id="rId22" Type="http://schemas.openxmlformats.org/officeDocument/2006/relationships/tags" Target="../tags/tag199.xml"/><Relationship Id="rId27" Type="http://schemas.openxmlformats.org/officeDocument/2006/relationships/tags" Target="../tags/tag204.xml"/><Relationship Id="rId30" Type="http://schemas.openxmlformats.org/officeDocument/2006/relationships/tags" Target="../tags/tag207.xml"/><Relationship Id="rId35" Type="http://schemas.openxmlformats.org/officeDocument/2006/relationships/tags" Target="../tags/tag212.xml"/><Relationship Id="rId43" Type="http://schemas.openxmlformats.org/officeDocument/2006/relationships/tags" Target="../tags/tag22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228.xml"/><Relationship Id="rId13" Type="http://schemas.openxmlformats.org/officeDocument/2006/relationships/tags" Target="../tags/tag233.xml"/><Relationship Id="rId18" Type="http://schemas.openxmlformats.org/officeDocument/2006/relationships/tags" Target="../tags/tag238.xml"/><Relationship Id="rId26" Type="http://schemas.openxmlformats.org/officeDocument/2006/relationships/tags" Target="../tags/tag246.xml"/><Relationship Id="rId39" Type="http://schemas.openxmlformats.org/officeDocument/2006/relationships/tags" Target="../tags/tag259.xml"/><Relationship Id="rId3" Type="http://schemas.openxmlformats.org/officeDocument/2006/relationships/tags" Target="../tags/tag223.xml"/><Relationship Id="rId21" Type="http://schemas.openxmlformats.org/officeDocument/2006/relationships/tags" Target="../tags/tag241.xml"/><Relationship Id="rId34" Type="http://schemas.openxmlformats.org/officeDocument/2006/relationships/tags" Target="../tags/tag254.xml"/><Relationship Id="rId42" Type="http://schemas.openxmlformats.org/officeDocument/2006/relationships/tags" Target="../tags/tag262.xml"/><Relationship Id="rId7" Type="http://schemas.openxmlformats.org/officeDocument/2006/relationships/tags" Target="../tags/tag227.xml"/><Relationship Id="rId12" Type="http://schemas.openxmlformats.org/officeDocument/2006/relationships/tags" Target="../tags/tag232.xml"/><Relationship Id="rId17" Type="http://schemas.openxmlformats.org/officeDocument/2006/relationships/tags" Target="../tags/tag237.xml"/><Relationship Id="rId25" Type="http://schemas.openxmlformats.org/officeDocument/2006/relationships/tags" Target="../tags/tag245.xml"/><Relationship Id="rId33" Type="http://schemas.openxmlformats.org/officeDocument/2006/relationships/tags" Target="../tags/tag253.xml"/><Relationship Id="rId38" Type="http://schemas.openxmlformats.org/officeDocument/2006/relationships/tags" Target="../tags/tag258.xml"/><Relationship Id="rId2" Type="http://schemas.openxmlformats.org/officeDocument/2006/relationships/tags" Target="../tags/tag222.xml"/><Relationship Id="rId16" Type="http://schemas.openxmlformats.org/officeDocument/2006/relationships/tags" Target="../tags/tag236.xml"/><Relationship Id="rId20" Type="http://schemas.openxmlformats.org/officeDocument/2006/relationships/tags" Target="../tags/tag240.xml"/><Relationship Id="rId29" Type="http://schemas.openxmlformats.org/officeDocument/2006/relationships/tags" Target="../tags/tag249.xml"/><Relationship Id="rId41" Type="http://schemas.openxmlformats.org/officeDocument/2006/relationships/tags" Target="../tags/tag261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11" Type="http://schemas.openxmlformats.org/officeDocument/2006/relationships/tags" Target="../tags/tag231.xml"/><Relationship Id="rId24" Type="http://schemas.openxmlformats.org/officeDocument/2006/relationships/tags" Target="../tags/tag244.xml"/><Relationship Id="rId32" Type="http://schemas.openxmlformats.org/officeDocument/2006/relationships/tags" Target="../tags/tag252.xml"/><Relationship Id="rId37" Type="http://schemas.openxmlformats.org/officeDocument/2006/relationships/tags" Target="../tags/tag257.xml"/><Relationship Id="rId40" Type="http://schemas.openxmlformats.org/officeDocument/2006/relationships/tags" Target="../tags/tag260.xml"/><Relationship Id="rId5" Type="http://schemas.openxmlformats.org/officeDocument/2006/relationships/tags" Target="../tags/tag225.xml"/><Relationship Id="rId15" Type="http://schemas.openxmlformats.org/officeDocument/2006/relationships/tags" Target="../tags/tag235.xml"/><Relationship Id="rId23" Type="http://schemas.openxmlformats.org/officeDocument/2006/relationships/tags" Target="../tags/tag243.xml"/><Relationship Id="rId28" Type="http://schemas.openxmlformats.org/officeDocument/2006/relationships/tags" Target="../tags/tag248.xml"/><Relationship Id="rId36" Type="http://schemas.openxmlformats.org/officeDocument/2006/relationships/tags" Target="../tags/tag256.xml"/><Relationship Id="rId10" Type="http://schemas.openxmlformats.org/officeDocument/2006/relationships/tags" Target="../tags/tag230.xml"/><Relationship Id="rId19" Type="http://schemas.openxmlformats.org/officeDocument/2006/relationships/tags" Target="../tags/tag239.xml"/><Relationship Id="rId31" Type="http://schemas.openxmlformats.org/officeDocument/2006/relationships/tags" Target="../tags/tag251.xml"/><Relationship Id="rId4" Type="http://schemas.openxmlformats.org/officeDocument/2006/relationships/tags" Target="../tags/tag224.xml"/><Relationship Id="rId9" Type="http://schemas.openxmlformats.org/officeDocument/2006/relationships/tags" Target="../tags/tag229.xml"/><Relationship Id="rId14" Type="http://schemas.openxmlformats.org/officeDocument/2006/relationships/tags" Target="../tags/tag234.xml"/><Relationship Id="rId22" Type="http://schemas.openxmlformats.org/officeDocument/2006/relationships/tags" Target="../tags/tag242.xml"/><Relationship Id="rId27" Type="http://schemas.openxmlformats.org/officeDocument/2006/relationships/tags" Target="../tags/tag247.xml"/><Relationship Id="rId30" Type="http://schemas.openxmlformats.org/officeDocument/2006/relationships/tags" Target="../tags/tag250.xml"/><Relationship Id="rId35" Type="http://schemas.openxmlformats.org/officeDocument/2006/relationships/tags" Target="../tags/tag255.xml"/><Relationship Id="rId43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270.xml"/><Relationship Id="rId13" Type="http://schemas.openxmlformats.org/officeDocument/2006/relationships/tags" Target="../tags/tag275.xml"/><Relationship Id="rId18" Type="http://schemas.openxmlformats.org/officeDocument/2006/relationships/tags" Target="../tags/tag280.xml"/><Relationship Id="rId26" Type="http://schemas.openxmlformats.org/officeDocument/2006/relationships/tags" Target="../tags/tag288.xml"/><Relationship Id="rId39" Type="http://schemas.openxmlformats.org/officeDocument/2006/relationships/tags" Target="../tags/tag301.xml"/><Relationship Id="rId3" Type="http://schemas.openxmlformats.org/officeDocument/2006/relationships/tags" Target="../tags/tag265.xml"/><Relationship Id="rId21" Type="http://schemas.openxmlformats.org/officeDocument/2006/relationships/tags" Target="../tags/tag283.xml"/><Relationship Id="rId34" Type="http://schemas.openxmlformats.org/officeDocument/2006/relationships/tags" Target="../tags/tag296.xml"/><Relationship Id="rId42" Type="http://schemas.openxmlformats.org/officeDocument/2006/relationships/tags" Target="../tags/tag304.xml"/><Relationship Id="rId7" Type="http://schemas.openxmlformats.org/officeDocument/2006/relationships/tags" Target="../tags/tag269.xml"/><Relationship Id="rId12" Type="http://schemas.openxmlformats.org/officeDocument/2006/relationships/tags" Target="../tags/tag274.xml"/><Relationship Id="rId17" Type="http://schemas.openxmlformats.org/officeDocument/2006/relationships/tags" Target="../tags/tag279.xml"/><Relationship Id="rId25" Type="http://schemas.openxmlformats.org/officeDocument/2006/relationships/tags" Target="../tags/tag287.xml"/><Relationship Id="rId33" Type="http://schemas.openxmlformats.org/officeDocument/2006/relationships/tags" Target="../tags/tag295.xml"/><Relationship Id="rId38" Type="http://schemas.openxmlformats.org/officeDocument/2006/relationships/tags" Target="../tags/tag300.xml"/><Relationship Id="rId2" Type="http://schemas.openxmlformats.org/officeDocument/2006/relationships/tags" Target="../tags/tag264.xml"/><Relationship Id="rId16" Type="http://schemas.openxmlformats.org/officeDocument/2006/relationships/tags" Target="../tags/tag278.xml"/><Relationship Id="rId20" Type="http://schemas.openxmlformats.org/officeDocument/2006/relationships/tags" Target="../tags/tag282.xml"/><Relationship Id="rId29" Type="http://schemas.openxmlformats.org/officeDocument/2006/relationships/tags" Target="../tags/tag291.xml"/><Relationship Id="rId41" Type="http://schemas.openxmlformats.org/officeDocument/2006/relationships/tags" Target="../tags/tag303.xml"/><Relationship Id="rId1" Type="http://schemas.openxmlformats.org/officeDocument/2006/relationships/tags" Target="../tags/tag263.xml"/><Relationship Id="rId6" Type="http://schemas.openxmlformats.org/officeDocument/2006/relationships/tags" Target="../tags/tag268.xml"/><Relationship Id="rId11" Type="http://schemas.openxmlformats.org/officeDocument/2006/relationships/tags" Target="../tags/tag273.xml"/><Relationship Id="rId24" Type="http://schemas.openxmlformats.org/officeDocument/2006/relationships/tags" Target="../tags/tag286.xml"/><Relationship Id="rId32" Type="http://schemas.openxmlformats.org/officeDocument/2006/relationships/tags" Target="../tags/tag294.xml"/><Relationship Id="rId37" Type="http://schemas.openxmlformats.org/officeDocument/2006/relationships/tags" Target="../tags/tag299.xml"/><Relationship Id="rId40" Type="http://schemas.openxmlformats.org/officeDocument/2006/relationships/tags" Target="../tags/tag302.xml"/><Relationship Id="rId5" Type="http://schemas.openxmlformats.org/officeDocument/2006/relationships/tags" Target="../tags/tag267.xml"/><Relationship Id="rId15" Type="http://schemas.openxmlformats.org/officeDocument/2006/relationships/tags" Target="../tags/tag277.xml"/><Relationship Id="rId23" Type="http://schemas.openxmlformats.org/officeDocument/2006/relationships/tags" Target="../tags/tag285.xml"/><Relationship Id="rId28" Type="http://schemas.openxmlformats.org/officeDocument/2006/relationships/tags" Target="../tags/tag290.xml"/><Relationship Id="rId36" Type="http://schemas.openxmlformats.org/officeDocument/2006/relationships/tags" Target="../tags/tag298.xml"/><Relationship Id="rId10" Type="http://schemas.openxmlformats.org/officeDocument/2006/relationships/tags" Target="../tags/tag272.xml"/><Relationship Id="rId19" Type="http://schemas.openxmlformats.org/officeDocument/2006/relationships/tags" Target="../tags/tag281.xml"/><Relationship Id="rId31" Type="http://schemas.openxmlformats.org/officeDocument/2006/relationships/tags" Target="../tags/tag293.xml"/><Relationship Id="rId4" Type="http://schemas.openxmlformats.org/officeDocument/2006/relationships/tags" Target="../tags/tag266.xml"/><Relationship Id="rId9" Type="http://schemas.openxmlformats.org/officeDocument/2006/relationships/tags" Target="../tags/tag271.xml"/><Relationship Id="rId14" Type="http://schemas.openxmlformats.org/officeDocument/2006/relationships/tags" Target="../tags/tag276.xml"/><Relationship Id="rId22" Type="http://schemas.openxmlformats.org/officeDocument/2006/relationships/tags" Target="../tags/tag284.xml"/><Relationship Id="rId27" Type="http://schemas.openxmlformats.org/officeDocument/2006/relationships/tags" Target="../tags/tag289.xml"/><Relationship Id="rId30" Type="http://schemas.openxmlformats.org/officeDocument/2006/relationships/tags" Target="../tags/tag292.xml"/><Relationship Id="rId35" Type="http://schemas.openxmlformats.org/officeDocument/2006/relationships/tags" Target="../tags/tag297.xml"/><Relationship Id="rId43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312.xml"/><Relationship Id="rId13" Type="http://schemas.openxmlformats.org/officeDocument/2006/relationships/tags" Target="../tags/tag317.xml"/><Relationship Id="rId18" Type="http://schemas.openxmlformats.org/officeDocument/2006/relationships/tags" Target="../tags/tag322.xml"/><Relationship Id="rId26" Type="http://schemas.openxmlformats.org/officeDocument/2006/relationships/tags" Target="../tags/tag330.xml"/><Relationship Id="rId39" Type="http://schemas.openxmlformats.org/officeDocument/2006/relationships/tags" Target="../tags/tag343.xml"/><Relationship Id="rId3" Type="http://schemas.openxmlformats.org/officeDocument/2006/relationships/tags" Target="../tags/tag307.xml"/><Relationship Id="rId21" Type="http://schemas.openxmlformats.org/officeDocument/2006/relationships/tags" Target="../tags/tag325.xml"/><Relationship Id="rId34" Type="http://schemas.openxmlformats.org/officeDocument/2006/relationships/tags" Target="../tags/tag338.xml"/><Relationship Id="rId7" Type="http://schemas.openxmlformats.org/officeDocument/2006/relationships/tags" Target="../tags/tag311.xml"/><Relationship Id="rId12" Type="http://schemas.openxmlformats.org/officeDocument/2006/relationships/tags" Target="../tags/tag316.xml"/><Relationship Id="rId17" Type="http://schemas.openxmlformats.org/officeDocument/2006/relationships/tags" Target="../tags/tag321.xml"/><Relationship Id="rId25" Type="http://schemas.openxmlformats.org/officeDocument/2006/relationships/tags" Target="../tags/tag329.xml"/><Relationship Id="rId33" Type="http://schemas.openxmlformats.org/officeDocument/2006/relationships/tags" Target="../tags/tag337.xml"/><Relationship Id="rId38" Type="http://schemas.openxmlformats.org/officeDocument/2006/relationships/tags" Target="../tags/tag342.xml"/><Relationship Id="rId2" Type="http://schemas.openxmlformats.org/officeDocument/2006/relationships/tags" Target="../tags/tag306.xml"/><Relationship Id="rId16" Type="http://schemas.openxmlformats.org/officeDocument/2006/relationships/tags" Target="../tags/tag320.xml"/><Relationship Id="rId20" Type="http://schemas.openxmlformats.org/officeDocument/2006/relationships/tags" Target="../tags/tag324.xml"/><Relationship Id="rId29" Type="http://schemas.openxmlformats.org/officeDocument/2006/relationships/tags" Target="../tags/tag333.xml"/><Relationship Id="rId41" Type="http://schemas.openxmlformats.org/officeDocument/2006/relationships/slideLayout" Target="../slideLayouts/slideLayout1.xml"/><Relationship Id="rId1" Type="http://schemas.openxmlformats.org/officeDocument/2006/relationships/tags" Target="../tags/tag305.xml"/><Relationship Id="rId6" Type="http://schemas.openxmlformats.org/officeDocument/2006/relationships/tags" Target="../tags/tag310.xml"/><Relationship Id="rId11" Type="http://schemas.openxmlformats.org/officeDocument/2006/relationships/tags" Target="../tags/tag315.xml"/><Relationship Id="rId24" Type="http://schemas.openxmlformats.org/officeDocument/2006/relationships/tags" Target="../tags/tag328.xml"/><Relationship Id="rId32" Type="http://schemas.openxmlformats.org/officeDocument/2006/relationships/tags" Target="../tags/tag336.xml"/><Relationship Id="rId37" Type="http://schemas.openxmlformats.org/officeDocument/2006/relationships/tags" Target="../tags/tag341.xml"/><Relationship Id="rId40" Type="http://schemas.openxmlformats.org/officeDocument/2006/relationships/tags" Target="../tags/tag344.xml"/><Relationship Id="rId5" Type="http://schemas.openxmlformats.org/officeDocument/2006/relationships/tags" Target="../tags/tag309.xml"/><Relationship Id="rId15" Type="http://schemas.openxmlformats.org/officeDocument/2006/relationships/tags" Target="../tags/tag319.xml"/><Relationship Id="rId23" Type="http://schemas.openxmlformats.org/officeDocument/2006/relationships/tags" Target="../tags/tag327.xml"/><Relationship Id="rId28" Type="http://schemas.openxmlformats.org/officeDocument/2006/relationships/tags" Target="../tags/tag332.xml"/><Relationship Id="rId36" Type="http://schemas.openxmlformats.org/officeDocument/2006/relationships/tags" Target="../tags/tag340.xml"/><Relationship Id="rId10" Type="http://schemas.openxmlformats.org/officeDocument/2006/relationships/tags" Target="../tags/tag314.xml"/><Relationship Id="rId19" Type="http://schemas.openxmlformats.org/officeDocument/2006/relationships/tags" Target="../tags/tag323.xml"/><Relationship Id="rId31" Type="http://schemas.openxmlformats.org/officeDocument/2006/relationships/tags" Target="../tags/tag335.xml"/><Relationship Id="rId4" Type="http://schemas.openxmlformats.org/officeDocument/2006/relationships/tags" Target="../tags/tag308.xml"/><Relationship Id="rId9" Type="http://schemas.openxmlformats.org/officeDocument/2006/relationships/tags" Target="../tags/tag313.xml"/><Relationship Id="rId14" Type="http://schemas.openxmlformats.org/officeDocument/2006/relationships/tags" Target="../tags/tag318.xml"/><Relationship Id="rId22" Type="http://schemas.openxmlformats.org/officeDocument/2006/relationships/tags" Target="../tags/tag326.xml"/><Relationship Id="rId27" Type="http://schemas.openxmlformats.org/officeDocument/2006/relationships/tags" Target="../tags/tag331.xml"/><Relationship Id="rId30" Type="http://schemas.openxmlformats.org/officeDocument/2006/relationships/tags" Target="../tags/tag334.xml"/><Relationship Id="rId35" Type="http://schemas.openxmlformats.org/officeDocument/2006/relationships/tags" Target="../tags/tag33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352.xml"/><Relationship Id="rId13" Type="http://schemas.openxmlformats.org/officeDocument/2006/relationships/tags" Target="../tags/tag357.xml"/><Relationship Id="rId18" Type="http://schemas.openxmlformats.org/officeDocument/2006/relationships/tags" Target="../tags/tag362.xml"/><Relationship Id="rId26" Type="http://schemas.openxmlformats.org/officeDocument/2006/relationships/tags" Target="../tags/tag370.xml"/><Relationship Id="rId3" Type="http://schemas.openxmlformats.org/officeDocument/2006/relationships/tags" Target="../tags/tag347.xml"/><Relationship Id="rId21" Type="http://schemas.openxmlformats.org/officeDocument/2006/relationships/tags" Target="../tags/tag365.xml"/><Relationship Id="rId34" Type="http://schemas.openxmlformats.org/officeDocument/2006/relationships/oleObject" Target="../embeddings/oleObject2.bin"/><Relationship Id="rId7" Type="http://schemas.openxmlformats.org/officeDocument/2006/relationships/tags" Target="../tags/tag351.xml"/><Relationship Id="rId12" Type="http://schemas.openxmlformats.org/officeDocument/2006/relationships/tags" Target="../tags/tag356.xml"/><Relationship Id="rId17" Type="http://schemas.openxmlformats.org/officeDocument/2006/relationships/tags" Target="../tags/tag361.xml"/><Relationship Id="rId25" Type="http://schemas.openxmlformats.org/officeDocument/2006/relationships/tags" Target="../tags/tag369.xml"/><Relationship Id="rId33" Type="http://schemas.openxmlformats.org/officeDocument/2006/relationships/slideLayout" Target="../slideLayouts/slideLayout1.xml"/><Relationship Id="rId2" Type="http://schemas.openxmlformats.org/officeDocument/2006/relationships/tags" Target="../tags/tag346.xml"/><Relationship Id="rId16" Type="http://schemas.openxmlformats.org/officeDocument/2006/relationships/tags" Target="../tags/tag360.xml"/><Relationship Id="rId20" Type="http://schemas.openxmlformats.org/officeDocument/2006/relationships/tags" Target="../tags/tag364.xml"/><Relationship Id="rId29" Type="http://schemas.openxmlformats.org/officeDocument/2006/relationships/tags" Target="../tags/tag373.xml"/><Relationship Id="rId1" Type="http://schemas.openxmlformats.org/officeDocument/2006/relationships/tags" Target="../tags/tag345.xml"/><Relationship Id="rId6" Type="http://schemas.openxmlformats.org/officeDocument/2006/relationships/tags" Target="../tags/tag350.xml"/><Relationship Id="rId11" Type="http://schemas.openxmlformats.org/officeDocument/2006/relationships/tags" Target="../tags/tag355.xml"/><Relationship Id="rId24" Type="http://schemas.openxmlformats.org/officeDocument/2006/relationships/tags" Target="../tags/tag368.xml"/><Relationship Id="rId32" Type="http://schemas.openxmlformats.org/officeDocument/2006/relationships/tags" Target="../tags/tag376.xml"/><Relationship Id="rId5" Type="http://schemas.openxmlformats.org/officeDocument/2006/relationships/tags" Target="../tags/tag349.xml"/><Relationship Id="rId15" Type="http://schemas.openxmlformats.org/officeDocument/2006/relationships/tags" Target="../tags/tag359.xml"/><Relationship Id="rId23" Type="http://schemas.openxmlformats.org/officeDocument/2006/relationships/tags" Target="../tags/tag367.xml"/><Relationship Id="rId28" Type="http://schemas.openxmlformats.org/officeDocument/2006/relationships/tags" Target="../tags/tag372.xml"/><Relationship Id="rId10" Type="http://schemas.openxmlformats.org/officeDocument/2006/relationships/tags" Target="../tags/tag354.xml"/><Relationship Id="rId19" Type="http://schemas.openxmlformats.org/officeDocument/2006/relationships/tags" Target="../tags/tag363.xml"/><Relationship Id="rId31" Type="http://schemas.openxmlformats.org/officeDocument/2006/relationships/tags" Target="../tags/tag375.xml"/><Relationship Id="rId4" Type="http://schemas.openxmlformats.org/officeDocument/2006/relationships/tags" Target="../tags/tag348.xml"/><Relationship Id="rId9" Type="http://schemas.openxmlformats.org/officeDocument/2006/relationships/tags" Target="../tags/tag353.xml"/><Relationship Id="rId14" Type="http://schemas.openxmlformats.org/officeDocument/2006/relationships/tags" Target="../tags/tag358.xml"/><Relationship Id="rId22" Type="http://schemas.openxmlformats.org/officeDocument/2006/relationships/tags" Target="../tags/tag366.xml"/><Relationship Id="rId27" Type="http://schemas.openxmlformats.org/officeDocument/2006/relationships/tags" Target="../tags/tag371.xml"/><Relationship Id="rId30" Type="http://schemas.openxmlformats.org/officeDocument/2006/relationships/tags" Target="../tags/tag374.xml"/><Relationship Id="rId35" Type="http://schemas.openxmlformats.org/officeDocument/2006/relationships/image" Target="../media/image6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" Type="http://schemas.openxmlformats.org/officeDocument/2006/relationships/tags" Target="../tags/tag377.xml"/><Relationship Id="rId4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382.xml"/><Relationship Id="rId2" Type="http://schemas.openxmlformats.org/officeDocument/2006/relationships/tags" Target="../tags/tag381.xml"/><Relationship Id="rId1" Type="http://schemas.openxmlformats.org/officeDocument/2006/relationships/tags" Target="../tags/tag380.xml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8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386.xml"/><Relationship Id="rId2" Type="http://schemas.openxmlformats.org/officeDocument/2006/relationships/tags" Target="../tags/tag385.xml"/><Relationship Id="rId1" Type="http://schemas.openxmlformats.org/officeDocument/2006/relationships/tags" Target="../tags/tag384.xml"/><Relationship Id="rId4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389.xml"/><Relationship Id="rId2" Type="http://schemas.openxmlformats.org/officeDocument/2006/relationships/tags" Target="../tags/tag388.xml"/><Relationship Id="rId1" Type="http://schemas.openxmlformats.org/officeDocument/2006/relationships/tags" Target="../tags/tag387.xml"/><Relationship Id="rId6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9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Administrator\Desktop\3.jpeg3">
            <a:extLst>
              <a:ext uri="{FF2B5EF4-FFF2-40B4-BE49-F238E27FC236}">
                <a16:creationId xmlns:a16="http://schemas.microsoft.com/office/drawing/2014/main" id="{B7BF21C1-9236-F945-5967-583BFB984B7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 l="4419" r="2452"/>
          <a:stretch>
            <a:fillRect/>
          </a:stretch>
        </p:blipFill>
        <p:spPr>
          <a:xfrm>
            <a:off x="-1" y="-116840"/>
            <a:ext cx="12284075" cy="7416238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327024" y="1113827"/>
            <a:ext cx="11842974" cy="659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5400" b="1" kern="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1.4 </a:t>
            </a:r>
            <a:r>
              <a:rPr sz="5400" b="1" kern="0" dirty="0" err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速度变化快慢的描述</a:t>
            </a:r>
            <a:r>
              <a:rPr sz="5400" b="1" kern="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—</a:t>
            </a:r>
            <a:r>
              <a:rPr sz="5400" b="1" kern="0" dirty="0" err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加速度</a:t>
            </a:r>
            <a:endParaRPr sz="5400" b="1" kern="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327024" y="2964815"/>
            <a:ext cx="62745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40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第一章</a:t>
            </a:r>
            <a:r>
              <a:rPr lang="en-US" altLang="zh-CN" sz="40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lang="zh-CN" altLang="en-US" sz="40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运动的描述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586740" y="4098290"/>
            <a:ext cx="10743565" cy="1285875"/>
          </a:xfrm>
          <a:prstGeom prst="rect">
            <a:avLst/>
          </a:prstGeom>
          <a:solidFill>
            <a:srgbClr val="CADFFF"/>
          </a:solidFill>
        </p:spPr>
        <p:txBody>
          <a:bodyPr wrap="square" rtlCol="0">
            <a:noAutofit/>
          </a:bodyPr>
          <a:lstStyle/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586740" y="3429000"/>
            <a:ext cx="10743565" cy="1285875"/>
          </a:xfrm>
          <a:prstGeom prst="rect">
            <a:avLst/>
          </a:prstGeom>
          <a:solidFill>
            <a:srgbClr val="CADFFF"/>
          </a:solidFill>
        </p:spPr>
        <p:txBody>
          <a:bodyPr wrap="square" rtlCol="0">
            <a:noAutofit/>
          </a:bodyPr>
          <a:lstStyle/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86105" y="2785745"/>
            <a:ext cx="10743565" cy="1285875"/>
          </a:xfrm>
          <a:prstGeom prst="rect">
            <a:avLst/>
          </a:prstGeom>
          <a:solidFill>
            <a:srgbClr val="CADFFF"/>
          </a:solidFill>
        </p:spPr>
        <p:txBody>
          <a:bodyPr wrap="square" rtlCol="0">
            <a:noAutofit/>
          </a:bodyPr>
          <a:lstStyle/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230667" y="200115"/>
            <a:ext cx="39906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graphicFrame>
        <p:nvGraphicFramePr>
          <p:cNvPr id="4099" name="表格 4098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586105" y="1818640"/>
          <a:ext cx="10744200" cy="3584575"/>
        </p:xfrm>
        <a:graphic>
          <a:graphicData uri="http://schemas.openxmlformats.org/drawingml/2006/table">
            <a:tbl>
              <a:tblPr/>
              <a:tblGrid>
                <a:gridCol w="2843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5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932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zh-CN" altLang="en-US" sz="2800" b="1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zh-CN" altLang="en-US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初速度</a:t>
                      </a:r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2800" b="1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v</a:t>
                      </a:r>
                      <a:r>
                        <a:rPr lang="en-US" altLang="zh-CN" sz="2800" b="1" baseline="-2500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0</a:t>
                      </a: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/m.s</a:t>
                      </a:r>
                      <a:r>
                        <a:rPr lang="en-US" altLang="zh-CN" sz="2800" b="1" baseline="3000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-1</a:t>
                      </a:r>
                      <a:endParaRPr lang="zh-CN" altLang="en-US" sz="2800" b="1" baseline="30000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经过时间</a:t>
                      </a:r>
                    </a:p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△t/s</a:t>
                      </a:r>
                      <a:endParaRPr lang="zh-CN" altLang="en-US" sz="2800" b="1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zh-CN" altLang="en-US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末速度</a:t>
                      </a:r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2800" b="1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v</a:t>
                      </a:r>
                      <a:r>
                        <a:rPr lang="en-US" altLang="zh-CN" sz="2800" b="1" baseline="-2500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t</a:t>
                      </a: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/m.s</a:t>
                      </a:r>
                      <a:r>
                        <a:rPr lang="en-US" altLang="zh-CN" sz="2800" b="1" baseline="3000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-1</a:t>
                      </a:r>
                      <a:endParaRPr lang="zh-CN" altLang="en-US" sz="2800" b="1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A. </a:t>
                      </a:r>
                      <a:r>
                        <a:rPr lang="zh-CN" altLang="en-US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自行车下坡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11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B. </a:t>
                      </a:r>
                      <a:r>
                        <a:rPr lang="zh-CN" altLang="en-US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公共汽车出站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6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C. </a:t>
                      </a:r>
                      <a:r>
                        <a:rPr lang="zh-CN" altLang="en-US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某舰艇出航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20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6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D. </a:t>
                      </a:r>
                      <a:r>
                        <a:rPr lang="zh-CN" altLang="en-US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火车出站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100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20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230505" y="1141095"/>
            <a:ext cx="11490325" cy="677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2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  <a:sym typeface="+mn-ea"/>
              </a:rPr>
              <a:t>(1)</a:t>
            </a:r>
            <a:r>
              <a:rPr kumimoji="1" lang="zh-CN" altLang="en-US" sz="2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  <a:sym typeface="+mn-ea"/>
              </a:rPr>
              <a:t>下列物体的运动速度变化，谁变化大？谁的速度变化的快？如何比较？</a:t>
            </a:r>
          </a:p>
        </p:txBody>
      </p:sp>
      <p:sp>
        <p:nvSpPr>
          <p:cNvPr id="8230" name="文本框 8229"/>
          <p:cNvSpPr txBox="1"/>
          <p:nvPr>
            <p:custDataLst>
              <p:tags r:id="rId7"/>
            </p:custDataLst>
          </p:nvPr>
        </p:nvSpPr>
        <p:spPr>
          <a:xfrm>
            <a:off x="2846705" y="5723255"/>
            <a:ext cx="6339205" cy="5664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algn="ctr"/>
            <a:r>
              <a:rPr lang="zh-CN" altLang="en-US" sz="3200">
                <a:solidFill>
                  <a:srgbClr val="4274FF"/>
                </a:solidFill>
                <a:uFillTx/>
                <a:latin typeface="黑体" panose="02010609060101010101" charset="-122"/>
                <a:ea typeface="黑体" panose="02010609060101010101" charset="-122"/>
              </a:rPr>
              <a:t>比较单位时间内速度变化量的大小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11" grpId="1" animBg="1"/>
      <p:bldP spid="5" grpId="0" animBg="1"/>
      <p:bldP spid="5" grpId="1" animBg="1"/>
      <p:bldP spid="82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965825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一、加速度</a:t>
            </a:r>
          </a:p>
        </p:txBody>
      </p:sp>
      <p:sp>
        <p:nvSpPr>
          <p:cNvPr id="7170" name="Rectangle 3"/>
          <p:cNvSpPr/>
          <p:nvPr>
            <p:custDataLst>
              <p:tags r:id="rId2"/>
            </p:custDataLst>
          </p:nvPr>
        </p:nvSpPr>
        <p:spPr>
          <a:xfrm>
            <a:off x="378460" y="5277485"/>
            <a:ext cx="11502390" cy="138239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just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</a:pPr>
            <a:endParaRPr lang="en-US" altLang="zh-CN" sz="28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243" name="文本框 10242"/>
          <p:cNvSpPr txBox="1"/>
          <p:nvPr>
            <p:custDataLst>
              <p:tags r:id="rId3"/>
            </p:custDataLst>
          </p:nvPr>
        </p:nvSpPr>
        <p:spPr>
          <a:xfrm>
            <a:off x="347980" y="1339215"/>
            <a:ext cx="11371580" cy="64770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>
              <a:buClrTx/>
            </a:pPr>
            <a:r>
              <a:rPr lang="en-US" altLang="zh-CN" sz="3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</a:t>
            </a:r>
            <a:r>
              <a:rPr lang="zh-CN" altLang="en-US" sz="30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定义：</a:t>
            </a:r>
            <a:r>
              <a:rPr lang="zh-CN" altLang="en-US" sz="3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速度变化量和发生这一变化所用时间的比值叫加速度。</a:t>
            </a:r>
            <a:endParaRPr lang="zh-CN" altLang="en-US" sz="3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246" name="文本框 10245"/>
          <p:cNvSpPr txBox="1"/>
          <p:nvPr>
            <p:custDataLst>
              <p:tags r:id="rId4"/>
            </p:custDataLst>
          </p:nvPr>
        </p:nvSpPr>
        <p:spPr>
          <a:xfrm>
            <a:off x="347980" y="4874895"/>
            <a:ext cx="10153015" cy="7334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>
              <a:buClrTx/>
            </a:pPr>
            <a:r>
              <a:rPr lang="en-US" altLang="zh-CN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物理意义：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用于描述物体速度变化快慢的物理量。</a:t>
            </a:r>
            <a:endParaRPr lang="zh-CN" altLang="en-US" sz="28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buClrTx/>
            </a:pPr>
            <a:endParaRPr lang="zh-CN" altLang="en-US" sz="28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5"/>
            </p:custDataLst>
          </p:nvPr>
        </p:nvGrpSpPr>
        <p:grpSpPr>
          <a:xfrm>
            <a:off x="378460" y="3032125"/>
            <a:ext cx="5263515" cy="1132840"/>
            <a:chOff x="596" y="4775"/>
            <a:chExt cx="8289" cy="1784"/>
          </a:xfrm>
        </p:grpSpPr>
        <p:sp>
          <p:nvSpPr>
            <p:cNvPr id="10245" name="文本框 10244"/>
            <p:cNvSpPr txBox="1"/>
            <p:nvPr>
              <p:custDataLst>
                <p:tags r:id="rId7"/>
              </p:custDataLst>
            </p:nvPr>
          </p:nvSpPr>
          <p:spPr>
            <a:xfrm>
              <a:off x="596" y="5256"/>
              <a:ext cx="2774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>
                <a:buClrTx/>
              </a:pPr>
              <a:r>
                <a:rPr lang="en-US" altLang="zh-CN" sz="28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2.</a:t>
              </a:r>
              <a:r>
                <a:rPr lang="zh-CN" altLang="en-US" sz="28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定义式：</a:t>
              </a:r>
            </a:p>
          </p:txBody>
        </p:sp>
        <p:graphicFrame>
          <p:nvGraphicFramePr>
            <p:cNvPr id="10254" name="对象 10253"/>
            <p:cNvGraphicFramePr>
              <a:graphicFrameLocks noChangeAspect="1"/>
            </p:cNvGraphicFramePr>
            <p:nvPr>
              <p:custDataLst>
                <p:tags r:id="rId8"/>
              </p:custDataLst>
            </p:nvPr>
          </p:nvGraphicFramePr>
          <p:xfrm>
            <a:off x="3469" y="4775"/>
            <a:ext cx="5416" cy="17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054100" imgH="393700" progId="Equation.3">
                    <p:embed/>
                  </p:oleObj>
                </mc:Choice>
                <mc:Fallback>
                  <p:oleObj r:id="rId10" imgW="1054100" imgH="393700" progId="Equation.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469" y="4775"/>
                          <a:ext cx="5416" cy="1784"/>
                        </a:xfrm>
                        <a:prstGeom prst="rect">
                          <a:avLst/>
                        </a:prstGeom>
                        <a:noFill/>
                        <a:ln w="9525" cap="flat" cmpd="sng">
                          <a:noFill/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9662" name="AutoShape 9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722745" y="2817495"/>
            <a:ext cx="2016125" cy="611505"/>
          </a:xfrm>
          <a:prstGeom prst="wedgeRoundRectCallout">
            <a:avLst>
              <a:gd name="adj1" fmla="val -101842"/>
              <a:gd name="adj2" fmla="val 49792"/>
              <a:gd name="adj3" fmla="val 16667"/>
            </a:avLst>
          </a:prstGeom>
          <a:solidFill>
            <a:srgbClr val="CAD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9" tIns="40814" rIns="81629" bIns="40814"/>
          <a:lstStyle/>
          <a:p>
            <a:r>
              <a:rPr lang="zh-CN" altLang="en-US" sz="2800" b="1">
                <a:solidFill>
                  <a:schemeClr val="tx1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速度变化率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0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/>
      <p:bldP spid="10966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667" y="200115"/>
            <a:ext cx="39906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412750" y="1114425"/>
            <a:ext cx="11295380" cy="1516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(1)</a:t>
            </a:r>
            <a:r>
              <a:rPr lang="zh-CN" altLang="en-US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根据第</a:t>
            </a:r>
            <a:r>
              <a:rPr lang="en-US" altLang="zh-CN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3</a:t>
            </a:r>
            <a:r>
              <a:rPr lang="zh-CN" altLang="en-US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节的学习，我们知道速度的单位是</a:t>
            </a:r>
            <a:r>
              <a:rPr lang="en-US" altLang="zh-CN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m/s</a:t>
            </a:r>
            <a:r>
              <a:rPr lang="zh-CN" altLang="en-US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，那么你认为加速度的单位会是什么样子的？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59740" y="2680652"/>
            <a:ext cx="11248390" cy="1782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(2)</a:t>
            </a:r>
            <a:r>
              <a:rPr lang="zh-CN" sz="3200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根据以上定义物理量单位的方式，你还能举出哪些用类似方式定义的物理量单位吗？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667" y="200115"/>
            <a:ext cx="39906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530860" y="3429000"/>
            <a:ext cx="11295380" cy="840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(5)</a:t>
            </a:r>
            <a:r>
              <a:rPr sz="3200" dirty="0" err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速度变化量大，则加速度一定大</a:t>
            </a:r>
            <a:r>
              <a:rPr sz="3200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？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30860" y="4364747"/>
            <a:ext cx="11248390" cy="945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(6)</a:t>
            </a:r>
            <a:r>
              <a:rPr sz="3200" dirty="0" err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速度变化越快，加速度越大</a:t>
            </a:r>
            <a:r>
              <a:rPr sz="3200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E5F945-A371-772F-2917-D6A0AAFF00D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990" y="1323451"/>
            <a:ext cx="11295380" cy="840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(3)</a:t>
            </a:r>
            <a:r>
              <a:rPr sz="3200" dirty="0" err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速度大，加速度一定大吗？你能举例说明吗</a:t>
            </a:r>
            <a:r>
              <a:rPr sz="3200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4F6B48-809C-3A0D-294F-BF7E422E467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30860" y="2411338"/>
            <a:ext cx="11248390" cy="945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(4)</a:t>
            </a:r>
            <a:r>
              <a:rPr sz="3200" dirty="0" err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加速度大，速度一定大吗</a:t>
            </a:r>
            <a:r>
              <a:rPr sz="3200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965825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一、加速度</a:t>
            </a:r>
          </a:p>
        </p:txBody>
      </p:sp>
      <p:sp>
        <p:nvSpPr>
          <p:cNvPr id="7170" name="Rectangle 3"/>
          <p:cNvSpPr/>
          <p:nvPr>
            <p:custDataLst>
              <p:tags r:id="rId2"/>
            </p:custDataLst>
          </p:nvPr>
        </p:nvSpPr>
        <p:spPr>
          <a:xfrm>
            <a:off x="378460" y="5277485"/>
            <a:ext cx="11502390" cy="138239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just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</a:pPr>
            <a:endParaRPr lang="en-US" altLang="zh-CN" sz="28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78" name="Rectangle 47"/>
          <p:cNvSpPr>
            <a:spLocks noRot="1"/>
          </p:cNvSpPr>
          <p:nvPr>
            <p:custDataLst>
              <p:tags r:id="rId3"/>
            </p:custDataLst>
          </p:nvPr>
        </p:nvSpPr>
        <p:spPr>
          <a:xfrm>
            <a:off x="378460" y="1126490"/>
            <a:ext cx="4625340" cy="6191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4.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加速度的大小</a:t>
            </a:r>
          </a:p>
        </p:txBody>
      </p:sp>
      <p:sp>
        <p:nvSpPr>
          <p:cNvPr id="3079" name="文本框 14"/>
          <p:cNvSpPr txBox="1"/>
          <p:nvPr>
            <p:custDataLst>
              <p:tags r:id="rId4"/>
            </p:custDataLst>
          </p:nvPr>
        </p:nvSpPr>
        <p:spPr>
          <a:xfrm>
            <a:off x="579755" y="1957238"/>
            <a:ext cx="8155305" cy="56261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（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）加速度</a:t>
            </a:r>
            <a:r>
              <a:rPr lang="en-US" altLang="zh-CN" sz="3200" i="1" dirty="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大小与速度</a:t>
            </a:r>
            <a:r>
              <a:rPr lang="en-US" altLang="zh-CN" sz="3200" i="1" dirty="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没有直接关系。</a:t>
            </a:r>
          </a:p>
        </p:txBody>
      </p:sp>
      <p:sp>
        <p:nvSpPr>
          <p:cNvPr id="3080" name="文本框 15"/>
          <p:cNvSpPr txBox="1"/>
          <p:nvPr>
            <p:custDataLst>
              <p:tags r:id="rId5"/>
            </p:custDataLst>
          </p:nvPr>
        </p:nvSpPr>
        <p:spPr>
          <a:xfrm>
            <a:off x="579755" y="2687320"/>
            <a:ext cx="9144635" cy="5962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（</a:t>
            </a:r>
            <a:r>
              <a:rPr lang="en-US" altLang="zh-CN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）加速度</a:t>
            </a:r>
            <a:r>
              <a:rPr lang="en-US" altLang="zh-CN" sz="3200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大小与速度变化量Δ</a:t>
            </a:r>
            <a:r>
              <a:rPr lang="en-US" altLang="zh-CN" sz="3200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没有直接关系。</a:t>
            </a:r>
          </a:p>
        </p:txBody>
      </p:sp>
      <p:sp>
        <p:nvSpPr>
          <p:cNvPr id="3081" name="文本框 16"/>
          <p:cNvSpPr txBox="1"/>
          <p:nvPr>
            <p:custDataLst>
              <p:tags r:id="rId6"/>
            </p:custDataLst>
          </p:nvPr>
        </p:nvSpPr>
        <p:spPr>
          <a:xfrm>
            <a:off x="579755" y="3194685"/>
            <a:ext cx="8438515" cy="3046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（</a:t>
            </a:r>
            <a:r>
              <a:rPr lang="en-US" altLang="zh-CN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3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）加速度</a:t>
            </a:r>
            <a:r>
              <a:rPr lang="en-US" altLang="zh-CN" sz="3200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大小</a:t>
            </a:r>
          </a:p>
          <a:p>
            <a:pPr>
              <a:lnSpc>
                <a:spcPct val="150000"/>
              </a:lnSpc>
            </a:pP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    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Wingdings" panose="05000000000000000000" charset="0"/>
              </a:rPr>
              <a:t>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由速度变化率Δ</a:t>
            </a:r>
            <a:r>
              <a:rPr lang="en-US" altLang="zh-CN" sz="3200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en-US" altLang="zh-CN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/Δ</a:t>
            </a:r>
            <a:r>
              <a:rPr lang="en-US" altLang="zh-CN" sz="3200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的大小决定；</a:t>
            </a:r>
          </a:p>
          <a:p>
            <a:pPr>
              <a:lnSpc>
                <a:spcPct val="150000"/>
              </a:lnSpc>
            </a:pP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    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Wingdings" panose="05000000000000000000" charset="0"/>
              </a:rPr>
              <a:t>由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速度变化的快慢决定；</a:t>
            </a:r>
          </a:p>
          <a:p>
            <a:pPr>
              <a:lnSpc>
                <a:spcPct val="150000"/>
              </a:lnSpc>
            </a:pP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    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Wingdings" panose="05000000000000000000" charset="0"/>
              </a:rPr>
              <a:t>由</a:t>
            </a:r>
            <a:r>
              <a:rPr lang="zh-CN" altLang="en-US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单位时间内物体速度变化大小决定。</a:t>
            </a:r>
            <a:endParaRPr lang="zh-CN" altLang="en-US" sz="3200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Wingdings" panose="05000000000000000000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9" grpId="0"/>
      <p:bldP spid="3080" grpId="0"/>
      <p:bldP spid="308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667" y="200115"/>
            <a:ext cx="39906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06400" y="1542415"/>
            <a:ext cx="11345545" cy="40957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    </a:t>
            </a:r>
            <a:r>
              <a:rPr lang="zh-CN" altLang="en-US" sz="4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根据第</a:t>
            </a:r>
            <a:r>
              <a:rPr lang="en-US" altLang="zh-CN" sz="4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3</a:t>
            </a:r>
            <a:r>
              <a:rPr lang="zh-CN" altLang="en-US" sz="4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节的学习，我们知道速度是一个矢量，有大小有方向，并且方向与某段时间内位移的方向是相同的，那么你认为加速度是否是一个矢量呢？如果是，它的方向又是怎么样的？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667" y="200115"/>
            <a:ext cx="39906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717550" y="1221740"/>
            <a:ext cx="9640570" cy="517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(1)</a:t>
            </a:r>
            <a:r>
              <a:rPr lang="zh-CN" altLang="en-US" sz="2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从表格中你可以发现加速度与速度变化量方向有什么联系？</a:t>
            </a:r>
            <a:endParaRPr kumimoji="1" lang="zh-CN" altLang="en-US" sz="28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13316" name="表格 1331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17550" y="2054860"/>
          <a:ext cx="8230870" cy="2748280"/>
        </p:xfrm>
        <a:graphic>
          <a:graphicData uri="http://schemas.openxmlformats.org/drawingml/2006/table">
            <a:tbl>
              <a:tblPr/>
              <a:tblGrid>
                <a:gridCol w="1887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70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zh-CN" altLang="en-US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初速度</a:t>
                      </a:r>
                      <a:r>
                        <a:rPr lang="en-US" altLang="zh-CN" sz="2800" b="1" i="1">
                          <a:latin typeface="Times New Roman" panose="02020603050405020304" charset="0"/>
                          <a:cs typeface="Times New Roman" panose="02020603050405020304" charset="0"/>
                        </a:rPr>
                        <a:t>m/s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zh-CN" altLang="en-US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末速度</a:t>
                      </a:r>
                      <a:r>
                        <a:rPr lang="en-US" altLang="zh-CN" sz="2800" b="1" i="1">
                          <a:latin typeface="Times New Roman" panose="02020603050405020304" charset="0"/>
                          <a:cs typeface="Times New Roman" panose="02020603050405020304" charset="0"/>
                        </a:rPr>
                        <a:t>m/s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zh-CN" altLang="en-US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时间</a:t>
                      </a:r>
                      <a:r>
                        <a:rPr lang="en-US" altLang="zh-CN" sz="2800" b="1" i="1">
                          <a:latin typeface="Times New Roman" panose="02020603050405020304" charset="0"/>
                          <a:cs typeface="Times New Roman" panose="02020603050405020304" charset="0"/>
                        </a:rPr>
                        <a:t>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zh-CN" altLang="en-US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速度变化量</a:t>
                      </a:r>
                      <a:r>
                        <a:rPr lang="en-US" altLang="zh-CN" sz="2800" b="1" i="1">
                          <a:latin typeface="Times New Roman" panose="02020603050405020304" charset="0"/>
                          <a:cs typeface="Times New Roman" panose="02020603050405020304" charset="0"/>
                        </a:rPr>
                        <a:t>m/s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solidFill>
                            <a:srgbClr val="0000FF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-3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-5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-8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solidFill>
                            <a:srgbClr val="00CC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-3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-5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-2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solidFill>
                            <a:srgbClr val="CC00CC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349" name="表格 13348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8948420" y="2054860"/>
          <a:ext cx="2501900" cy="2743835"/>
        </p:xfrm>
        <a:graphic>
          <a:graphicData uri="http://schemas.openxmlformats.org/drawingml/2006/table">
            <a:tbl>
              <a:tblPr/>
              <a:tblGrid>
                <a:gridCol w="250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zh-CN" altLang="en-US" sz="2800" b="1"/>
                        <a:t>加速度</a:t>
                      </a:r>
                      <a:r>
                        <a:rPr lang="en-US" altLang="zh-CN" sz="2800" b="1" i="1">
                          <a:latin typeface="Times New Roman" panose="02020603050405020304" charset="0"/>
                          <a:cs typeface="Times New Roman" panose="02020603050405020304" charset="0"/>
                        </a:rPr>
                        <a:t>m/s</a:t>
                      </a:r>
                      <a:r>
                        <a:rPr lang="en-US" altLang="zh-CN" sz="2800" b="1" i="1" baseline="3000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zh-CN" altLang="en-US" sz="2800" b="1" i="1" baseline="30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solidFill>
                            <a:srgbClr val="0000FF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-3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solidFill>
                            <a:srgbClr val="00CC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-1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solidFill>
                            <a:srgbClr val="CC00CC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315" name="文本框 13314"/>
          <p:cNvSpPr txBox="1"/>
          <p:nvPr>
            <p:custDataLst>
              <p:tags r:id="rId5"/>
            </p:custDataLst>
          </p:nvPr>
        </p:nvSpPr>
        <p:spPr>
          <a:xfrm>
            <a:off x="2431415" y="5605780"/>
            <a:ext cx="7328535" cy="6737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algn="ctr">
              <a:buClrTx/>
            </a:pPr>
            <a:r>
              <a:rPr lang="zh-CN" altLang="en-US" sz="3600">
                <a:solidFill>
                  <a:srgbClr val="4274FF"/>
                </a:solidFill>
                <a:latin typeface="黑体" panose="02010609060101010101" charset="-122"/>
                <a:ea typeface="黑体" panose="02010609060101010101" charset="-122"/>
              </a:rPr>
              <a:t>加速度方向与速度变化量方向相同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>
            <a:off x="6487795" y="1942465"/>
            <a:ext cx="4460875" cy="511810"/>
            <a:chOff x="10217" y="3059"/>
            <a:chExt cx="7025" cy="806"/>
          </a:xfrm>
        </p:grpSpPr>
        <p:grpSp>
          <p:nvGrpSpPr>
            <p:cNvPr id="10" name="组合 9"/>
            <p:cNvGrpSpPr/>
            <p:nvPr>
              <p:custDataLst>
                <p:tags r:id="rId41"/>
              </p:custDataLst>
            </p:nvPr>
          </p:nvGrpSpPr>
          <p:grpSpPr>
            <a:xfrm>
              <a:off x="10217" y="3486"/>
              <a:ext cx="4601" cy="378"/>
              <a:chOff x="10217" y="3486"/>
              <a:chExt cx="4601" cy="378"/>
            </a:xfrm>
          </p:grpSpPr>
          <p:sp>
            <p:nvSpPr>
              <p:cNvPr id="123914" name="Rectangle 10"/>
              <p:cNvSpPr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10217" y="3486"/>
                <a:ext cx="531" cy="379"/>
              </a:xfrm>
              <a:prstGeom prst="rect">
                <a:avLst/>
              </a:prstGeom>
              <a:solidFill>
                <a:srgbClr val="4DAEFE"/>
              </a:solidFill>
              <a:ln w="9525" algn="ctr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1386" tIns="40693" rIns="81386" bIns="40693" anchor="ctr"/>
              <a:lstStyle/>
              <a:p>
                <a:endParaRPr lang="zh-CN" altLang="en-US" sz="2800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23917" name="Line 13"/>
              <p:cNvSpPr>
                <a:spLocks noChangeShapeType="1"/>
              </p:cNvSpPr>
              <p:nvPr>
                <p:custDataLst>
                  <p:tags r:id="rId44"/>
                </p:custDataLst>
              </p:nvPr>
            </p:nvSpPr>
            <p:spPr bwMode="auto">
              <a:xfrm flipV="1">
                <a:off x="10748" y="3665"/>
                <a:ext cx="4070" cy="1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1386" tIns="40693" rIns="81386" bIns="40693"/>
              <a:lstStyle/>
              <a:p>
                <a:endParaRPr lang="zh-CN" altLang="en-US" sz="135"/>
              </a:p>
            </p:txBody>
          </p:sp>
        </p:grpSp>
        <p:sp>
          <p:nvSpPr>
            <p:cNvPr id="123984" name="Text Box 80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4920" y="3059"/>
              <a:ext cx="2322" cy="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2800" i="1"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r>
                <a:rPr lang="en-US" altLang="zh-CN" sz="2800" baseline="-250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=5 m/s</a:t>
              </a:r>
              <a:endParaRPr lang="zh-CN" alt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230505" y="200025"/>
            <a:ext cx="4631055" cy="626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二、加速度的方向</a:t>
            </a:r>
          </a:p>
        </p:txBody>
      </p:sp>
      <p:sp>
        <p:nvSpPr>
          <p:cNvPr id="123911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66545" y="2257425"/>
            <a:ext cx="337185" cy="240665"/>
          </a:xfrm>
          <a:prstGeom prst="rect">
            <a:avLst/>
          </a:prstGeom>
          <a:solidFill>
            <a:srgbClr val="4DAEFE"/>
          </a:solidFill>
          <a:ln w="9525" algn="ctr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386" tIns="40693" rIns="81386" bIns="40693" anchor="ctr"/>
          <a:lstStyle/>
          <a:p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1903730" y="2011045"/>
            <a:ext cx="2191385" cy="436880"/>
            <a:chOff x="2998" y="3167"/>
            <a:chExt cx="3451" cy="688"/>
          </a:xfrm>
        </p:grpSpPr>
        <p:sp>
          <p:nvSpPr>
            <p:cNvPr id="123912" name="Line 8"/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>
              <a:off x="2998" y="3741"/>
              <a:ext cx="929" cy="0"/>
            </a:xfrm>
            <a:prstGeom prst="line">
              <a:avLst/>
            </a:prstGeom>
            <a:noFill/>
            <a:ln w="28575">
              <a:solidFill>
                <a:srgbClr val="00A249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  <p:sp>
          <p:nvSpPr>
            <p:cNvPr id="123913" name="Text Box 9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3927" y="3167"/>
              <a:ext cx="2522" cy="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no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r>
                <a:rPr lang="en-US" altLang="zh-CN" sz="2800" baseline="-250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=2 m/s</a:t>
              </a:r>
              <a:endParaRPr lang="zh-CN" alt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23915" name="Line 11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V="1">
            <a:off x="1546225" y="2454275"/>
            <a:ext cx="8272145" cy="43815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386" tIns="40693" rIns="81386" bIns="40693"/>
          <a:lstStyle/>
          <a:p>
            <a:endParaRPr lang="zh-CN" altLang="en-US" sz="135"/>
          </a:p>
        </p:txBody>
      </p:sp>
      <p:grpSp>
        <p:nvGrpSpPr>
          <p:cNvPr id="124002" name="Group 98"/>
          <p:cNvGrpSpPr/>
          <p:nvPr>
            <p:custDataLst>
              <p:tags r:id="rId6"/>
            </p:custDataLst>
          </p:nvPr>
        </p:nvGrpSpPr>
        <p:grpSpPr>
          <a:xfrm>
            <a:off x="6824970" y="1750191"/>
            <a:ext cx="735836" cy="582252"/>
            <a:chOff x="1679" y="1499"/>
            <a:chExt cx="419" cy="465"/>
          </a:xfrm>
        </p:grpSpPr>
        <p:sp>
          <p:nvSpPr>
            <p:cNvPr id="124001" name="Text Box 97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791" y="1499"/>
              <a:ext cx="307" cy="4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2800" i="1"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r>
                <a:rPr kumimoji="1" lang="en-US" altLang="zh-CN" sz="2800" baseline="-25000"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endParaRPr kumimoji="1" lang="zh-CN" altLang="en-US" sz="2800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23920" name="Line 16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>
              <a:off x="1679" y="1963"/>
              <a:ext cx="384" cy="1"/>
            </a:xfrm>
            <a:prstGeom prst="line">
              <a:avLst/>
            </a:prstGeom>
            <a:noFill/>
            <a:ln w="28575">
              <a:solidFill>
                <a:srgbClr val="00A249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"/>
            </a:p>
          </p:txBody>
        </p:sp>
      </p:grpSp>
      <p:grpSp>
        <p:nvGrpSpPr>
          <p:cNvPr id="11" name="组合 10"/>
          <p:cNvGrpSpPr/>
          <p:nvPr>
            <p:custDataLst>
              <p:tags r:id="rId7"/>
            </p:custDataLst>
          </p:nvPr>
        </p:nvGrpSpPr>
        <p:grpSpPr>
          <a:xfrm>
            <a:off x="7499350" y="1694815"/>
            <a:ext cx="1888490" cy="514350"/>
            <a:chOff x="11810" y="2669"/>
            <a:chExt cx="2974" cy="810"/>
          </a:xfrm>
        </p:grpSpPr>
        <p:sp>
          <p:nvSpPr>
            <p:cNvPr id="123921" name="Line 17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 flipV="1">
              <a:off x="11810" y="3473"/>
              <a:ext cx="2974" cy="6"/>
            </a:xfrm>
            <a:prstGeom prst="line">
              <a:avLst/>
            </a:prstGeom>
            <a:noFill/>
            <a:ln w="28575">
              <a:solidFill>
                <a:srgbClr val="FF99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  <p:sp>
          <p:nvSpPr>
            <p:cNvPr id="123923" name="Text Box 19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2813" y="2669"/>
              <a:ext cx="968" cy="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en-US" altLang="zh-CN" sz="2800">
                  <a:solidFill>
                    <a:srgbClr val="FF99FF"/>
                  </a:solidFill>
                  <a:latin typeface="Times New Roman" panose="02020603050405020304" charset="0"/>
                  <a:cs typeface="Times New Roman" panose="02020603050405020304" charset="0"/>
                </a:rPr>
                <a:t>Δ</a:t>
              </a:r>
              <a:r>
                <a:rPr kumimoji="1" lang="en-US" altLang="zh-CN" sz="2800" i="1">
                  <a:solidFill>
                    <a:srgbClr val="FF99FF"/>
                  </a:solidFill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</a:p>
          </p:txBody>
        </p:sp>
      </p:grpSp>
      <p:sp>
        <p:nvSpPr>
          <p:cNvPr id="123927" name="Text Box 23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345690" y="3091180"/>
            <a:ext cx="3183255" cy="572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386" tIns="40693" rIns="81386" bIns="40693">
            <a:no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v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＞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Δ</a:t>
            </a:r>
            <a:r>
              <a:rPr kumimoji="1" lang="en-US" altLang="zh-CN" sz="2800" i="1">
                <a:latin typeface="Times New Roman" panose="02020603050405020304" charset="0"/>
                <a:cs typeface="Times New Roman" panose="02020603050405020304" charset="0"/>
              </a:rPr>
              <a:t>v=v</a:t>
            </a:r>
            <a:r>
              <a:rPr kumimoji="1" lang="en-US" altLang="zh-CN" sz="2800" i="1" baseline="-2500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kumimoji="1" lang="en-US" altLang="zh-CN" sz="2800" i="1">
                <a:latin typeface="Times New Roman" panose="02020603050405020304" charset="0"/>
                <a:cs typeface="Times New Roman" panose="02020603050405020304" charset="0"/>
              </a:rPr>
              <a:t>-v</a:t>
            </a:r>
            <a:r>
              <a:rPr kumimoji="1" lang="en-US" altLang="zh-CN" sz="2800" i="1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kumimoji="1" lang="en-US" altLang="zh-CN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＞</a:t>
            </a: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zh-CN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3928" name="AutoShape 24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696585" y="3251200"/>
            <a:ext cx="674370" cy="18034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4DAEFE"/>
          </a:solidFill>
          <a:ln w="9525" algn="ctr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386" tIns="40693" rIns="81386" bIns="40693" anchor="ctr"/>
          <a:lstStyle/>
          <a:p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13" name="组合 12"/>
          <p:cNvGrpSpPr/>
          <p:nvPr>
            <p:custDataLst>
              <p:tags r:id="rId10"/>
            </p:custDataLst>
          </p:nvPr>
        </p:nvGrpSpPr>
        <p:grpSpPr>
          <a:xfrm>
            <a:off x="1188085" y="1067435"/>
            <a:ext cx="1516380" cy="511810"/>
            <a:chOff x="1870" y="1685"/>
            <a:chExt cx="2388" cy="806"/>
          </a:xfrm>
        </p:grpSpPr>
        <p:sp>
          <p:nvSpPr>
            <p:cNvPr id="123959" name="Line 55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2268" y="2491"/>
              <a:ext cx="1991" cy="0"/>
            </a:xfrm>
            <a:prstGeom prst="line">
              <a:avLst/>
            </a:prstGeom>
            <a:noFill/>
            <a:ln w="57150">
              <a:solidFill>
                <a:srgbClr val="4DAEFE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  <p:sp>
          <p:nvSpPr>
            <p:cNvPr id="123960" name="Text Box 56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870" y="1685"/>
              <a:ext cx="2389" cy="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ctr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zh-CN" altLang="en-US" sz="2800">
                  <a:latin typeface="Times New Roman" panose="02020603050405020304" charset="0"/>
                </a:rPr>
                <a:t>正方向</a:t>
              </a:r>
            </a:p>
          </p:txBody>
        </p:sp>
      </p:grpSp>
      <p:sp>
        <p:nvSpPr>
          <p:cNvPr id="123967" name="Text Box 63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833870" y="3091180"/>
            <a:ext cx="1113155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386" tIns="40693" rIns="81386" bIns="40693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en-US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＞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</a:p>
        </p:txBody>
      </p:sp>
      <p:sp>
        <p:nvSpPr>
          <p:cNvPr id="5" name="Text Box 2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8452485" y="3091180"/>
            <a:ext cx="937260" cy="5118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386" tIns="40693" rIns="81386" bIns="40693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charset="0"/>
              </a:rPr>
              <a:t>加速</a:t>
            </a:r>
          </a:p>
        </p:txBody>
      </p:sp>
      <p:sp>
        <p:nvSpPr>
          <p:cNvPr id="19" name="Rectangle 7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548765" y="4547235"/>
            <a:ext cx="337185" cy="240665"/>
          </a:xfrm>
          <a:prstGeom prst="rect">
            <a:avLst/>
          </a:prstGeom>
          <a:solidFill>
            <a:srgbClr val="4DAEFE"/>
          </a:solidFill>
          <a:ln w="9525" algn="ctr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386" tIns="40693" rIns="81386" bIns="40693" anchor="ctr"/>
          <a:lstStyle/>
          <a:p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20" name="组合 19"/>
          <p:cNvGrpSpPr/>
          <p:nvPr>
            <p:custDataLst>
              <p:tags r:id="rId14"/>
            </p:custDataLst>
          </p:nvPr>
        </p:nvGrpSpPr>
        <p:grpSpPr>
          <a:xfrm>
            <a:off x="1885950" y="4306570"/>
            <a:ext cx="4193540" cy="437515"/>
            <a:chOff x="2998" y="3176"/>
            <a:chExt cx="6604" cy="689"/>
          </a:xfrm>
        </p:grpSpPr>
        <p:sp>
          <p:nvSpPr>
            <p:cNvPr id="21" name="Line 8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2998" y="3741"/>
              <a:ext cx="4082" cy="0"/>
            </a:xfrm>
            <a:prstGeom prst="line">
              <a:avLst/>
            </a:prstGeom>
            <a:noFill/>
            <a:ln w="28575">
              <a:solidFill>
                <a:srgbClr val="00A249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  <p:sp>
          <p:nvSpPr>
            <p:cNvPr id="22" name="Text Box 9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7080" y="3176"/>
              <a:ext cx="2522" cy="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no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r>
                <a:rPr lang="en-US" altLang="zh-CN" sz="2800" baseline="-250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=5 m/s</a:t>
              </a:r>
              <a:endParaRPr lang="zh-CN" alt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3" name="Line 11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 flipV="1">
            <a:off x="1528445" y="4744085"/>
            <a:ext cx="8272145" cy="43815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386" tIns="40693" rIns="81386" bIns="40693"/>
          <a:lstStyle/>
          <a:p>
            <a:endParaRPr lang="zh-CN" altLang="en-US" sz="135"/>
          </a:p>
        </p:txBody>
      </p:sp>
      <p:grpSp>
        <p:nvGrpSpPr>
          <p:cNvPr id="37" name="组合 36"/>
          <p:cNvGrpSpPr/>
          <p:nvPr>
            <p:custDataLst>
              <p:tags r:id="rId16"/>
            </p:custDataLst>
          </p:nvPr>
        </p:nvGrpSpPr>
        <p:grpSpPr>
          <a:xfrm>
            <a:off x="7017385" y="4178935"/>
            <a:ext cx="3913505" cy="511810"/>
            <a:chOff x="11051" y="6581"/>
            <a:chExt cx="6163" cy="806"/>
          </a:xfrm>
        </p:grpSpPr>
        <p:sp>
          <p:nvSpPr>
            <p:cNvPr id="18" name="Text Box 80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4892" y="6581"/>
              <a:ext cx="2322" cy="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2800" i="1"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r>
                <a:rPr lang="en-US" altLang="zh-CN" sz="2800" baseline="-250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endParaRPr lang="zh-CN" alt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 flipV="1">
              <a:off x="11051" y="7272"/>
              <a:ext cx="4070" cy="10"/>
            </a:xfrm>
            <a:prstGeom prst="line">
              <a:avLst/>
            </a:prstGeom>
            <a:noFill/>
            <a:ln w="28575">
              <a:solidFill>
                <a:srgbClr val="00A249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</p:grpSp>
      <p:grpSp>
        <p:nvGrpSpPr>
          <p:cNvPr id="36" name="组合 35"/>
          <p:cNvGrpSpPr/>
          <p:nvPr>
            <p:custDataLst>
              <p:tags r:id="rId17"/>
            </p:custDataLst>
          </p:nvPr>
        </p:nvGrpSpPr>
        <p:grpSpPr>
          <a:xfrm>
            <a:off x="6680200" y="4040505"/>
            <a:ext cx="2176145" cy="703580"/>
            <a:chOff x="10145" y="5829"/>
            <a:chExt cx="3427" cy="1108"/>
          </a:xfrm>
        </p:grpSpPr>
        <p:sp>
          <p:nvSpPr>
            <p:cNvPr id="16" name="Rectangle 10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0145" y="6559"/>
              <a:ext cx="531" cy="379"/>
            </a:xfrm>
            <a:prstGeom prst="rect">
              <a:avLst/>
            </a:prstGeom>
            <a:solidFill>
              <a:srgbClr val="4DAEFE"/>
            </a:solidFill>
            <a:ln w="9525" algn="ctr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1386" tIns="40693" rIns="81386" bIns="40693" anchor="ctr"/>
            <a:lstStyle/>
            <a:p>
              <a:endPara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grpSp>
          <p:nvGrpSpPr>
            <p:cNvPr id="24" name="Group 98"/>
            <p:cNvGrpSpPr/>
            <p:nvPr>
              <p:custDataLst>
                <p:tags r:id="rId26"/>
              </p:custDataLst>
            </p:nvPr>
          </p:nvGrpSpPr>
          <p:grpSpPr>
            <a:xfrm>
              <a:off x="10676" y="5829"/>
              <a:ext cx="2896" cy="917"/>
              <a:chOff x="1679" y="1499"/>
              <a:chExt cx="1047" cy="465"/>
            </a:xfrm>
          </p:grpSpPr>
          <p:sp>
            <p:nvSpPr>
              <p:cNvPr id="25" name="Text Box 97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1791" y="1499"/>
                <a:ext cx="935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noAutofit/>
              </a:bodyPr>
              <a:lstStyle>
                <a:lvl1pPr marL="342900" indent="-342900" algn="ctr">
                  <a:spcBef>
                    <a:spcPct val="0"/>
                  </a:spcBef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1pPr>
                <a:lvl2pPr algn="ctr">
                  <a:spcBef>
                    <a:spcPct val="0"/>
                  </a:spcBef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2pPr>
                <a:lvl3pPr algn="ctr">
                  <a:spcBef>
                    <a:spcPct val="0"/>
                  </a:spcBef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3pPr>
                <a:lvl4pPr algn="ctr">
                  <a:spcBef>
                    <a:spcPct val="0"/>
                  </a:spcBef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4pPr>
                <a:lvl5pPr algn="ctr">
                  <a:spcBef>
                    <a:spcPct val="0"/>
                  </a:spcBef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9pPr>
              </a:lstStyle>
              <a:p>
                <a:pPr algn="l"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:r>
                  <a:rPr kumimoji="1" lang="en-US" altLang="zh-CN" sz="2800" i="1">
                    <a:latin typeface="Times New Roman" panose="02020603050405020304" charset="0"/>
                    <a:cs typeface="Times New Roman" panose="02020603050405020304" charset="0"/>
                  </a:rPr>
                  <a:t>v</a:t>
                </a:r>
                <a:r>
                  <a:rPr kumimoji="1" lang="en-US" altLang="zh-CN" sz="2800" baseline="-25000">
                    <a:latin typeface="Times New Roman" panose="02020603050405020304" charset="0"/>
                    <a:cs typeface="Times New Roman" panose="02020603050405020304" charset="0"/>
                  </a:rPr>
                  <a:t>2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=2 m/s</a:t>
                </a:r>
                <a:endParaRPr kumimoji="1" lang="zh-CN" altLang="en-US" sz="2800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6" name="Line 16"/>
              <p:cNvSpPr>
                <a:spLocks noChangeShapeType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1679" y="1963"/>
                <a:ext cx="384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"/>
              </a:p>
            </p:txBody>
          </p:sp>
        </p:grpSp>
      </p:grpSp>
      <p:grpSp>
        <p:nvGrpSpPr>
          <p:cNvPr id="28" name="组合 27"/>
          <p:cNvGrpSpPr/>
          <p:nvPr>
            <p:custDataLst>
              <p:tags r:id="rId18"/>
            </p:custDataLst>
          </p:nvPr>
        </p:nvGrpSpPr>
        <p:grpSpPr>
          <a:xfrm>
            <a:off x="7691755" y="4773930"/>
            <a:ext cx="1888490" cy="511810"/>
            <a:chOff x="11810" y="3159"/>
            <a:chExt cx="2974" cy="806"/>
          </a:xfrm>
        </p:grpSpPr>
        <p:sp>
          <p:nvSpPr>
            <p:cNvPr id="29" name="Line 17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flipH="1" flipV="1">
              <a:off x="11810" y="3305"/>
              <a:ext cx="2974" cy="6"/>
            </a:xfrm>
            <a:prstGeom prst="line">
              <a:avLst/>
            </a:prstGeom>
            <a:noFill/>
            <a:ln w="28575">
              <a:solidFill>
                <a:srgbClr val="FF99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  <p:sp>
          <p:nvSpPr>
            <p:cNvPr id="30" name="Text Box 19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2939" y="3159"/>
              <a:ext cx="968" cy="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en-US" altLang="zh-CN" sz="2800">
                  <a:solidFill>
                    <a:srgbClr val="FF99FF"/>
                  </a:solidFill>
                  <a:latin typeface="Times New Roman" panose="02020603050405020304" charset="0"/>
                  <a:cs typeface="Times New Roman" panose="02020603050405020304" charset="0"/>
                </a:rPr>
                <a:t>Δ</a:t>
              </a:r>
              <a:r>
                <a:rPr kumimoji="1" lang="en-US" altLang="zh-CN" sz="2800" i="1">
                  <a:solidFill>
                    <a:srgbClr val="FF99FF"/>
                  </a:solidFill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</a:p>
          </p:txBody>
        </p:sp>
      </p:grpSp>
      <p:sp>
        <p:nvSpPr>
          <p:cNvPr id="31" name="Text Box 23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345690" y="5640070"/>
            <a:ext cx="3183255" cy="572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386" tIns="40693" rIns="81386" bIns="40693">
            <a:no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v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＞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Δ</a:t>
            </a:r>
            <a:r>
              <a:rPr kumimoji="1" lang="en-US" altLang="zh-CN" sz="2800" i="1">
                <a:latin typeface="Times New Roman" panose="02020603050405020304" charset="0"/>
                <a:cs typeface="Times New Roman" panose="02020603050405020304" charset="0"/>
              </a:rPr>
              <a:t>v=v</a:t>
            </a:r>
            <a:r>
              <a:rPr kumimoji="1" lang="en-US" altLang="zh-CN" sz="2800" i="1" baseline="-2500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kumimoji="1" lang="en-US" altLang="zh-CN" sz="2800" i="1">
                <a:latin typeface="Times New Roman" panose="02020603050405020304" charset="0"/>
                <a:cs typeface="Times New Roman" panose="02020603050405020304" charset="0"/>
              </a:rPr>
              <a:t>-v</a:t>
            </a:r>
            <a:r>
              <a:rPr kumimoji="1" lang="en-US" altLang="zh-CN" sz="2800" i="1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kumimoji="1" lang="en-US" altLang="zh-CN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&lt;</a:t>
            </a: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zh-CN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AutoShape 24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696585" y="5800090"/>
            <a:ext cx="674370" cy="18034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4DAEFE"/>
          </a:solidFill>
          <a:ln w="9525" algn="ctr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386" tIns="40693" rIns="81386" bIns="40693" anchor="ctr"/>
          <a:lstStyle/>
          <a:p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33" name="Text Box 63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941185" y="5638800"/>
            <a:ext cx="1113155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386" tIns="40693" rIns="81386" bIns="40693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en-US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&lt;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</a:p>
        </p:txBody>
      </p:sp>
      <p:sp>
        <p:nvSpPr>
          <p:cNvPr id="34" name="Text Box 23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8452485" y="5638800"/>
            <a:ext cx="937260" cy="5118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386" tIns="40693" rIns="81386" bIns="40693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charset="0"/>
              </a:rPr>
              <a:t>减速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3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3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3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27" grpId="0" animBg="1"/>
      <p:bldP spid="123928" grpId="0" animBg="1"/>
      <p:bldP spid="123967" grpId="0" animBg="1"/>
      <p:bldP spid="5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 flipH="1">
            <a:off x="495935" y="1941830"/>
            <a:ext cx="4460875" cy="929640"/>
            <a:chOff x="10217" y="3059"/>
            <a:chExt cx="7025" cy="1464"/>
          </a:xfrm>
        </p:grpSpPr>
        <p:grpSp>
          <p:nvGrpSpPr>
            <p:cNvPr id="10" name="组合 9"/>
            <p:cNvGrpSpPr/>
            <p:nvPr>
              <p:custDataLst>
                <p:tags r:id="rId41"/>
              </p:custDataLst>
            </p:nvPr>
          </p:nvGrpSpPr>
          <p:grpSpPr>
            <a:xfrm>
              <a:off x="10217" y="3486"/>
              <a:ext cx="4601" cy="378"/>
              <a:chOff x="10217" y="3486"/>
              <a:chExt cx="4601" cy="378"/>
            </a:xfrm>
          </p:grpSpPr>
          <p:sp>
            <p:nvSpPr>
              <p:cNvPr id="123914" name="Rectangle 10"/>
              <p:cNvSpPr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10217" y="3486"/>
                <a:ext cx="531" cy="379"/>
              </a:xfrm>
              <a:prstGeom prst="rect">
                <a:avLst/>
              </a:prstGeom>
              <a:solidFill>
                <a:srgbClr val="4DAEFE"/>
              </a:solidFill>
              <a:ln w="9525" algn="ctr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1386" tIns="40693" rIns="81386" bIns="40693" anchor="ctr"/>
              <a:lstStyle/>
              <a:p>
                <a:endParaRPr lang="zh-CN" altLang="en-US" sz="2800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23917" name="Line 13"/>
              <p:cNvSpPr>
                <a:spLocks noChangeShapeType="1"/>
              </p:cNvSpPr>
              <p:nvPr>
                <p:custDataLst>
                  <p:tags r:id="rId44"/>
                </p:custDataLst>
              </p:nvPr>
            </p:nvSpPr>
            <p:spPr bwMode="auto">
              <a:xfrm flipV="1">
                <a:off x="10748" y="3665"/>
                <a:ext cx="4070" cy="1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1386" tIns="40693" rIns="81386" bIns="40693"/>
              <a:lstStyle/>
              <a:p>
                <a:endParaRPr lang="zh-CN" altLang="en-US" sz="135"/>
              </a:p>
            </p:txBody>
          </p:sp>
        </p:grpSp>
        <p:sp>
          <p:nvSpPr>
            <p:cNvPr id="123984" name="Text Box 80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4655" y="3059"/>
              <a:ext cx="2587" cy="14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no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2800" i="1"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r>
                <a:rPr lang="en-US" altLang="zh-CN" sz="2800" baseline="-250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=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-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8 m/s</a:t>
              </a:r>
              <a:endParaRPr lang="zh-CN" alt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230505" y="200025"/>
            <a:ext cx="4631055" cy="626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二、加速度的方向</a:t>
            </a:r>
          </a:p>
        </p:txBody>
      </p:sp>
      <p:sp>
        <p:nvSpPr>
          <p:cNvPr id="123911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462770" y="2212975"/>
            <a:ext cx="337185" cy="240665"/>
          </a:xfrm>
          <a:prstGeom prst="rect">
            <a:avLst/>
          </a:prstGeom>
          <a:solidFill>
            <a:srgbClr val="4DAEFE"/>
          </a:solidFill>
          <a:ln w="9525" algn="ctr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386" tIns="40693" rIns="81386" bIns="40693" anchor="ctr"/>
          <a:lstStyle/>
          <a:p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 flipH="1">
            <a:off x="7271385" y="1941830"/>
            <a:ext cx="2191385" cy="436880"/>
            <a:chOff x="2998" y="3167"/>
            <a:chExt cx="3451" cy="688"/>
          </a:xfrm>
        </p:grpSpPr>
        <p:sp>
          <p:nvSpPr>
            <p:cNvPr id="123912" name="Line 8"/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>
              <a:off x="2998" y="3741"/>
              <a:ext cx="929" cy="0"/>
            </a:xfrm>
            <a:prstGeom prst="line">
              <a:avLst/>
            </a:prstGeom>
            <a:noFill/>
            <a:ln w="28575">
              <a:solidFill>
                <a:srgbClr val="00A249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  <p:sp>
          <p:nvSpPr>
            <p:cNvPr id="123913" name="Text Box 9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3927" y="3167"/>
              <a:ext cx="2522" cy="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no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r>
                <a:rPr lang="en-US" altLang="zh-CN" sz="2800" baseline="-250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=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-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5 m/s</a:t>
              </a:r>
              <a:endParaRPr lang="zh-CN" alt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23915" name="Line 11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V="1">
            <a:off x="1546225" y="2454275"/>
            <a:ext cx="8272145" cy="43815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386" tIns="40693" rIns="81386" bIns="40693"/>
          <a:lstStyle/>
          <a:p>
            <a:endParaRPr lang="zh-CN" altLang="en-US" sz="135"/>
          </a:p>
        </p:txBody>
      </p:sp>
      <p:grpSp>
        <p:nvGrpSpPr>
          <p:cNvPr id="124002" name="Group 98"/>
          <p:cNvGrpSpPr/>
          <p:nvPr>
            <p:custDataLst>
              <p:tags r:id="rId6"/>
            </p:custDataLst>
          </p:nvPr>
        </p:nvGrpSpPr>
        <p:grpSpPr>
          <a:xfrm flipH="1">
            <a:off x="3894445" y="1744476"/>
            <a:ext cx="735836" cy="582252"/>
            <a:chOff x="1679" y="1499"/>
            <a:chExt cx="419" cy="465"/>
          </a:xfrm>
        </p:grpSpPr>
        <p:sp>
          <p:nvSpPr>
            <p:cNvPr id="124001" name="Text Box 97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791" y="1499"/>
              <a:ext cx="307" cy="4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2800" i="1"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r>
                <a:rPr kumimoji="1" lang="en-US" altLang="zh-CN" sz="2800" baseline="-25000"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endParaRPr kumimoji="1" lang="zh-CN" altLang="en-US" sz="2800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23920" name="Line 16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>
              <a:off x="1679" y="1963"/>
              <a:ext cx="384" cy="1"/>
            </a:xfrm>
            <a:prstGeom prst="line">
              <a:avLst/>
            </a:prstGeom>
            <a:noFill/>
            <a:ln w="28575">
              <a:solidFill>
                <a:srgbClr val="00A249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"/>
            </a:p>
          </p:txBody>
        </p:sp>
      </p:grpSp>
      <p:grpSp>
        <p:nvGrpSpPr>
          <p:cNvPr id="11" name="组合 10"/>
          <p:cNvGrpSpPr/>
          <p:nvPr>
            <p:custDataLst>
              <p:tags r:id="rId7"/>
            </p:custDataLst>
          </p:nvPr>
        </p:nvGrpSpPr>
        <p:grpSpPr>
          <a:xfrm flipH="1">
            <a:off x="2067560" y="1691005"/>
            <a:ext cx="1888490" cy="514350"/>
            <a:chOff x="11810" y="2669"/>
            <a:chExt cx="2974" cy="810"/>
          </a:xfrm>
        </p:grpSpPr>
        <p:sp>
          <p:nvSpPr>
            <p:cNvPr id="123921" name="Line 17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 flipV="1">
              <a:off x="11810" y="3473"/>
              <a:ext cx="2974" cy="6"/>
            </a:xfrm>
            <a:prstGeom prst="line">
              <a:avLst/>
            </a:prstGeom>
            <a:noFill/>
            <a:ln w="28575">
              <a:solidFill>
                <a:srgbClr val="FF99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  <p:sp>
          <p:nvSpPr>
            <p:cNvPr id="123923" name="Text Box 19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2813" y="2669"/>
              <a:ext cx="968" cy="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en-US" altLang="zh-CN" sz="2800">
                  <a:solidFill>
                    <a:srgbClr val="FF99FF"/>
                  </a:solidFill>
                  <a:latin typeface="Times New Roman" panose="02020603050405020304" charset="0"/>
                  <a:cs typeface="Times New Roman" panose="02020603050405020304" charset="0"/>
                </a:rPr>
                <a:t>Δ</a:t>
              </a:r>
              <a:r>
                <a:rPr kumimoji="1" lang="en-US" altLang="zh-CN" sz="2800" i="1">
                  <a:solidFill>
                    <a:srgbClr val="FF99FF"/>
                  </a:solidFill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</a:p>
          </p:txBody>
        </p:sp>
      </p:grpSp>
      <p:sp>
        <p:nvSpPr>
          <p:cNvPr id="123927" name="Text Box 23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345690" y="3091180"/>
            <a:ext cx="3183255" cy="572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386" tIns="40693" rIns="81386" bIns="40693">
            <a:no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v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&lt;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Δ</a:t>
            </a:r>
            <a:r>
              <a:rPr kumimoji="1" lang="en-US" altLang="zh-CN" sz="2800" i="1">
                <a:latin typeface="Times New Roman" panose="02020603050405020304" charset="0"/>
                <a:cs typeface="Times New Roman" panose="02020603050405020304" charset="0"/>
              </a:rPr>
              <a:t>v=v</a:t>
            </a:r>
            <a:r>
              <a:rPr kumimoji="1" lang="en-US" altLang="zh-CN" sz="2800" i="1" baseline="-2500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kumimoji="1" lang="en-US" altLang="zh-CN" sz="2800" i="1">
                <a:latin typeface="Times New Roman" panose="02020603050405020304" charset="0"/>
                <a:cs typeface="Times New Roman" panose="02020603050405020304" charset="0"/>
              </a:rPr>
              <a:t>-v</a:t>
            </a:r>
            <a:r>
              <a:rPr kumimoji="1" lang="en-US" altLang="zh-CN" sz="2800" i="1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kumimoji="1" lang="en-US" altLang="zh-CN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&lt;</a:t>
            </a: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zh-CN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3928" name="AutoShape 24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696585" y="3251200"/>
            <a:ext cx="674370" cy="18034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4DAEFE"/>
          </a:solidFill>
          <a:ln w="9525" algn="ctr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386" tIns="40693" rIns="81386" bIns="40693" anchor="ctr"/>
          <a:lstStyle/>
          <a:p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13" name="组合 12"/>
          <p:cNvGrpSpPr/>
          <p:nvPr>
            <p:custDataLst>
              <p:tags r:id="rId10"/>
            </p:custDataLst>
          </p:nvPr>
        </p:nvGrpSpPr>
        <p:grpSpPr>
          <a:xfrm>
            <a:off x="1188085" y="1067435"/>
            <a:ext cx="1516380" cy="511810"/>
            <a:chOff x="1870" y="1685"/>
            <a:chExt cx="2388" cy="806"/>
          </a:xfrm>
        </p:grpSpPr>
        <p:sp>
          <p:nvSpPr>
            <p:cNvPr id="123959" name="Line 55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2268" y="2491"/>
              <a:ext cx="1991" cy="0"/>
            </a:xfrm>
            <a:prstGeom prst="line">
              <a:avLst/>
            </a:prstGeom>
            <a:noFill/>
            <a:ln w="57150">
              <a:solidFill>
                <a:srgbClr val="4DAEFE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  <p:sp>
          <p:nvSpPr>
            <p:cNvPr id="123960" name="Text Box 56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870" y="1685"/>
              <a:ext cx="2389" cy="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ctr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zh-CN" altLang="en-US" sz="2800">
                  <a:latin typeface="Times New Roman" panose="02020603050405020304" charset="0"/>
                </a:rPr>
                <a:t>正方向</a:t>
              </a:r>
            </a:p>
          </p:txBody>
        </p:sp>
      </p:grpSp>
      <p:sp>
        <p:nvSpPr>
          <p:cNvPr id="123967" name="Text Box 63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833870" y="3091180"/>
            <a:ext cx="1113155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386" tIns="40693" rIns="81386" bIns="40693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en-US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&lt;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</a:p>
        </p:txBody>
      </p:sp>
      <p:sp>
        <p:nvSpPr>
          <p:cNvPr id="5" name="Text Box 2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8452485" y="3091180"/>
            <a:ext cx="937260" cy="5118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386" tIns="40693" rIns="81386" bIns="40693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charset="0"/>
              </a:rPr>
              <a:t>加速</a:t>
            </a:r>
          </a:p>
        </p:txBody>
      </p:sp>
      <p:sp>
        <p:nvSpPr>
          <p:cNvPr id="19" name="Rectangle 7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9462770" y="4493895"/>
            <a:ext cx="337185" cy="240665"/>
          </a:xfrm>
          <a:prstGeom prst="rect">
            <a:avLst/>
          </a:prstGeom>
          <a:solidFill>
            <a:srgbClr val="4DAEFE"/>
          </a:solidFill>
          <a:ln w="9525" algn="ctr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386" tIns="40693" rIns="81386" bIns="40693" anchor="ctr"/>
          <a:lstStyle/>
          <a:p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20" name="组合 19"/>
          <p:cNvGrpSpPr/>
          <p:nvPr>
            <p:custDataLst>
              <p:tags r:id="rId14"/>
            </p:custDataLst>
          </p:nvPr>
        </p:nvGrpSpPr>
        <p:grpSpPr>
          <a:xfrm flipH="1">
            <a:off x="6382385" y="4135120"/>
            <a:ext cx="3080385" cy="494665"/>
            <a:chOff x="2998" y="2962"/>
            <a:chExt cx="4851" cy="779"/>
          </a:xfrm>
        </p:grpSpPr>
        <p:sp>
          <p:nvSpPr>
            <p:cNvPr id="21" name="Line 8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2998" y="3741"/>
              <a:ext cx="4082" cy="0"/>
            </a:xfrm>
            <a:prstGeom prst="line">
              <a:avLst/>
            </a:prstGeom>
            <a:noFill/>
            <a:ln w="28575">
              <a:solidFill>
                <a:srgbClr val="00A249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  <p:sp>
          <p:nvSpPr>
            <p:cNvPr id="22" name="Text Box 9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327" y="2962"/>
              <a:ext cx="2522" cy="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no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r>
                <a:rPr lang="en-US" altLang="zh-CN" sz="2800" baseline="-250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=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-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5 m/s</a:t>
              </a:r>
              <a:endParaRPr lang="zh-CN" alt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3" name="Line 11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 flipV="1">
            <a:off x="1528445" y="4744085"/>
            <a:ext cx="8272145" cy="43815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386" tIns="40693" rIns="81386" bIns="40693"/>
          <a:lstStyle/>
          <a:p>
            <a:endParaRPr lang="zh-CN" altLang="en-US" sz="135"/>
          </a:p>
        </p:txBody>
      </p:sp>
      <p:grpSp>
        <p:nvGrpSpPr>
          <p:cNvPr id="37" name="组合 36"/>
          <p:cNvGrpSpPr/>
          <p:nvPr>
            <p:custDataLst>
              <p:tags r:id="rId16"/>
            </p:custDataLst>
          </p:nvPr>
        </p:nvGrpSpPr>
        <p:grpSpPr>
          <a:xfrm flipH="1">
            <a:off x="1575435" y="4197350"/>
            <a:ext cx="3117215" cy="576580"/>
            <a:chOff x="11051" y="6628"/>
            <a:chExt cx="4909" cy="908"/>
          </a:xfrm>
        </p:grpSpPr>
        <p:sp>
          <p:nvSpPr>
            <p:cNvPr id="18" name="Text Box 80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5073" y="6628"/>
              <a:ext cx="887" cy="9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no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2800" i="1"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r>
                <a:rPr lang="en-US" altLang="zh-CN" sz="2800" baseline="-250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endParaRPr lang="zh-CN" alt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 flipV="1">
              <a:off x="11051" y="7272"/>
              <a:ext cx="4070" cy="10"/>
            </a:xfrm>
            <a:prstGeom prst="line">
              <a:avLst/>
            </a:prstGeom>
            <a:noFill/>
            <a:ln w="28575">
              <a:solidFill>
                <a:srgbClr val="00A249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</p:grpSp>
      <p:grpSp>
        <p:nvGrpSpPr>
          <p:cNvPr id="36" name="组合 35"/>
          <p:cNvGrpSpPr/>
          <p:nvPr>
            <p:custDataLst>
              <p:tags r:id="rId17"/>
            </p:custDataLst>
          </p:nvPr>
        </p:nvGrpSpPr>
        <p:grpSpPr>
          <a:xfrm flipH="1">
            <a:off x="2853690" y="4030345"/>
            <a:ext cx="2176145" cy="703580"/>
            <a:chOff x="10145" y="5829"/>
            <a:chExt cx="3427" cy="1108"/>
          </a:xfrm>
        </p:grpSpPr>
        <p:sp>
          <p:nvSpPr>
            <p:cNvPr id="16" name="Rectangle 10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0145" y="6559"/>
              <a:ext cx="531" cy="379"/>
            </a:xfrm>
            <a:prstGeom prst="rect">
              <a:avLst/>
            </a:prstGeom>
            <a:solidFill>
              <a:srgbClr val="4DAEFE"/>
            </a:solidFill>
            <a:ln w="9525" algn="ctr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1386" tIns="40693" rIns="81386" bIns="40693" anchor="ctr"/>
            <a:lstStyle/>
            <a:p>
              <a:endPara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grpSp>
          <p:nvGrpSpPr>
            <p:cNvPr id="24" name="Group 98"/>
            <p:cNvGrpSpPr/>
            <p:nvPr>
              <p:custDataLst>
                <p:tags r:id="rId26"/>
              </p:custDataLst>
            </p:nvPr>
          </p:nvGrpSpPr>
          <p:grpSpPr>
            <a:xfrm>
              <a:off x="10676" y="5829"/>
              <a:ext cx="2896" cy="917"/>
              <a:chOff x="1679" y="1499"/>
              <a:chExt cx="1047" cy="465"/>
            </a:xfrm>
          </p:grpSpPr>
          <p:sp>
            <p:nvSpPr>
              <p:cNvPr id="25" name="Text Box 97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1791" y="1499"/>
                <a:ext cx="935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noAutofit/>
              </a:bodyPr>
              <a:lstStyle>
                <a:lvl1pPr marL="342900" indent="-342900" algn="ctr">
                  <a:spcBef>
                    <a:spcPct val="0"/>
                  </a:spcBef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1pPr>
                <a:lvl2pPr algn="ctr">
                  <a:spcBef>
                    <a:spcPct val="0"/>
                  </a:spcBef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2pPr>
                <a:lvl3pPr algn="ctr">
                  <a:spcBef>
                    <a:spcPct val="0"/>
                  </a:spcBef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3pPr>
                <a:lvl4pPr algn="ctr">
                  <a:spcBef>
                    <a:spcPct val="0"/>
                  </a:spcBef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4pPr>
                <a:lvl5pPr algn="ctr">
                  <a:spcBef>
                    <a:spcPct val="0"/>
                  </a:spcBef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9pPr>
              </a:lstStyle>
              <a:p>
                <a:pPr algn="l"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:r>
                  <a:rPr kumimoji="1" lang="en-US" altLang="zh-CN" sz="2800" i="1">
                    <a:latin typeface="Times New Roman" panose="02020603050405020304" charset="0"/>
                    <a:cs typeface="Times New Roman" panose="02020603050405020304" charset="0"/>
                  </a:rPr>
                  <a:t>v</a:t>
                </a:r>
                <a:r>
                  <a:rPr kumimoji="1" lang="en-US" altLang="zh-CN" sz="2800" baseline="-25000">
                    <a:latin typeface="Times New Roman" panose="02020603050405020304" charset="0"/>
                    <a:cs typeface="Times New Roman" panose="02020603050405020304" charset="0"/>
                  </a:rPr>
                  <a:t>2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=</a:t>
                </a:r>
                <a:r>
                  <a:rPr lang="en-US" altLang="zh-CN" sz="2800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-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2 m/s</a:t>
                </a:r>
                <a:endParaRPr kumimoji="1" lang="zh-CN" altLang="en-US" sz="2800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6" name="Line 16"/>
              <p:cNvSpPr>
                <a:spLocks noChangeShapeType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1679" y="1963"/>
                <a:ext cx="384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"/>
              </a:p>
            </p:txBody>
          </p:sp>
        </p:grpSp>
      </p:grpSp>
      <p:grpSp>
        <p:nvGrpSpPr>
          <p:cNvPr id="28" name="组合 27"/>
          <p:cNvGrpSpPr/>
          <p:nvPr>
            <p:custDataLst>
              <p:tags r:id="rId18"/>
            </p:custDataLst>
          </p:nvPr>
        </p:nvGrpSpPr>
        <p:grpSpPr>
          <a:xfrm flipH="1">
            <a:off x="2108200" y="4870450"/>
            <a:ext cx="1888490" cy="511810"/>
            <a:chOff x="11810" y="3159"/>
            <a:chExt cx="2974" cy="806"/>
          </a:xfrm>
        </p:grpSpPr>
        <p:sp>
          <p:nvSpPr>
            <p:cNvPr id="29" name="Line 17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flipH="1" flipV="1">
              <a:off x="11810" y="3305"/>
              <a:ext cx="2974" cy="6"/>
            </a:xfrm>
            <a:prstGeom prst="line">
              <a:avLst/>
            </a:prstGeom>
            <a:noFill/>
            <a:ln w="28575">
              <a:solidFill>
                <a:srgbClr val="FF99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  <p:sp>
          <p:nvSpPr>
            <p:cNvPr id="30" name="Text Box 19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2939" y="3159"/>
              <a:ext cx="968" cy="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en-US" altLang="zh-CN" sz="2800">
                  <a:solidFill>
                    <a:srgbClr val="FF99FF"/>
                  </a:solidFill>
                  <a:latin typeface="Times New Roman" panose="02020603050405020304" charset="0"/>
                  <a:cs typeface="Times New Roman" panose="02020603050405020304" charset="0"/>
                </a:rPr>
                <a:t>Δ</a:t>
              </a:r>
              <a:r>
                <a:rPr kumimoji="1" lang="en-US" altLang="zh-CN" sz="2800" i="1">
                  <a:solidFill>
                    <a:srgbClr val="FF99FF"/>
                  </a:solidFill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</a:p>
          </p:txBody>
        </p:sp>
      </p:grpSp>
      <p:sp>
        <p:nvSpPr>
          <p:cNvPr id="31" name="Text Box 23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345690" y="5640070"/>
            <a:ext cx="3183255" cy="572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386" tIns="40693" rIns="81386" bIns="40693">
            <a:no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v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&lt;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Δ</a:t>
            </a:r>
            <a:r>
              <a:rPr kumimoji="1" lang="en-US" altLang="zh-CN" sz="2800" i="1">
                <a:latin typeface="Times New Roman" panose="02020603050405020304" charset="0"/>
                <a:cs typeface="Times New Roman" panose="02020603050405020304" charset="0"/>
              </a:rPr>
              <a:t>v=v</a:t>
            </a:r>
            <a:r>
              <a:rPr kumimoji="1" lang="en-US" altLang="zh-CN" sz="2800" i="1" baseline="-2500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kumimoji="1" lang="en-US" altLang="zh-CN" sz="2800" i="1">
                <a:latin typeface="Times New Roman" panose="02020603050405020304" charset="0"/>
                <a:cs typeface="Times New Roman" panose="02020603050405020304" charset="0"/>
              </a:rPr>
              <a:t>-v</a:t>
            </a:r>
            <a:r>
              <a:rPr kumimoji="1" lang="en-US" altLang="zh-CN" sz="2800" i="1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kumimoji="1" lang="en-US" altLang="zh-CN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&gt;</a:t>
            </a: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zh-CN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AutoShape 24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696585" y="5800090"/>
            <a:ext cx="674370" cy="18034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4DAEFE"/>
          </a:solidFill>
          <a:ln w="9525" algn="ctr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386" tIns="40693" rIns="81386" bIns="40693" anchor="ctr"/>
          <a:lstStyle/>
          <a:p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33" name="Text Box 63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941185" y="5638800"/>
            <a:ext cx="1113155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386" tIns="40693" rIns="81386" bIns="40693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en-US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&gt;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</a:p>
        </p:txBody>
      </p:sp>
      <p:sp>
        <p:nvSpPr>
          <p:cNvPr id="34" name="Text Box 23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8452485" y="5638800"/>
            <a:ext cx="937260" cy="5118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386" tIns="40693" rIns="81386" bIns="40693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charset="0"/>
              </a:rPr>
              <a:t>减速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3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3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3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27" grpId="0" animBg="1"/>
      <p:bldP spid="123928" grpId="0" animBg="1"/>
      <p:bldP spid="123967" grpId="0" animBg="1"/>
      <p:bldP spid="5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667" y="200115"/>
            <a:ext cx="39906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sp>
        <p:nvSpPr>
          <p:cNvPr id="16392" name="矩形 16391"/>
          <p:cNvSpPr/>
          <p:nvPr>
            <p:custDataLst>
              <p:tags r:id="rId2"/>
            </p:custDataLst>
          </p:nvPr>
        </p:nvSpPr>
        <p:spPr>
          <a:xfrm>
            <a:off x="396875" y="1320165"/>
            <a:ext cx="11236325" cy="178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通过以上分析，你是否可以总结一下如何判断直线运动中</a:t>
            </a:r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“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加速</a:t>
            </a:r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”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或</a:t>
            </a:r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“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减速</a:t>
            </a:r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”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的情况</a:t>
            </a:r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?</a:t>
            </a:r>
          </a:p>
        </p:txBody>
      </p:sp>
      <p:pic>
        <p:nvPicPr>
          <p:cNvPr id="100" name="图片 99"/>
          <p:cNvPicPr/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21480" y="3101340"/>
            <a:ext cx="3806190" cy="32105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4631055" cy="626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二、加速度的方向</a:t>
            </a:r>
          </a:p>
        </p:txBody>
      </p:sp>
      <p:sp>
        <p:nvSpPr>
          <p:cNvPr id="5122" name="文本框 2"/>
          <p:cNvSpPr txBox="1"/>
          <p:nvPr>
            <p:custDataLst>
              <p:tags r:id="rId2"/>
            </p:custDataLst>
          </p:nvPr>
        </p:nvSpPr>
        <p:spPr>
          <a:xfrm>
            <a:off x="352425" y="1257300"/>
            <a:ext cx="1147191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</a:t>
            </a:r>
            <a:r>
              <a:rPr lang="zh-CN" altLang="zh-CN" sz="2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物体做加速运动还是减速运动，关键是看物体的</a:t>
            </a:r>
            <a:r>
              <a:rPr lang="zh-CN" altLang="zh-CN" sz="28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加速度与速度的方向关系，</a:t>
            </a:r>
            <a:r>
              <a:rPr lang="zh-CN" altLang="zh-CN" sz="2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而不是看加速度的大小，加速度的大小只是反映速度变化的快慢。</a:t>
            </a:r>
          </a:p>
        </p:txBody>
      </p:sp>
      <p:grpSp>
        <p:nvGrpSpPr>
          <p:cNvPr id="5" name="组合 11"/>
          <p:cNvGrpSpPr/>
          <p:nvPr>
            <p:custDataLst>
              <p:tags r:id="rId3"/>
            </p:custDataLst>
          </p:nvPr>
        </p:nvGrpSpPr>
        <p:grpSpPr>
          <a:xfrm>
            <a:off x="391160" y="2932638"/>
            <a:ext cx="11229059" cy="2671285"/>
            <a:chOff x="594" y="2765"/>
            <a:chExt cx="12698" cy="5620"/>
          </a:xfrm>
        </p:grpSpPr>
        <p:sp>
          <p:nvSpPr>
            <p:cNvPr id="5124" name="文本框 4"/>
            <p:cNvSpPr txBox="1"/>
            <p:nvPr>
              <p:custDataLst>
                <p:tags r:id="rId4"/>
              </p:custDataLst>
            </p:nvPr>
          </p:nvSpPr>
          <p:spPr>
            <a:xfrm>
              <a:off x="594" y="4504"/>
              <a:ext cx="5952" cy="19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lstStyle/>
            <a:p>
              <a:pPr lvl="0" indent="0">
                <a:lnSpc>
                  <a:spcPct val="150000"/>
                </a:lnSpc>
              </a:pP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（</a:t>
              </a: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1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）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a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与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同向（加速直线运动）</a:t>
              </a:r>
            </a:p>
          </p:txBody>
        </p:sp>
        <p:sp>
          <p:nvSpPr>
            <p:cNvPr id="7" name="左大括号 6"/>
            <p:cNvSpPr/>
            <p:nvPr>
              <p:custDataLst>
                <p:tags r:id="rId5"/>
              </p:custDataLst>
            </p:nvPr>
          </p:nvSpPr>
          <p:spPr>
            <a:xfrm>
              <a:off x="6433" y="3415"/>
              <a:ext cx="414" cy="4101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fontAlgn="base">
                <a:lnSpc>
                  <a:spcPct val="150000"/>
                </a:lnSpc>
              </a:pPr>
              <a:endParaRPr lang="zh-CN" altLang="en-US" sz="2800" strike="noStrike" noProof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sp>
          <p:nvSpPr>
            <p:cNvPr id="5126" name="文本框 6"/>
            <p:cNvSpPr txBox="1"/>
            <p:nvPr>
              <p:custDataLst>
                <p:tags r:id="rId6"/>
              </p:custDataLst>
            </p:nvPr>
          </p:nvSpPr>
          <p:spPr>
            <a:xfrm>
              <a:off x="6908" y="2765"/>
              <a:ext cx="6384" cy="15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 indent="0">
                <a:lnSpc>
                  <a:spcPct val="150000"/>
                </a:lnSpc>
              </a:pP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a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不变，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随时间均匀增加</a:t>
              </a:r>
            </a:p>
          </p:txBody>
        </p:sp>
        <p:sp>
          <p:nvSpPr>
            <p:cNvPr id="5127" name="文本框 7"/>
            <p:cNvSpPr txBox="1"/>
            <p:nvPr>
              <p:custDataLst>
                <p:tags r:id="rId7"/>
              </p:custDataLst>
            </p:nvPr>
          </p:nvSpPr>
          <p:spPr>
            <a:xfrm>
              <a:off x="6968" y="6679"/>
              <a:ext cx="6324" cy="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lstStyle/>
            <a:p>
              <a:pPr lvl="0" indent="0">
                <a:lnSpc>
                  <a:spcPct val="150000"/>
                </a:lnSpc>
              </a:pP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a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增大，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增加的越来越快</a:t>
              </a:r>
            </a:p>
          </p:txBody>
        </p:sp>
        <p:sp>
          <p:nvSpPr>
            <p:cNvPr id="5128" name="文本框 8"/>
            <p:cNvSpPr txBox="1"/>
            <p:nvPr>
              <p:custDataLst>
                <p:tags r:id="rId8"/>
              </p:custDataLst>
            </p:nvPr>
          </p:nvSpPr>
          <p:spPr>
            <a:xfrm>
              <a:off x="6908" y="4787"/>
              <a:ext cx="6384" cy="15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 indent="0">
                <a:lnSpc>
                  <a:spcPct val="150000"/>
                </a:lnSpc>
              </a:pP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a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减小，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增加的越来越慢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4631055" cy="626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二、加速度的方向</a:t>
            </a:r>
          </a:p>
        </p:txBody>
      </p:sp>
      <p:grpSp>
        <p:nvGrpSpPr>
          <p:cNvPr id="5129" name="组合 12"/>
          <p:cNvGrpSpPr/>
          <p:nvPr>
            <p:custDataLst>
              <p:tags r:id="rId2"/>
            </p:custDataLst>
          </p:nvPr>
        </p:nvGrpSpPr>
        <p:grpSpPr>
          <a:xfrm>
            <a:off x="405821" y="1240790"/>
            <a:ext cx="11407084" cy="2498813"/>
            <a:chOff x="230" y="3669"/>
            <a:chExt cx="13002" cy="3358"/>
          </a:xfrm>
        </p:grpSpPr>
        <p:sp>
          <p:nvSpPr>
            <p:cNvPr id="5130" name="文本框 13"/>
            <p:cNvSpPr txBox="1"/>
            <p:nvPr>
              <p:custDataLst>
                <p:tags r:id="rId4"/>
              </p:custDataLst>
            </p:nvPr>
          </p:nvSpPr>
          <p:spPr>
            <a:xfrm>
              <a:off x="230" y="5006"/>
              <a:ext cx="5884" cy="8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lstStyle/>
            <a:p>
              <a:pPr lvl="0" indent="0"/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（</a:t>
              </a: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2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）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a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与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反向（减速直线运动）</a:t>
              </a:r>
            </a:p>
          </p:txBody>
        </p:sp>
        <p:sp>
          <p:nvSpPr>
            <p:cNvPr id="15" name="左大括号 14"/>
            <p:cNvSpPr/>
            <p:nvPr>
              <p:custDataLst>
                <p:tags r:id="rId5"/>
              </p:custDataLst>
            </p:nvPr>
          </p:nvSpPr>
          <p:spPr>
            <a:xfrm>
              <a:off x="6205" y="3903"/>
              <a:ext cx="415" cy="2890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fontAlgn="base"/>
              <a:endParaRPr lang="zh-CN" altLang="en-US" sz="2800" b="1" strike="noStrike" noProof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sp>
          <p:nvSpPr>
            <p:cNvPr id="5132" name="文本框 15"/>
            <p:cNvSpPr txBox="1"/>
            <p:nvPr>
              <p:custDataLst>
                <p:tags r:id="rId6"/>
              </p:custDataLst>
            </p:nvPr>
          </p:nvSpPr>
          <p:spPr>
            <a:xfrm>
              <a:off x="6848" y="3669"/>
              <a:ext cx="6384" cy="7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 indent="0"/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a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不变，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随时间均匀减小</a:t>
              </a:r>
            </a:p>
          </p:txBody>
        </p:sp>
        <p:sp>
          <p:nvSpPr>
            <p:cNvPr id="5133" name="文本框 16"/>
            <p:cNvSpPr txBox="1"/>
            <p:nvPr>
              <p:custDataLst>
                <p:tags r:id="rId7"/>
              </p:custDataLst>
            </p:nvPr>
          </p:nvSpPr>
          <p:spPr>
            <a:xfrm>
              <a:off x="6786" y="4917"/>
              <a:ext cx="6384" cy="7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 indent="0"/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a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增大，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减小的越来越快</a:t>
              </a:r>
            </a:p>
          </p:txBody>
        </p:sp>
        <p:sp>
          <p:nvSpPr>
            <p:cNvPr id="5134" name="文本框 17"/>
            <p:cNvSpPr txBox="1"/>
            <p:nvPr>
              <p:custDataLst>
                <p:tags r:id="rId8"/>
              </p:custDataLst>
            </p:nvPr>
          </p:nvSpPr>
          <p:spPr>
            <a:xfrm>
              <a:off x="6786" y="6326"/>
              <a:ext cx="6384" cy="7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 indent="0"/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a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减小，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减小的越来越慢</a:t>
              </a:r>
            </a:p>
          </p:txBody>
        </p:sp>
      </p:grpSp>
      <p:sp>
        <p:nvSpPr>
          <p:cNvPr id="5135" name="文本框 18"/>
          <p:cNvSpPr txBox="1"/>
          <p:nvPr>
            <p:custDataLst>
              <p:tags r:id="rId3"/>
            </p:custDataLst>
          </p:nvPr>
        </p:nvSpPr>
        <p:spPr>
          <a:xfrm>
            <a:off x="520065" y="4549775"/>
            <a:ext cx="1123823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2.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的正负，只表示加速度的方向与正方向的关系，不表示物体是加速还是减速。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90235" cy="510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lum bright="-6000" contrast="12000"/>
          </a:blip>
          <a:stretch>
            <a:fillRect/>
          </a:stretch>
        </p:blipFill>
        <p:spPr>
          <a:xfrm>
            <a:off x="6730365" y="1067435"/>
            <a:ext cx="5170170" cy="5355590"/>
          </a:xfrm>
          <a:prstGeom prst="rect">
            <a:avLst/>
          </a:prstGeom>
        </p:spPr>
      </p:pic>
      <p:sp>
        <p:nvSpPr>
          <p:cNvPr id="16392" name="矩形 16391"/>
          <p:cNvSpPr/>
          <p:nvPr>
            <p:custDataLst>
              <p:tags r:id="rId3"/>
            </p:custDataLst>
          </p:nvPr>
        </p:nvSpPr>
        <p:spPr>
          <a:xfrm>
            <a:off x="300990" y="1067435"/>
            <a:ext cx="6945630" cy="14097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        </a:t>
            </a:r>
            <a:r>
              <a:rPr 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如图所示，若坐标纸中纵轴方向每个小格代表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0.1m/s,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横轴方向每个小格代表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0.1s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。</a:t>
            </a: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498475" y="2387600"/>
            <a:ext cx="6478270" cy="13639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(1)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对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图线，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t</a:t>
            </a:r>
            <a:r>
              <a:rPr lang="en-US" altLang="zh-CN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t</a:t>
            </a:r>
            <a:r>
              <a:rPr lang="en-US" altLang="zh-CN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时刻的速度为多大？速度与正方向是相同还是相反？</a:t>
            </a: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498475" y="3679190"/>
            <a:ext cx="6405880" cy="252158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(2)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对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图线，从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t</a:t>
            </a:r>
            <a:r>
              <a:rPr lang="en-US" altLang="zh-CN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到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t</a:t>
            </a:r>
            <a:r>
              <a:rPr lang="en-US" altLang="zh-CN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时刻的速度的变化量为多大？速度的变化率为多大？加速度为多大？加速度的方向与正方向是相同还是相反？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90235" cy="510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lum bright="-6000" contrast="12000"/>
          </a:blip>
          <a:stretch>
            <a:fillRect/>
          </a:stretch>
        </p:blipFill>
        <p:spPr>
          <a:xfrm>
            <a:off x="6730365" y="1067435"/>
            <a:ext cx="5170170" cy="5355590"/>
          </a:xfrm>
          <a:prstGeom prst="rect">
            <a:avLst/>
          </a:prstGeom>
        </p:spPr>
      </p:pic>
      <p:sp>
        <p:nvSpPr>
          <p:cNvPr id="16392" name="矩形 16391"/>
          <p:cNvSpPr/>
          <p:nvPr>
            <p:custDataLst>
              <p:tags r:id="rId3"/>
            </p:custDataLst>
          </p:nvPr>
        </p:nvSpPr>
        <p:spPr>
          <a:xfrm>
            <a:off x="230505" y="1067435"/>
            <a:ext cx="6945630" cy="14097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        </a:t>
            </a:r>
            <a:r>
              <a:rPr 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如图所示，若坐标纸中纵轴方向每个小格代表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0.1m/s,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横轴方向每个小格代表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0.1s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。</a:t>
            </a: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443865" y="2565400"/>
            <a:ext cx="6478270" cy="13639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(3)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图线</a:t>
            </a:r>
            <a:r>
              <a:rPr 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的斜率为多大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？它与加速度有何关系？</a:t>
            </a: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570865" y="4095750"/>
            <a:ext cx="6362700" cy="187261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(4)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图线的斜率为多大</a:t>
            </a:r>
            <a:r>
              <a:rPr 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？它与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图线的斜率相比谁大？这说明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ab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图线所描述的物体的运动时的加速度谁大？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90235" cy="510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lum bright="-6000" contrast="12000"/>
          </a:blip>
          <a:stretch>
            <a:fillRect/>
          </a:stretch>
        </p:blipFill>
        <p:spPr>
          <a:xfrm>
            <a:off x="6730365" y="1067435"/>
            <a:ext cx="5170170" cy="5355590"/>
          </a:xfrm>
          <a:prstGeom prst="rect">
            <a:avLst/>
          </a:prstGeom>
        </p:spPr>
      </p:pic>
      <p:sp>
        <p:nvSpPr>
          <p:cNvPr id="16392" name="矩形 16391"/>
          <p:cNvSpPr/>
          <p:nvPr>
            <p:custDataLst>
              <p:tags r:id="rId3"/>
            </p:custDataLst>
          </p:nvPr>
        </p:nvSpPr>
        <p:spPr>
          <a:xfrm>
            <a:off x="230505" y="1067435"/>
            <a:ext cx="6945630" cy="14097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        </a:t>
            </a:r>
            <a:r>
              <a:rPr 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如图所示，若坐标纸中纵轴方向每个小格代表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0.1m/s,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横轴方向每个小格代表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0.1s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。</a:t>
            </a: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444500" y="2413635"/>
            <a:ext cx="6489065" cy="25920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(5)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图线所描述物体</a:t>
            </a:r>
            <a:r>
              <a:rPr 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的速度方向与正方向是相同还是相反？斜率为多大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？加速度为多大？加速度的方向与正方向是相同还是相反？</a:t>
            </a: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570865" y="4985385"/>
            <a:ext cx="6362700" cy="14414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(6)ab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图线分别所描述的物体的运动是加速还是减速运动？你是如何判断的？</a:t>
            </a:r>
            <a:endParaRPr lang="en-US" altLang="zh-CN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ea"/>
            </a:endParaRPr>
          </a:p>
        </p:txBody>
      </p:sp>
      <p:grpSp>
        <p:nvGrpSpPr>
          <p:cNvPr id="8" name="组合 7"/>
          <p:cNvGrpSpPr/>
          <p:nvPr>
            <p:custDataLst>
              <p:tags r:id="rId6"/>
            </p:custDataLst>
          </p:nvPr>
        </p:nvGrpSpPr>
        <p:grpSpPr>
          <a:xfrm>
            <a:off x="7359015" y="1955165"/>
            <a:ext cx="2829560" cy="4022090"/>
            <a:chOff x="11589" y="3079"/>
            <a:chExt cx="4456" cy="6334"/>
          </a:xfrm>
        </p:grpSpPr>
        <p:cxnSp>
          <p:nvCxnSpPr>
            <p:cNvPr id="5" name="直接连接符 4"/>
            <p:cNvCxnSpPr/>
            <p:nvPr>
              <p:custDataLst>
                <p:tags r:id="rId7"/>
              </p:custDataLst>
            </p:nvPr>
          </p:nvCxnSpPr>
          <p:spPr>
            <a:xfrm>
              <a:off x="11589" y="3801"/>
              <a:ext cx="4457" cy="5612"/>
            </a:xfrm>
            <a:prstGeom prst="line">
              <a:avLst/>
            </a:prstGeom>
            <a:ln w="22225">
              <a:solidFill>
                <a:srgbClr val="F559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>
              <p:custDataLst>
                <p:tags r:id="rId8"/>
              </p:custDataLst>
            </p:nvPr>
          </p:nvSpPr>
          <p:spPr>
            <a:xfrm>
              <a:off x="11589" y="3079"/>
              <a:ext cx="672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800" i="1">
                  <a:latin typeface="Times New Roman" panose="02020603050405020304" charset="0"/>
                  <a:ea typeface="思源黑体 CN Light" panose="020B0400000000000000" pitchFamily="34" charset="-122"/>
                  <a:cs typeface="Times New Roman" panose="0202060305040502030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90235" cy="510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拓展与进阶</a:t>
            </a: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457835" y="1135380"/>
            <a:ext cx="7181215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(7)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在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v-t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图像中认识平均加速度与瞬时加速度</a:t>
            </a:r>
          </a:p>
        </p:txBody>
      </p:sp>
      <p:grpSp>
        <p:nvGrpSpPr>
          <p:cNvPr id="11311" name="Group 11"/>
          <p:cNvGrpSpPr/>
          <p:nvPr>
            <p:custDataLst>
              <p:tags r:id="rId3"/>
            </p:custDataLst>
          </p:nvPr>
        </p:nvGrpSpPr>
        <p:grpSpPr>
          <a:xfrm>
            <a:off x="8258772" y="2187119"/>
            <a:ext cx="3751618" cy="3063696"/>
            <a:chOff x="45" y="384"/>
            <a:chExt cx="2452" cy="2034"/>
          </a:xfrm>
        </p:grpSpPr>
        <p:grpSp>
          <p:nvGrpSpPr>
            <p:cNvPr id="11312" name="Group 12"/>
            <p:cNvGrpSpPr/>
            <p:nvPr>
              <p:custDataLst>
                <p:tags r:id="rId14"/>
              </p:custDataLst>
            </p:nvPr>
          </p:nvGrpSpPr>
          <p:grpSpPr>
            <a:xfrm>
              <a:off x="45" y="384"/>
              <a:ext cx="2452" cy="2034"/>
              <a:chOff x="45" y="384"/>
              <a:chExt cx="2452" cy="2034"/>
            </a:xfrm>
          </p:grpSpPr>
          <p:grpSp>
            <p:nvGrpSpPr>
              <p:cNvPr id="11313" name="Group 13"/>
              <p:cNvGrpSpPr/>
              <p:nvPr>
                <p:custDataLst>
                  <p:tags r:id="rId16"/>
                </p:custDataLst>
              </p:nvPr>
            </p:nvGrpSpPr>
            <p:grpSpPr>
              <a:xfrm>
                <a:off x="45" y="384"/>
                <a:ext cx="2452" cy="2034"/>
                <a:chOff x="44" y="384"/>
                <a:chExt cx="2452" cy="2034"/>
              </a:xfrm>
            </p:grpSpPr>
            <p:grpSp>
              <p:nvGrpSpPr>
                <p:cNvPr id="11314" name="Group 14"/>
                <p:cNvGrpSpPr/>
                <p:nvPr>
                  <p:custDataLst>
                    <p:tags r:id="rId20"/>
                  </p:custDataLst>
                </p:nvPr>
              </p:nvGrpSpPr>
              <p:grpSpPr>
                <a:xfrm>
                  <a:off x="44" y="384"/>
                  <a:ext cx="2308" cy="2034"/>
                  <a:chOff x="44" y="384"/>
                  <a:chExt cx="2308" cy="2034"/>
                </a:xfrm>
              </p:grpSpPr>
              <p:grpSp>
                <p:nvGrpSpPr>
                  <p:cNvPr id="11315" name="Group 15"/>
                  <p:cNvGrpSpPr/>
                  <p:nvPr>
                    <p:custDataLst>
                      <p:tags r:id="rId22"/>
                    </p:custDataLst>
                  </p:nvPr>
                </p:nvGrpSpPr>
                <p:grpSpPr>
                  <a:xfrm>
                    <a:off x="384" y="468"/>
                    <a:ext cx="1872" cy="1644"/>
                    <a:chOff x="0" y="276"/>
                    <a:chExt cx="1872" cy="1644"/>
                  </a:xfrm>
                </p:grpSpPr>
                <p:grpSp>
                  <p:nvGrpSpPr>
                    <p:cNvPr id="11316" name="Group 16"/>
                    <p:cNvGrpSpPr/>
                    <p:nvPr>
                      <p:custDataLst>
                        <p:tags r:id="rId33"/>
                      </p:custDataLst>
                    </p:nvPr>
                  </p:nvGrpSpPr>
                  <p:grpSpPr>
                    <a:xfrm>
                      <a:off x="0" y="276"/>
                      <a:ext cx="1872" cy="1644"/>
                      <a:chOff x="0" y="276"/>
                      <a:chExt cx="1872" cy="1644"/>
                    </a:xfrm>
                  </p:grpSpPr>
                  <p:sp>
                    <p:nvSpPr>
                      <p:cNvPr id="11317" name="Line 17"/>
                      <p:cNvSpPr/>
                      <p:nvPr>
                        <p:custDataLst>
                          <p:tags r:id="rId42"/>
                        </p:custDataLst>
                      </p:nvPr>
                    </p:nvSpPr>
                    <p:spPr>
                      <a:xfrm flipH="1" flipV="1">
                        <a:off x="0" y="276"/>
                        <a:ext cx="0" cy="1644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/>
                      </a:p>
                    </p:txBody>
                  </p:sp>
                  <p:sp>
                    <p:nvSpPr>
                      <p:cNvPr id="11318" name="Line 18"/>
                      <p:cNvSpPr/>
                      <p:nvPr>
                        <p:custDataLst>
                          <p:tags r:id="rId43"/>
                        </p:custDataLst>
                      </p:nvPr>
                    </p:nvSpPr>
                    <p:spPr>
                      <a:xfrm>
                        <a:off x="0" y="1920"/>
                        <a:ext cx="1872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/>
                      </a:p>
                    </p:txBody>
                  </p:sp>
                </p:grpSp>
                <p:sp>
                  <p:nvSpPr>
                    <p:cNvPr id="11319" name="Line 19"/>
                    <p:cNvSpPr/>
                    <p:nvPr>
                      <p:custDataLst>
                        <p:tags r:id="rId34"/>
                      </p:custDataLst>
                    </p:nvPr>
                  </p:nvSpPr>
                  <p:spPr>
                    <a:xfrm flipH="1">
                      <a:off x="384" y="1824"/>
                      <a:ext cx="0" cy="9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/>
                    </a:p>
                  </p:txBody>
                </p:sp>
                <p:sp>
                  <p:nvSpPr>
                    <p:cNvPr id="11320" name="Line 20"/>
                    <p:cNvSpPr/>
                    <p:nvPr>
                      <p:custDataLst>
                        <p:tags r:id="rId35"/>
                      </p:custDataLst>
                    </p:nvPr>
                  </p:nvSpPr>
                  <p:spPr>
                    <a:xfrm flipH="1">
                      <a:off x="768" y="1824"/>
                      <a:ext cx="0" cy="9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/>
                    </a:p>
                  </p:txBody>
                </p:sp>
                <p:sp>
                  <p:nvSpPr>
                    <p:cNvPr id="11321" name="Line 21"/>
                    <p:cNvSpPr/>
                    <p:nvPr>
                      <p:custDataLst>
                        <p:tags r:id="rId36"/>
                      </p:custDataLst>
                    </p:nvPr>
                  </p:nvSpPr>
                  <p:spPr>
                    <a:xfrm flipH="1">
                      <a:off x="1152" y="1824"/>
                      <a:ext cx="0" cy="9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/>
                    </a:p>
                  </p:txBody>
                </p:sp>
                <p:sp>
                  <p:nvSpPr>
                    <p:cNvPr id="11322" name="Line 22"/>
                    <p:cNvSpPr/>
                    <p:nvPr>
                      <p:custDataLst>
                        <p:tags r:id="rId37"/>
                      </p:custDataLst>
                    </p:nvPr>
                  </p:nvSpPr>
                  <p:spPr>
                    <a:xfrm flipH="1">
                      <a:off x="1536" y="1824"/>
                      <a:ext cx="0" cy="9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/>
                    </a:p>
                  </p:txBody>
                </p:sp>
                <p:sp>
                  <p:nvSpPr>
                    <p:cNvPr id="11323" name="Line 23"/>
                    <p:cNvSpPr/>
                    <p:nvPr>
                      <p:custDataLst>
                        <p:tags r:id="rId38"/>
                      </p:custDataLst>
                    </p:nvPr>
                  </p:nvSpPr>
                  <p:spPr>
                    <a:xfrm>
                      <a:off x="0" y="1584"/>
                      <a:ext cx="96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/>
                    </a:p>
                  </p:txBody>
                </p:sp>
                <p:sp>
                  <p:nvSpPr>
                    <p:cNvPr id="11324" name="Line 24"/>
                    <p:cNvSpPr/>
                    <p:nvPr>
                      <p:custDataLst>
                        <p:tags r:id="rId39"/>
                      </p:custDataLst>
                    </p:nvPr>
                  </p:nvSpPr>
                  <p:spPr>
                    <a:xfrm>
                      <a:off x="0" y="912"/>
                      <a:ext cx="96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/>
                    </a:p>
                  </p:txBody>
                </p:sp>
                <p:sp>
                  <p:nvSpPr>
                    <p:cNvPr id="11325" name="Line 25"/>
                    <p:cNvSpPr/>
                    <p:nvPr>
                      <p:custDataLst>
                        <p:tags r:id="rId40"/>
                      </p:custDataLst>
                    </p:nvPr>
                  </p:nvSpPr>
                  <p:spPr>
                    <a:xfrm>
                      <a:off x="0" y="1248"/>
                      <a:ext cx="96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/>
                    </a:p>
                  </p:txBody>
                </p:sp>
                <p:sp>
                  <p:nvSpPr>
                    <p:cNvPr id="11326" name="Line 26"/>
                    <p:cNvSpPr/>
                    <p:nvPr>
                      <p:custDataLst>
                        <p:tags r:id="rId41"/>
                      </p:custDataLst>
                    </p:nvPr>
                  </p:nvSpPr>
                  <p:spPr>
                    <a:xfrm>
                      <a:off x="0" y="576"/>
                      <a:ext cx="96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/>
                    </a:p>
                  </p:txBody>
                </p:sp>
              </p:grpSp>
              <p:sp>
                <p:nvSpPr>
                  <p:cNvPr id="11327" name="Text Box 27"/>
                  <p:cNvSpPr txBox="1"/>
                  <p:nvPr>
                    <p:custDataLst>
                      <p:tags r:id="rId23"/>
                    </p:custDataLst>
                  </p:nvPr>
                </p:nvSpPr>
                <p:spPr>
                  <a:xfrm>
                    <a:off x="432" y="384"/>
                    <a:ext cx="807" cy="40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rPr>
                      <a:t>v(m/s)</a:t>
                    </a:r>
                  </a:p>
                </p:txBody>
              </p:sp>
              <p:sp>
                <p:nvSpPr>
                  <p:cNvPr id="11328" name="Text Box 28"/>
                  <p:cNvSpPr txBox="1"/>
                  <p:nvPr>
                    <p:custDataLst>
                      <p:tags r:id="rId24"/>
                    </p:custDataLst>
                  </p:nvPr>
                </p:nvSpPr>
                <p:spPr>
                  <a:xfrm>
                    <a:off x="44" y="624"/>
                    <a:ext cx="362" cy="3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rPr>
                      <a:t>40</a:t>
                    </a:r>
                  </a:p>
                </p:txBody>
              </p:sp>
              <p:sp>
                <p:nvSpPr>
                  <p:cNvPr id="11329" name="Text Box 29"/>
                  <p:cNvSpPr txBox="1"/>
                  <p:nvPr>
                    <p:custDataLst>
                      <p:tags r:id="rId25"/>
                    </p:custDataLst>
                  </p:nvPr>
                </p:nvSpPr>
                <p:spPr>
                  <a:xfrm>
                    <a:off x="48" y="960"/>
                    <a:ext cx="336" cy="3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rPr>
                      <a:t>30</a:t>
                    </a:r>
                  </a:p>
                </p:txBody>
              </p:sp>
              <p:sp>
                <p:nvSpPr>
                  <p:cNvPr id="11330" name="Text Box 30"/>
                  <p:cNvSpPr txBox="1"/>
                  <p:nvPr>
                    <p:custDataLst>
                      <p:tags r:id="rId26"/>
                    </p:custDataLst>
                  </p:nvPr>
                </p:nvSpPr>
                <p:spPr>
                  <a:xfrm>
                    <a:off x="70" y="1296"/>
                    <a:ext cx="336" cy="3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rPr>
                      <a:t>20</a:t>
                    </a:r>
                  </a:p>
                </p:txBody>
              </p:sp>
              <p:sp>
                <p:nvSpPr>
                  <p:cNvPr id="11331" name="Text Box 31"/>
                  <p:cNvSpPr txBox="1"/>
                  <p:nvPr>
                    <p:custDataLst>
                      <p:tags r:id="rId27"/>
                    </p:custDataLst>
                  </p:nvPr>
                </p:nvSpPr>
                <p:spPr>
                  <a:xfrm>
                    <a:off x="49" y="1632"/>
                    <a:ext cx="335" cy="3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rPr>
                      <a:t>10</a:t>
                    </a:r>
                  </a:p>
                </p:txBody>
              </p:sp>
              <p:sp>
                <p:nvSpPr>
                  <p:cNvPr id="11332" name="Text Box 32"/>
                  <p:cNvSpPr txBox="1"/>
                  <p:nvPr>
                    <p:custDataLst>
                      <p:tags r:id="rId28"/>
                    </p:custDataLst>
                  </p:nvPr>
                </p:nvSpPr>
                <p:spPr>
                  <a:xfrm>
                    <a:off x="192" y="2016"/>
                    <a:ext cx="384" cy="3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rPr>
                      <a:t>0</a:t>
                    </a:r>
                  </a:p>
                </p:txBody>
              </p:sp>
              <p:sp>
                <p:nvSpPr>
                  <p:cNvPr id="11333" name="Text Box 33"/>
                  <p:cNvSpPr txBox="1"/>
                  <p:nvPr>
                    <p:custDataLst>
                      <p:tags r:id="rId29"/>
                    </p:custDataLst>
                  </p:nvPr>
                </p:nvSpPr>
                <p:spPr>
                  <a:xfrm>
                    <a:off x="672" y="2112"/>
                    <a:ext cx="288" cy="3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rPr>
                      <a:t>5</a:t>
                    </a:r>
                  </a:p>
                </p:txBody>
              </p:sp>
              <p:sp>
                <p:nvSpPr>
                  <p:cNvPr id="11334" name="Text Box 34"/>
                  <p:cNvSpPr txBox="1"/>
                  <p:nvPr>
                    <p:custDataLst>
                      <p:tags r:id="rId30"/>
                    </p:custDataLst>
                  </p:nvPr>
                </p:nvSpPr>
                <p:spPr>
                  <a:xfrm>
                    <a:off x="960" y="2112"/>
                    <a:ext cx="384" cy="3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rPr>
                      <a:t>10</a:t>
                    </a:r>
                  </a:p>
                </p:txBody>
              </p:sp>
              <p:sp>
                <p:nvSpPr>
                  <p:cNvPr id="11335" name="Text Box 35"/>
                  <p:cNvSpPr txBox="1"/>
                  <p:nvPr>
                    <p:custDataLst>
                      <p:tags r:id="rId31"/>
                    </p:custDataLst>
                  </p:nvPr>
                </p:nvSpPr>
                <p:spPr>
                  <a:xfrm>
                    <a:off x="1392" y="2112"/>
                    <a:ext cx="480" cy="3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rPr>
                      <a:t>15</a:t>
                    </a:r>
                  </a:p>
                </p:txBody>
              </p:sp>
              <p:sp>
                <p:nvSpPr>
                  <p:cNvPr id="11336" name="Text Box 36"/>
                  <p:cNvSpPr txBox="1"/>
                  <p:nvPr>
                    <p:custDataLst>
                      <p:tags r:id="rId32"/>
                    </p:custDataLst>
                  </p:nvPr>
                </p:nvSpPr>
                <p:spPr>
                  <a:xfrm>
                    <a:off x="1776" y="2112"/>
                    <a:ext cx="576" cy="3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rPr>
                      <a:t>20</a:t>
                    </a:r>
                  </a:p>
                </p:txBody>
              </p:sp>
            </p:grpSp>
            <p:sp>
              <p:nvSpPr>
                <p:cNvPr id="11337" name="Text Box 37"/>
                <p:cNvSpPr txBox="1"/>
                <p:nvPr>
                  <p:custDataLst>
                    <p:tags r:id="rId21"/>
                  </p:custDataLst>
                </p:nvPr>
              </p:nvSpPr>
              <p:spPr>
                <a:xfrm>
                  <a:off x="2064" y="2112"/>
                  <a:ext cx="432" cy="30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400" b="0" i="1">
                      <a:solidFill>
                        <a:schemeClr val="tx1"/>
                      </a:solidFill>
                      <a:latin typeface="Times New Roman" panose="02020603050405020304" charset="0"/>
                      <a:ea typeface="宋体" panose="02010600030101010101" pitchFamily="2" charset="-122"/>
                      <a:cs typeface="Times New Roman" panose="02020603050405020304" charset="0"/>
                    </a:rPr>
                    <a:t>t/s</a:t>
                  </a:r>
                </a:p>
              </p:txBody>
            </p:sp>
          </p:grpSp>
          <p:sp>
            <p:nvSpPr>
              <p:cNvPr id="11341" name="Oval 41"/>
              <p:cNvSpPr/>
              <p:nvPr>
                <p:custDataLst>
                  <p:tags r:id="rId17"/>
                </p:custDataLst>
              </p:nvPr>
            </p:nvSpPr>
            <p:spPr>
              <a:xfrm>
                <a:off x="751" y="1998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345" name="Oval 45"/>
              <p:cNvSpPr/>
              <p:nvPr>
                <p:custDataLst>
                  <p:tags r:id="rId18"/>
                </p:custDataLst>
              </p:nvPr>
            </p:nvSpPr>
            <p:spPr>
              <a:xfrm>
                <a:off x="1427" y="1440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349" name="Oval 49"/>
              <p:cNvSpPr/>
              <p:nvPr>
                <p:custDataLst>
                  <p:tags r:id="rId19"/>
                </p:custDataLst>
              </p:nvPr>
            </p:nvSpPr>
            <p:spPr>
              <a:xfrm>
                <a:off x="1613" y="1104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11356" name="Rectangle 56"/>
            <p:cNvSpPr/>
            <p:nvPr>
              <p:custDataLst>
                <p:tags r:id="rId15"/>
              </p:custDataLst>
            </p:nvPr>
          </p:nvSpPr>
          <p:spPr>
            <a:xfrm>
              <a:off x="557" y="1769"/>
              <a:ext cx="230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A</a:t>
              </a:r>
            </a:p>
          </p:txBody>
        </p:sp>
      </p:grpSp>
      <p:sp>
        <p:nvSpPr>
          <p:cNvPr id="11357" name="Text Box 91"/>
          <p:cNvSpPr txBox="1"/>
          <p:nvPr>
            <p:custDataLst>
              <p:tags r:id="rId4"/>
            </p:custDataLst>
          </p:nvPr>
        </p:nvSpPr>
        <p:spPr>
          <a:xfrm>
            <a:off x="10417175" y="2997200"/>
            <a:ext cx="37338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</a:t>
            </a:r>
          </a:p>
        </p:txBody>
      </p:sp>
      <p:sp>
        <p:nvSpPr>
          <p:cNvPr id="13" name="任意多边形 12"/>
          <p:cNvSpPr/>
          <p:nvPr>
            <p:custDataLst>
              <p:tags r:id="rId5"/>
            </p:custDataLst>
          </p:nvPr>
        </p:nvSpPr>
        <p:spPr>
          <a:xfrm>
            <a:off x="8763000" y="2646045"/>
            <a:ext cx="2214880" cy="2143125"/>
          </a:xfrm>
          <a:custGeom>
            <a:avLst/>
            <a:gdLst>
              <a:gd name="connisteX0" fmla="*/ 0 w 2473960"/>
              <a:gd name="connsiteY0" fmla="*/ 1477010 h 1477010"/>
              <a:gd name="connisteX1" fmla="*/ 1504315 w 2473960"/>
              <a:gd name="connsiteY1" fmla="*/ 1130300 h 1477010"/>
              <a:gd name="connisteX2" fmla="*/ 2473960 w 2473960"/>
              <a:gd name="connsiteY2" fmla="*/ 0 h 14770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473960" h="1477010">
                <a:moveTo>
                  <a:pt x="0" y="1477010"/>
                </a:moveTo>
                <a:cubicBezTo>
                  <a:pt x="281305" y="1430020"/>
                  <a:pt x="1009650" y="1425575"/>
                  <a:pt x="1504315" y="1130300"/>
                </a:cubicBezTo>
                <a:cubicBezTo>
                  <a:pt x="1998980" y="835025"/>
                  <a:pt x="2310130" y="219075"/>
                  <a:pt x="2473960" y="0"/>
                </a:cubicBezTo>
              </a:path>
            </a:pathLst>
          </a:cu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Line 54"/>
          <p:cNvSpPr/>
          <p:nvPr>
            <p:custDataLst>
              <p:tags r:id="rId6"/>
            </p:custDataLst>
          </p:nvPr>
        </p:nvSpPr>
        <p:spPr>
          <a:xfrm flipV="1">
            <a:off x="9382125" y="3841115"/>
            <a:ext cx="1008380" cy="848995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15" name="Line 54"/>
          <p:cNvSpPr/>
          <p:nvPr>
            <p:custDataLst>
              <p:tags r:id="rId7"/>
            </p:custDataLst>
          </p:nvPr>
        </p:nvSpPr>
        <p:spPr>
          <a:xfrm flipV="1">
            <a:off x="9072880" y="4342765"/>
            <a:ext cx="1477010" cy="44704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16" name="Line 54"/>
          <p:cNvSpPr/>
          <p:nvPr>
            <p:custDataLst>
              <p:tags r:id="rId8"/>
            </p:custDataLst>
          </p:nvPr>
        </p:nvSpPr>
        <p:spPr>
          <a:xfrm flipV="1">
            <a:off x="9357995" y="3272155"/>
            <a:ext cx="1337945" cy="1419225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17" name="文本框 16"/>
          <p:cNvSpPr txBox="1"/>
          <p:nvPr>
            <p:custDataLst>
              <p:tags r:id="rId9"/>
            </p:custDataLst>
          </p:nvPr>
        </p:nvSpPr>
        <p:spPr>
          <a:xfrm>
            <a:off x="332105" y="1780540"/>
            <a:ext cx="7887335" cy="3812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       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若物体做变速直线运动，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v-t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图像如图所示，过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点的割线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AB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的斜率反映是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AB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段内的平均加速度；缩短了与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点的时间间隔，割线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AC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的斜率反映的</a:t>
            </a:r>
            <a:r>
              <a:rPr 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是这段时间内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的平均加速度；进一步缩短时间间隔，趋近于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0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，过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点的切线斜率就反映了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5s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时的瞬时加速度。</a:t>
            </a:r>
          </a:p>
        </p:txBody>
      </p:sp>
      <p:sp>
        <p:nvSpPr>
          <p:cNvPr id="18" name="Text Box 91"/>
          <p:cNvSpPr txBox="1"/>
          <p:nvPr>
            <p:custDataLst>
              <p:tags r:id="rId10"/>
            </p:custDataLst>
          </p:nvPr>
        </p:nvSpPr>
        <p:spPr>
          <a:xfrm>
            <a:off x="10447020" y="3643630"/>
            <a:ext cx="37338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</a:t>
            </a: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8219440" y="244475"/>
            <a:ext cx="3282950" cy="1463040"/>
            <a:chOff x="12824" y="482"/>
            <a:chExt cx="5170" cy="2304"/>
          </a:xfrm>
        </p:grpSpPr>
        <p:sp>
          <p:nvSpPr>
            <p:cNvPr id="6" name="云形标注 5"/>
            <p:cNvSpPr/>
            <p:nvPr>
              <p:custDataLst>
                <p:tags r:id="rId12"/>
              </p:custDataLst>
            </p:nvPr>
          </p:nvSpPr>
          <p:spPr>
            <a:xfrm>
              <a:off x="12824" y="482"/>
              <a:ext cx="5170" cy="2305"/>
            </a:xfrm>
            <a:prstGeom prst="cloudCallout">
              <a:avLst>
                <a:gd name="adj1" fmla="val -71798"/>
                <a:gd name="adj2" fmla="val 2843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>
              <p:custDataLst>
                <p:tags r:id="rId13"/>
              </p:custDataLst>
            </p:nvPr>
          </p:nvSpPr>
          <p:spPr>
            <a:xfrm>
              <a:off x="13180" y="860"/>
              <a:ext cx="4458" cy="15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2800">
                  <a:solidFill>
                    <a:schemeClr val="bg1"/>
                  </a:solidFill>
                  <a:latin typeface="思源黑体 CN Light" panose="020B0400000000000000" pitchFamily="34" charset="-122"/>
                  <a:ea typeface="思源黑体 CN Light" panose="020B0400000000000000" pitchFamily="34" charset="-122"/>
                </a:rPr>
                <a:t>类比平均速度和瞬时速度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90235" cy="510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三、从</a:t>
            </a:r>
            <a:r>
              <a:rPr lang="zh-CN" altLang="en-US" sz="3200" i="1" spc="600">
                <a:solidFill>
                  <a:srgbClr val="4274FF"/>
                </a:solidFill>
                <a:latin typeface="Times New Roman" panose="02020603050405020304" charset="0"/>
                <a:ea typeface="思源黑体 CN Bold" panose="020B0800000000000000" pitchFamily="34" charset="-122"/>
                <a:cs typeface="Times New Roman" panose="02020603050405020304" charset="0"/>
              </a:rPr>
              <a:t>v-t</a:t>
            </a:r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图像看加速度</a:t>
            </a:r>
          </a:p>
        </p:txBody>
      </p:sp>
      <p:sp>
        <p:nvSpPr>
          <p:cNvPr id="4097" name="Rectangle 4"/>
          <p:cNvSpPr/>
          <p:nvPr>
            <p:custDataLst>
              <p:tags r:id="rId2"/>
            </p:custDataLst>
          </p:nvPr>
        </p:nvSpPr>
        <p:spPr>
          <a:xfrm>
            <a:off x="379095" y="1123315"/>
            <a:ext cx="7070090" cy="66484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altLang="zh-CN" sz="32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1.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速度时间（</a:t>
            </a:r>
            <a:r>
              <a:rPr lang="en-US" altLang="zh-CN" sz="3200" b="1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v-t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）图像物理意义</a:t>
            </a:r>
          </a:p>
        </p:txBody>
      </p:sp>
      <p:sp>
        <p:nvSpPr>
          <p:cNvPr id="4099" name="Rectangle 2"/>
          <p:cNvSpPr/>
          <p:nvPr>
            <p:custDataLst>
              <p:tags r:id="rId3"/>
            </p:custDataLst>
          </p:nvPr>
        </p:nvSpPr>
        <p:spPr>
          <a:xfrm>
            <a:off x="413385" y="2052320"/>
            <a:ext cx="11069955" cy="11156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(1)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可以读出任意一个时刻对应的速度，也可以读出物体在任意一个速度时所对应的时刻；</a:t>
            </a:r>
          </a:p>
        </p:txBody>
      </p:sp>
      <p:sp>
        <p:nvSpPr>
          <p:cNvPr id="4100" name="Rectangle 2"/>
          <p:cNvSpPr/>
          <p:nvPr>
            <p:custDataLst>
              <p:tags r:id="rId4"/>
            </p:custDataLst>
          </p:nvPr>
        </p:nvSpPr>
        <p:spPr>
          <a:xfrm>
            <a:off x="408940" y="3583940"/>
            <a:ext cx="7131050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(2)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可以求出任意一段时间内的速度变化量；</a:t>
            </a:r>
          </a:p>
        </p:txBody>
      </p:sp>
      <p:sp>
        <p:nvSpPr>
          <p:cNvPr id="4101" name="文本框 1"/>
          <p:cNvSpPr txBox="1"/>
          <p:nvPr>
            <p:custDataLst>
              <p:tags r:id="rId5"/>
            </p:custDataLst>
          </p:nvPr>
        </p:nvSpPr>
        <p:spPr>
          <a:xfrm>
            <a:off x="448310" y="4686935"/>
            <a:ext cx="6563995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(3)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zh-CN" altLang="en-US" sz="2800" b="1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-t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图像物体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速度随时间变化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的规律。</a:t>
            </a:r>
          </a:p>
        </p:txBody>
      </p:sp>
      <p:grpSp>
        <p:nvGrpSpPr>
          <p:cNvPr id="2" name="组合 1"/>
          <p:cNvGrpSpPr/>
          <p:nvPr>
            <p:custDataLst>
              <p:tags r:id="rId6"/>
            </p:custDataLst>
          </p:nvPr>
        </p:nvGrpSpPr>
        <p:grpSpPr>
          <a:xfrm>
            <a:off x="8455025" y="3112135"/>
            <a:ext cx="3181350" cy="2904490"/>
            <a:chOff x="9381" y="3548"/>
            <a:chExt cx="5010" cy="4574"/>
          </a:xfrm>
        </p:grpSpPr>
        <p:sp>
          <p:nvSpPr>
            <p:cNvPr id="4128" name="Line 42"/>
            <p:cNvSpPr/>
            <p:nvPr>
              <p:custDataLst>
                <p:tags r:id="rId7"/>
              </p:custDataLst>
            </p:nvPr>
          </p:nvSpPr>
          <p:spPr>
            <a:xfrm flipV="1">
              <a:off x="9913" y="4050"/>
              <a:ext cx="3330" cy="28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4105" name="Group 46"/>
            <p:cNvGrpSpPr/>
            <p:nvPr>
              <p:custDataLst>
                <p:tags r:id="rId8"/>
              </p:custDataLst>
            </p:nvPr>
          </p:nvGrpSpPr>
          <p:grpSpPr>
            <a:xfrm>
              <a:off x="9917" y="3836"/>
              <a:ext cx="3510" cy="3093"/>
              <a:chOff x="0" y="270"/>
              <a:chExt cx="1872" cy="1650"/>
            </a:xfrm>
          </p:grpSpPr>
          <p:grpSp>
            <p:nvGrpSpPr>
              <p:cNvPr id="4106" name="Group 47"/>
              <p:cNvGrpSpPr/>
              <p:nvPr>
                <p:custDataLst>
                  <p:tags r:id="rId32"/>
                </p:custDataLst>
              </p:nvPr>
            </p:nvGrpSpPr>
            <p:grpSpPr>
              <a:xfrm>
                <a:off x="0" y="270"/>
                <a:ext cx="1872" cy="1650"/>
                <a:chOff x="0" y="270"/>
                <a:chExt cx="1872" cy="1650"/>
              </a:xfrm>
            </p:grpSpPr>
            <p:sp>
              <p:nvSpPr>
                <p:cNvPr id="4107" name="Line 48"/>
                <p:cNvSpPr/>
                <p:nvPr>
                  <p:custDataLst>
                    <p:tags r:id="rId41"/>
                  </p:custDataLst>
                </p:nvPr>
              </p:nvSpPr>
              <p:spPr>
                <a:xfrm flipH="1" flipV="1">
                  <a:off x="0" y="270"/>
                  <a:ext cx="0" cy="165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108" name="Line 49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0" y="1920"/>
                  <a:ext cx="187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4109" name="Line 50"/>
              <p:cNvSpPr/>
              <p:nvPr>
                <p:custDataLst>
                  <p:tags r:id="rId33"/>
                </p:custDataLst>
              </p:nvPr>
            </p:nvSpPr>
            <p:spPr>
              <a:xfrm flipH="1">
                <a:off x="384" y="18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0" name="Line 51"/>
              <p:cNvSpPr/>
              <p:nvPr>
                <p:custDataLst>
                  <p:tags r:id="rId34"/>
                </p:custDataLst>
              </p:nvPr>
            </p:nvSpPr>
            <p:spPr>
              <a:xfrm flipH="1">
                <a:off x="768" y="18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1" name="Line 52"/>
              <p:cNvSpPr/>
              <p:nvPr>
                <p:custDataLst>
                  <p:tags r:id="rId35"/>
                </p:custDataLst>
              </p:nvPr>
            </p:nvSpPr>
            <p:spPr>
              <a:xfrm flipH="1">
                <a:off x="1152" y="18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2" name="Line 53"/>
              <p:cNvSpPr/>
              <p:nvPr>
                <p:custDataLst>
                  <p:tags r:id="rId36"/>
                </p:custDataLst>
              </p:nvPr>
            </p:nvSpPr>
            <p:spPr>
              <a:xfrm flipH="1">
                <a:off x="1536" y="18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3" name="Line 54"/>
              <p:cNvSpPr/>
              <p:nvPr>
                <p:custDataLst>
                  <p:tags r:id="rId37"/>
                </p:custDataLst>
              </p:nvPr>
            </p:nvSpPr>
            <p:spPr>
              <a:xfrm>
                <a:off x="0" y="1584"/>
                <a:ext cx="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4" name="Line 55"/>
              <p:cNvSpPr/>
              <p:nvPr>
                <p:custDataLst>
                  <p:tags r:id="rId38"/>
                </p:custDataLst>
              </p:nvPr>
            </p:nvSpPr>
            <p:spPr>
              <a:xfrm>
                <a:off x="0" y="912"/>
                <a:ext cx="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5" name="Line 56"/>
              <p:cNvSpPr/>
              <p:nvPr>
                <p:custDataLst>
                  <p:tags r:id="rId39"/>
                </p:custDataLst>
              </p:nvPr>
            </p:nvSpPr>
            <p:spPr>
              <a:xfrm>
                <a:off x="0" y="1248"/>
                <a:ext cx="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6" name="Line 57"/>
              <p:cNvSpPr/>
              <p:nvPr>
                <p:custDataLst>
                  <p:tags r:id="rId40"/>
                </p:custDataLst>
              </p:nvPr>
            </p:nvSpPr>
            <p:spPr>
              <a:xfrm>
                <a:off x="0" y="576"/>
                <a:ext cx="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4117" name="Text Box 58"/>
            <p:cNvSpPr txBox="1"/>
            <p:nvPr>
              <p:custDataLst>
                <p:tags r:id="rId9"/>
              </p:custDataLst>
            </p:nvPr>
          </p:nvSpPr>
          <p:spPr>
            <a:xfrm>
              <a:off x="9966" y="3548"/>
              <a:ext cx="1841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v(m/s)</a:t>
              </a:r>
            </a:p>
          </p:txBody>
        </p:sp>
        <p:sp>
          <p:nvSpPr>
            <p:cNvPr id="4118" name="Text Box 59"/>
            <p:cNvSpPr txBox="1"/>
            <p:nvPr>
              <p:custDataLst>
                <p:tags r:id="rId10"/>
              </p:custDataLst>
            </p:nvPr>
          </p:nvSpPr>
          <p:spPr>
            <a:xfrm>
              <a:off x="9381" y="4127"/>
              <a:ext cx="532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4</a:t>
              </a:r>
            </a:p>
          </p:txBody>
        </p:sp>
        <p:sp>
          <p:nvSpPr>
            <p:cNvPr id="4119" name="Text Box 60"/>
            <p:cNvSpPr txBox="1"/>
            <p:nvPr>
              <p:custDataLst>
                <p:tags r:id="rId11"/>
              </p:custDataLst>
            </p:nvPr>
          </p:nvSpPr>
          <p:spPr>
            <a:xfrm>
              <a:off x="9439" y="4768"/>
              <a:ext cx="497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3</a:t>
              </a:r>
            </a:p>
          </p:txBody>
        </p:sp>
        <p:sp>
          <p:nvSpPr>
            <p:cNvPr id="4120" name="Text Box 61"/>
            <p:cNvSpPr txBox="1"/>
            <p:nvPr>
              <p:custDataLst>
                <p:tags r:id="rId12"/>
              </p:custDataLst>
            </p:nvPr>
          </p:nvSpPr>
          <p:spPr>
            <a:xfrm>
              <a:off x="9409" y="5398"/>
              <a:ext cx="478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2</a:t>
              </a:r>
            </a:p>
          </p:txBody>
        </p:sp>
        <p:sp>
          <p:nvSpPr>
            <p:cNvPr id="4121" name="Text Box 62"/>
            <p:cNvSpPr txBox="1"/>
            <p:nvPr>
              <p:custDataLst>
                <p:tags r:id="rId13"/>
              </p:custDataLst>
            </p:nvPr>
          </p:nvSpPr>
          <p:spPr>
            <a:xfrm>
              <a:off x="9439" y="6028"/>
              <a:ext cx="416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1</a:t>
              </a:r>
            </a:p>
          </p:txBody>
        </p:sp>
        <p:sp>
          <p:nvSpPr>
            <p:cNvPr id="4122" name="Text Box 63"/>
            <p:cNvSpPr txBox="1"/>
            <p:nvPr>
              <p:custDataLst>
                <p:tags r:id="rId14"/>
              </p:custDataLst>
            </p:nvPr>
          </p:nvSpPr>
          <p:spPr>
            <a:xfrm>
              <a:off x="9557" y="6750"/>
              <a:ext cx="72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0</a:t>
              </a:r>
            </a:p>
          </p:txBody>
        </p:sp>
        <p:sp>
          <p:nvSpPr>
            <p:cNvPr id="4123" name="Text Box 64"/>
            <p:cNvSpPr txBox="1"/>
            <p:nvPr>
              <p:custDataLst>
                <p:tags r:id="rId15"/>
              </p:custDataLst>
            </p:nvPr>
          </p:nvSpPr>
          <p:spPr>
            <a:xfrm>
              <a:off x="10457" y="6930"/>
              <a:ext cx="54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5</a:t>
              </a:r>
            </a:p>
          </p:txBody>
        </p:sp>
        <p:sp>
          <p:nvSpPr>
            <p:cNvPr id="4124" name="Text Box 65"/>
            <p:cNvSpPr txBox="1"/>
            <p:nvPr>
              <p:custDataLst>
                <p:tags r:id="rId16"/>
              </p:custDataLst>
            </p:nvPr>
          </p:nvSpPr>
          <p:spPr>
            <a:xfrm>
              <a:off x="11087" y="6930"/>
              <a:ext cx="989" cy="11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10</a:t>
              </a:r>
            </a:p>
          </p:txBody>
        </p:sp>
        <p:sp>
          <p:nvSpPr>
            <p:cNvPr id="4125" name="Text Box 66"/>
            <p:cNvSpPr txBox="1"/>
            <p:nvPr>
              <p:custDataLst>
                <p:tags r:id="rId17"/>
              </p:custDataLst>
            </p:nvPr>
          </p:nvSpPr>
          <p:spPr>
            <a:xfrm>
              <a:off x="11807" y="6930"/>
              <a:ext cx="90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15</a:t>
              </a:r>
            </a:p>
          </p:txBody>
        </p:sp>
        <p:sp>
          <p:nvSpPr>
            <p:cNvPr id="4126" name="Text Box 67"/>
            <p:cNvSpPr txBox="1"/>
            <p:nvPr>
              <p:custDataLst>
                <p:tags r:id="rId18"/>
              </p:custDataLst>
            </p:nvPr>
          </p:nvSpPr>
          <p:spPr>
            <a:xfrm>
              <a:off x="12495" y="6909"/>
              <a:ext cx="926" cy="10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20</a:t>
              </a:r>
            </a:p>
          </p:txBody>
        </p:sp>
        <p:sp>
          <p:nvSpPr>
            <p:cNvPr id="4127" name="Text Box 68"/>
            <p:cNvSpPr txBox="1"/>
            <p:nvPr>
              <p:custDataLst>
                <p:tags r:id="rId19"/>
              </p:custDataLst>
            </p:nvPr>
          </p:nvSpPr>
          <p:spPr>
            <a:xfrm>
              <a:off x="13301" y="6909"/>
              <a:ext cx="1090" cy="98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t/s</a:t>
              </a:r>
            </a:p>
          </p:txBody>
        </p:sp>
        <p:grpSp>
          <p:nvGrpSpPr>
            <p:cNvPr id="4129" name="Group 34"/>
            <p:cNvGrpSpPr/>
            <p:nvPr>
              <p:custDataLst>
                <p:tags r:id="rId20"/>
              </p:custDataLst>
            </p:nvPr>
          </p:nvGrpSpPr>
          <p:grpSpPr>
            <a:xfrm>
              <a:off x="10096" y="5040"/>
              <a:ext cx="1980" cy="1710"/>
              <a:chOff x="0" y="0"/>
              <a:chExt cx="1056" cy="912"/>
            </a:xfrm>
          </p:grpSpPr>
          <p:sp>
            <p:nvSpPr>
              <p:cNvPr id="4130" name="Line 35"/>
              <p:cNvSpPr/>
              <p:nvPr>
                <p:custDataLst>
                  <p:tags r:id="rId30"/>
                </p:custDataLst>
              </p:nvPr>
            </p:nvSpPr>
            <p:spPr>
              <a:xfrm flipH="1" flipV="1">
                <a:off x="1056" y="0"/>
                <a:ext cx="0" cy="912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31" name="Line 36"/>
              <p:cNvSpPr/>
              <p:nvPr>
                <p:custDataLst>
                  <p:tags r:id="rId31"/>
                </p:custDataLst>
              </p:nvPr>
            </p:nvSpPr>
            <p:spPr>
              <a:xfrm>
                <a:off x="0" y="0"/>
                <a:ext cx="1056" cy="0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4132" name="Group 26"/>
            <p:cNvGrpSpPr/>
            <p:nvPr>
              <p:custDataLst>
                <p:tags r:id="rId21"/>
              </p:custDataLst>
            </p:nvPr>
          </p:nvGrpSpPr>
          <p:grpSpPr>
            <a:xfrm>
              <a:off x="9916" y="6300"/>
              <a:ext cx="720" cy="540"/>
              <a:chOff x="0" y="0"/>
              <a:chExt cx="384" cy="288"/>
            </a:xfrm>
          </p:grpSpPr>
          <p:sp>
            <p:nvSpPr>
              <p:cNvPr id="4133" name="Line 27"/>
              <p:cNvSpPr/>
              <p:nvPr>
                <p:custDataLst>
                  <p:tags r:id="rId28"/>
                </p:custDataLst>
              </p:nvPr>
            </p:nvSpPr>
            <p:spPr>
              <a:xfrm flipH="1" flipV="1">
                <a:off x="384" y="0"/>
                <a:ext cx="0" cy="288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34" name="Line 28"/>
              <p:cNvSpPr/>
              <p:nvPr>
                <p:custDataLst>
                  <p:tags r:id="rId29"/>
                </p:custDataLst>
              </p:nvPr>
            </p:nvSpPr>
            <p:spPr>
              <a:xfrm>
                <a:off x="0" y="0"/>
                <a:ext cx="384" cy="0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4135" name="Group 30"/>
            <p:cNvGrpSpPr/>
            <p:nvPr>
              <p:custDataLst>
                <p:tags r:id="rId22"/>
              </p:custDataLst>
            </p:nvPr>
          </p:nvGrpSpPr>
          <p:grpSpPr>
            <a:xfrm>
              <a:off x="10096" y="5670"/>
              <a:ext cx="1260" cy="1080"/>
              <a:chOff x="0" y="0"/>
              <a:chExt cx="672" cy="576"/>
            </a:xfrm>
          </p:grpSpPr>
          <p:sp>
            <p:nvSpPr>
              <p:cNvPr id="4136" name="Line 31"/>
              <p:cNvSpPr/>
              <p:nvPr>
                <p:custDataLst>
                  <p:tags r:id="rId26"/>
                </p:custDataLst>
              </p:nvPr>
            </p:nvSpPr>
            <p:spPr>
              <a:xfrm flipH="1" flipV="1">
                <a:off x="672" y="0"/>
                <a:ext cx="0" cy="576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37" name="Line 32"/>
              <p:cNvSpPr/>
              <p:nvPr>
                <p:custDataLst>
                  <p:tags r:id="rId27"/>
                </p:custDataLst>
              </p:nvPr>
            </p:nvSpPr>
            <p:spPr>
              <a:xfrm>
                <a:off x="0" y="0"/>
                <a:ext cx="672" cy="0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4138" name="Group 38"/>
            <p:cNvGrpSpPr/>
            <p:nvPr>
              <p:custDataLst>
                <p:tags r:id="rId23"/>
              </p:custDataLst>
            </p:nvPr>
          </p:nvGrpSpPr>
          <p:grpSpPr>
            <a:xfrm>
              <a:off x="10010" y="4416"/>
              <a:ext cx="2790" cy="2430"/>
              <a:chOff x="0" y="0"/>
              <a:chExt cx="1488" cy="1296"/>
            </a:xfrm>
          </p:grpSpPr>
          <p:sp>
            <p:nvSpPr>
              <p:cNvPr id="4139" name="Line 39"/>
              <p:cNvSpPr/>
              <p:nvPr>
                <p:custDataLst>
                  <p:tags r:id="rId24"/>
                </p:custDataLst>
              </p:nvPr>
            </p:nvSpPr>
            <p:spPr>
              <a:xfrm flipH="1" flipV="1">
                <a:off x="1488" y="0"/>
                <a:ext cx="0" cy="1296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40" name="Line 40"/>
              <p:cNvSpPr/>
              <p:nvPr>
                <p:custDataLst>
                  <p:tags r:id="rId25"/>
                </p:custDataLst>
              </p:nvPr>
            </p:nvSpPr>
            <p:spPr>
              <a:xfrm>
                <a:off x="0" y="0"/>
                <a:ext cx="1488" cy="0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/>
      <p:bldP spid="4100" grpId="0"/>
      <p:bldP spid="410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90235" cy="510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三、从</a:t>
            </a:r>
            <a:r>
              <a:rPr lang="zh-CN" altLang="en-US" sz="3200" i="1" spc="600">
                <a:solidFill>
                  <a:srgbClr val="4274FF"/>
                </a:solidFill>
                <a:latin typeface="Times New Roman" panose="02020603050405020304" charset="0"/>
                <a:ea typeface="思源黑体 CN Bold" panose="020B0800000000000000" pitchFamily="34" charset="-122"/>
                <a:cs typeface="Times New Roman" panose="02020603050405020304" charset="0"/>
              </a:rPr>
              <a:t>v-t</a:t>
            </a:r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图像看加速度</a:t>
            </a:r>
          </a:p>
        </p:txBody>
      </p:sp>
      <p:sp>
        <p:nvSpPr>
          <p:cNvPr id="5121" name="Rectangle 4"/>
          <p:cNvSpPr/>
          <p:nvPr>
            <p:custDataLst>
              <p:tags r:id="rId2"/>
            </p:custDataLst>
          </p:nvPr>
        </p:nvSpPr>
        <p:spPr>
          <a:xfrm>
            <a:off x="366395" y="1007745"/>
            <a:ext cx="8769350" cy="97091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2.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速度时间（</a:t>
            </a:r>
            <a:r>
              <a:rPr lang="en-US" altLang="zh-CN" sz="3200" b="1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v-t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）图像的斜率物理意义</a:t>
            </a:r>
          </a:p>
        </p:txBody>
      </p:sp>
      <p:sp>
        <p:nvSpPr>
          <p:cNvPr id="5122" name="文本框 2"/>
          <p:cNvSpPr txBox="1"/>
          <p:nvPr>
            <p:custDataLst>
              <p:tags r:id="rId3"/>
            </p:custDataLst>
          </p:nvPr>
        </p:nvSpPr>
        <p:spPr>
          <a:xfrm>
            <a:off x="495300" y="1825625"/>
            <a:ext cx="7870190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(1)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v-t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图像的斜率物理意义：表示物体的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加速度</a:t>
            </a: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495300" y="3757295"/>
            <a:ext cx="8493125" cy="2676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(3)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v-t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图像的斜率为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正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，说明物体加速度方向与正方向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一致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，图像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向上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倾斜；</a:t>
            </a: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v-t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图像的斜率为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负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，说明物体加速度方向与正方向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相反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，图像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向下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倾斜。</a:t>
            </a: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484505" y="2562860"/>
            <a:ext cx="876300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(2)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v-t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图像的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斜率越大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，说明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加速度越大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，物体速度变化的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越快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宋体" panose="02010600030101010101" pitchFamily="2" charset="-122"/>
              </a:rPr>
              <a:t>。</a:t>
            </a:r>
          </a:p>
        </p:txBody>
      </p:sp>
      <p:grpSp>
        <p:nvGrpSpPr>
          <p:cNvPr id="2" name="组合 1"/>
          <p:cNvGrpSpPr/>
          <p:nvPr>
            <p:custDataLst>
              <p:tags r:id="rId6"/>
            </p:custDataLst>
          </p:nvPr>
        </p:nvGrpSpPr>
        <p:grpSpPr>
          <a:xfrm>
            <a:off x="9135745" y="2371725"/>
            <a:ext cx="3056255" cy="2904490"/>
            <a:chOff x="9381" y="3548"/>
            <a:chExt cx="4813" cy="4574"/>
          </a:xfrm>
        </p:grpSpPr>
        <p:sp>
          <p:nvSpPr>
            <p:cNvPr id="4128" name="Line 42"/>
            <p:cNvSpPr/>
            <p:nvPr>
              <p:custDataLst>
                <p:tags r:id="rId7"/>
              </p:custDataLst>
            </p:nvPr>
          </p:nvSpPr>
          <p:spPr>
            <a:xfrm flipV="1">
              <a:off x="9913" y="4050"/>
              <a:ext cx="3330" cy="28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4105" name="Group 46"/>
            <p:cNvGrpSpPr/>
            <p:nvPr>
              <p:custDataLst>
                <p:tags r:id="rId8"/>
              </p:custDataLst>
            </p:nvPr>
          </p:nvGrpSpPr>
          <p:grpSpPr>
            <a:xfrm>
              <a:off x="9917" y="3836"/>
              <a:ext cx="3510" cy="3093"/>
              <a:chOff x="0" y="270"/>
              <a:chExt cx="1872" cy="1650"/>
            </a:xfrm>
          </p:grpSpPr>
          <p:grpSp>
            <p:nvGrpSpPr>
              <p:cNvPr id="4106" name="Group 47"/>
              <p:cNvGrpSpPr/>
              <p:nvPr>
                <p:custDataLst>
                  <p:tags r:id="rId32"/>
                </p:custDataLst>
              </p:nvPr>
            </p:nvGrpSpPr>
            <p:grpSpPr>
              <a:xfrm>
                <a:off x="0" y="270"/>
                <a:ext cx="1872" cy="1650"/>
                <a:chOff x="0" y="270"/>
                <a:chExt cx="1872" cy="1650"/>
              </a:xfrm>
            </p:grpSpPr>
            <p:sp>
              <p:nvSpPr>
                <p:cNvPr id="4107" name="Line 48"/>
                <p:cNvSpPr/>
                <p:nvPr>
                  <p:custDataLst>
                    <p:tags r:id="rId41"/>
                  </p:custDataLst>
                </p:nvPr>
              </p:nvSpPr>
              <p:spPr>
                <a:xfrm flipH="1" flipV="1">
                  <a:off x="0" y="270"/>
                  <a:ext cx="0" cy="165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108" name="Line 49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0" y="1920"/>
                  <a:ext cx="187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4109" name="Line 50"/>
              <p:cNvSpPr/>
              <p:nvPr>
                <p:custDataLst>
                  <p:tags r:id="rId33"/>
                </p:custDataLst>
              </p:nvPr>
            </p:nvSpPr>
            <p:spPr>
              <a:xfrm flipH="1">
                <a:off x="384" y="18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0" name="Line 51"/>
              <p:cNvSpPr/>
              <p:nvPr>
                <p:custDataLst>
                  <p:tags r:id="rId34"/>
                </p:custDataLst>
              </p:nvPr>
            </p:nvSpPr>
            <p:spPr>
              <a:xfrm flipH="1">
                <a:off x="768" y="18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1" name="Line 52"/>
              <p:cNvSpPr/>
              <p:nvPr>
                <p:custDataLst>
                  <p:tags r:id="rId35"/>
                </p:custDataLst>
              </p:nvPr>
            </p:nvSpPr>
            <p:spPr>
              <a:xfrm flipH="1">
                <a:off x="1152" y="18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2" name="Line 53"/>
              <p:cNvSpPr/>
              <p:nvPr>
                <p:custDataLst>
                  <p:tags r:id="rId36"/>
                </p:custDataLst>
              </p:nvPr>
            </p:nvSpPr>
            <p:spPr>
              <a:xfrm flipH="1">
                <a:off x="1536" y="18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3" name="Line 54"/>
              <p:cNvSpPr/>
              <p:nvPr>
                <p:custDataLst>
                  <p:tags r:id="rId37"/>
                </p:custDataLst>
              </p:nvPr>
            </p:nvSpPr>
            <p:spPr>
              <a:xfrm>
                <a:off x="0" y="1584"/>
                <a:ext cx="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4" name="Line 55"/>
              <p:cNvSpPr/>
              <p:nvPr>
                <p:custDataLst>
                  <p:tags r:id="rId38"/>
                </p:custDataLst>
              </p:nvPr>
            </p:nvSpPr>
            <p:spPr>
              <a:xfrm>
                <a:off x="0" y="912"/>
                <a:ext cx="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5" name="Line 56"/>
              <p:cNvSpPr/>
              <p:nvPr>
                <p:custDataLst>
                  <p:tags r:id="rId39"/>
                </p:custDataLst>
              </p:nvPr>
            </p:nvSpPr>
            <p:spPr>
              <a:xfrm>
                <a:off x="0" y="1248"/>
                <a:ext cx="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6" name="Line 57"/>
              <p:cNvSpPr/>
              <p:nvPr>
                <p:custDataLst>
                  <p:tags r:id="rId40"/>
                </p:custDataLst>
              </p:nvPr>
            </p:nvSpPr>
            <p:spPr>
              <a:xfrm>
                <a:off x="0" y="576"/>
                <a:ext cx="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4117" name="Text Box 58"/>
            <p:cNvSpPr txBox="1"/>
            <p:nvPr>
              <p:custDataLst>
                <p:tags r:id="rId9"/>
              </p:custDataLst>
            </p:nvPr>
          </p:nvSpPr>
          <p:spPr>
            <a:xfrm>
              <a:off x="9966" y="3548"/>
              <a:ext cx="1841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v(m/s)</a:t>
              </a:r>
            </a:p>
          </p:txBody>
        </p:sp>
        <p:sp>
          <p:nvSpPr>
            <p:cNvPr id="4118" name="Text Box 59"/>
            <p:cNvSpPr txBox="1"/>
            <p:nvPr>
              <p:custDataLst>
                <p:tags r:id="rId10"/>
              </p:custDataLst>
            </p:nvPr>
          </p:nvSpPr>
          <p:spPr>
            <a:xfrm>
              <a:off x="9381" y="4127"/>
              <a:ext cx="532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4</a:t>
              </a:r>
            </a:p>
          </p:txBody>
        </p:sp>
        <p:sp>
          <p:nvSpPr>
            <p:cNvPr id="4119" name="Text Box 60"/>
            <p:cNvSpPr txBox="1"/>
            <p:nvPr>
              <p:custDataLst>
                <p:tags r:id="rId11"/>
              </p:custDataLst>
            </p:nvPr>
          </p:nvSpPr>
          <p:spPr>
            <a:xfrm>
              <a:off x="9439" y="4768"/>
              <a:ext cx="497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3</a:t>
              </a:r>
            </a:p>
          </p:txBody>
        </p:sp>
        <p:sp>
          <p:nvSpPr>
            <p:cNvPr id="4120" name="Text Box 61"/>
            <p:cNvSpPr txBox="1"/>
            <p:nvPr>
              <p:custDataLst>
                <p:tags r:id="rId12"/>
              </p:custDataLst>
            </p:nvPr>
          </p:nvSpPr>
          <p:spPr>
            <a:xfrm>
              <a:off x="9409" y="5398"/>
              <a:ext cx="478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2</a:t>
              </a:r>
            </a:p>
          </p:txBody>
        </p:sp>
        <p:sp>
          <p:nvSpPr>
            <p:cNvPr id="4121" name="Text Box 62"/>
            <p:cNvSpPr txBox="1"/>
            <p:nvPr>
              <p:custDataLst>
                <p:tags r:id="rId13"/>
              </p:custDataLst>
            </p:nvPr>
          </p:nvSpPr>
          <p:spPr>
            <a:xfrm>
              <a:off x="9439" y="6028"/>
              <a:ext cx="416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1</a:t>
              </a:r>
            </a:p>
          </p:txBody>
        </p:sp>
        <p:sp>
          <p:nvSpPr>
            <p:cNvPr id="4122" name="Text Box 63"/>
            <p:cNvSpPr txBox="1"/>
            <p:nvPr>
              <p:custDataLst>
                <p:tags r:id="rId14"/>
              </p:custDataLst>
            </p:nvPr>
          </p:nvSpPr>
          <p:spPr>
            <a:xfrm>
              <a:off x="9557" y="6750"/>
              <a:ext cx="72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0</a:t>
              </a:r>
            </a:p>
          </p:txBody>
        </p:sp>
        <p:sp>
          <p:nvSpPr>
            <p:cNvPr id="4123" name="Text Box 64"/>
            <p:cNvSpPr txBox="1"/>
            <p:nvPr>
              <p:custDataLst>
                <p:tags r:id="rId15"/>
              </p:custDataLst>
            </p:nvPr>
          </p:nvSpPr>
          <p:spPr>
            <a:xfrm>
              <a:off x="10457" y="6930"/>
              <a:ext cx="54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5</a:t>
              </a:r>
            </a:p>
          </p:txBody>
        </p:sp>
        <p:sp>
          <p:nvSpPr>
            <p:cNvPr id="4124" name="Text Box 65"/>
            <p:cNvSpPr txBox="1"/>
            <p:nvPr>
              <p:custDataLst>
                <p:tags r:id="rId16"/>
              </p:custDataLst>
            </p:nvPr>
          </p:nvSpPr>
          <p:spPr>
            <a:xfrm>
              <a:off x="11087" y="6930"/>
              <a:ext cx="990" cy="10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10</a:t>
              </a:r>
            </a:p>
          </p:txBody>
        </p:sp>
        <p:sp>
          <p:nvSpPr>
            <p:cNvPr id="4125" name="Text Box 66"/>
            <p:cNvSpPr txBox="1"/>
            <p:nvPr>
              <p:custDataLst>
                <p:tags r:id="rId17"/>
              </p:custDataLst>
            </p:nvPr>
          </p:nvSpPr>
          <p:spPr>
            <a:xfrm>
              <a:off x="11807" y="6930"/>
              <a:ext cx="90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15</a:t>
              </a:r>
            </a:p>
          </p:txBody>
        </p:sp>
        <p:sp>
          <p:nvSpPr>
            <p:cNvPr id="4126" name="Text Box 67"/>
            <p:cNvSpPr txBox="1"/>
            <p:nvPr>
              <p:custDataLst>
                <p:tags r:id="rId18"/>
              </p:custDataLst>
            </p:nvPr>
          </p:nvSpPr>
          <p:spPr>
            <a:xfrm>
              <a:off x="12495" y="6909"/>
              <a:ext cx="923" cy="12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20</a:t>
              </a:r>
            </a:p>
          </p:txBody>
        </p:sp>
        <p:sp>
          <p:nvSpPr>
            <p:cNvPr id="4127" name="Text Box 68"/>
            <p:cNvSpPr txBox="1"/>
            <p:nvPr>
              <p:custDataLst>
                <p:tags r:id="rId19"/>
              </p:custDataLst>
            </p:nvPr>
          </p:nvSpPr>
          <p:spPr>
            <a:xfrm>
              <a:off x="13161" y="6909"/>
              <a:ext cx="1033" cy="84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t/s</a:t>
              </a:r>
            </a:p>
          </p:txBody>
        </p:sp>
        <p:grpSp>
          <p:nvGrpSpPr>
            <p:cNvPr id="4129" name="Group 34"/>
            <p:cNvGrpSpPr/>
            <p:nvPr>
              <p:custDataLst>
                <p:tags r:id="rId20"/>
              </p:custDataLst>
            </p:nvPr>
          </p:nvGrpSpPr>
          <p:grpSpPr>
            <a:xfrm>
              <a:off x="10096" y="5040"/>
              <a:ext cx="1980" cy="1710"/>
              <a:chOff x="0" y="0"/>
              <a:chExt cx="1056" cy="912"/>
            </a:xfrm>
          </p:grpSpPr>
          <p:sp>
            <p:nvSpPr>
              <p:cNvPr id="4130" name="Line 35"/>
              <p:cNvSpPr/>
              <p:nvPr>
                <p:custDataLst>
                  <p:tags r:id="rId30"/>
                </p:custDataLst>
              </p:nvPr>
            </p:nvSpPr>
            <p:spPr>
              <a:xfrm flipH="1" flipV="1">
                <a:off x="1056" y="0"/>
                <a:ext cx="0" cy="912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31" name="Line 36"/>
              <p:cNvSpPr/>
              <p:nvPr>
                <p:custDataLst>
                  <p:tags r:id="rId31"/>
                </p:custDataLst>
              </p:nvPr>
            </p:nvSpPr>
            <p:spPr>
              <a:xfrm>
                <a:off x="0" y="0"/>
                <a:ext cx="1056" cy="0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4132" name="Group 26"/>
            <p:cNvGrpSpPr/>
            <p:nvPr>
              <p:custDataLst>
                <p:tags r:id="rId21"/>
              </p:custDataLst>
            </p:nvPr>
          </p:nvGrpSpPr>
          <p:grpSpPr>
            <a:xfrm>
              <a:off x="9916" y="6300"/>
              <a:ext cx="720" cy="540"/>
              <a:chOff x="0" y="0"/>
              <a:chExt cx="384" cy="288"/>
            </a:xfrm>
          </p:grpSpPr>
          <p:sp>
            <p:nvSpPr>
              <p:cNvPr id="4133" name="Line 27"/>
              <p:cNvSpPr/>
              <p:nvPr>
                <p:custDataLst>
                  <p:tags r:id="rId28"/>
                </p:custDataLst>
              </p:nvPr>
            </p:nvSpPr>
            <p:spPr>
              <a:xfrm flipH="1" flipV="1">
                <a:off x="384" y="0"/>
                <a:ext cx="0" cy="288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34" name="Line 28"/>
              <p:cNvSpPr/>
              <p:nvPr>
                <p:custDataLst>
                  <p:tags r:id="rId29"/>
                </p:custDataLst>
              </p:nvPr>
            </p:nvSpPr>
            <p:spPr>
              <a:xfrm>
                <a:off x="0" y="0"/>
                <a:ext cx="384" cy="0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4135" name="Group 30"/>
            <p:cNvGrpSpPr/>
            <p:nvPr>
              <p:custDataLst>
                <p:tags r:id="rId22"/>
              </p:custDataLst>
            </p:nvPr>
          </p:nvGrpSpPr>
          <p:grpSpPr>
            <a:xfrm>
              <a:off x="10096" y="5670"/>
              <a:ext cx="1260" cy="1080"/>
              <a:chOff x="0" y="0"/>
              <a:chExt cx="672" cy="576"/>
            </a:xfrm>
          </p:grpSpPr>
          <p:sp>
            <p:nvSpPr>
              <p:cNvPr id="4136" name="Line 31"/>
              <p:cNvSpPr/>
              <p:nvPr>
                <p:custDataLst>
                  <p:tags r:id="rId26"/>
                </p:custDataLst>
              </p:nvPr>
            </p:nvSpPr>
            <p:spPr>
              <a:xfrm flipH="1" flipV="1">
                <a:off x="672" y="0"/>
                <a:ext cx="0" cy="576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37" name="Line 32"/>
              <p:cNvSpPr/>
              <p:nvPr>
                <p:custDataLst>
                  <p:tags r:id="rId27"/>
                </p:custDataLst>
              </p:nvPr>
            </p:nvSpPr>
            <p:spPr>
              <a:xfrm>
                <a:off x="0" y="0"/>
                <a:ext cx="672" cy="0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4138" name="Group 38"/>
            <p:cNvGrpSpPr/>
            <p:nvPr>
              <p:custDataLst>
                <p:tags r:id="rId23"/>
              </p:custDataLst>
            </p:nvPr>
          </p:nvGrpSpPr>
          <p:grpSpPr>
            <a:xfrm>
              <a:off x="10010" y="4416"/>
              <a:ext cx="2790" cy="2430"/>
              <a:chOff x="0" y="0"/>
              <a:chExt cx="1488" cy="1296"/>
            </a:xfrm>
          </p:grpSpPr>
          <p:sp>
            <p:nvSpPr>
              <p:cNvPr id="4139" name="Line 39"/>
              <p:cNvSpPr/>
              <p:nvPr>
                <p:custDataLst>
                  <p:tags r:id="rId24"/>
                </p:custDataLst>
              </p:nvPr>
            </p:nvSpPr>
            <p:spPr>
              <a:xfrm flipH="1" flipV="1">
                <a:off x="1488" y="0"/>
                <a:ext cx="0" cy="1296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40" name="Line 40"/>
              <p:cNvSpPr/>
              <p:nvPr>
                <p:custDataLst>
                  <p:tags r:id="rId25"/>
                </p:custDataLst>
              </p:nvPr>
            </p:nvSpPr>
            <p:spPr>
              <a:xfrm>
                <a:off x="0" y="0"/>
                <a:ext cx="1488" cy="0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90235" cy="510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三、从</a:t>
            </a:r>
            <a:r>
              <a:rPr lang="zh-CN" altLang="en-US" sz="3200" i="1" spc="600">
                <a:solidFill>
                  <a:srgbClr val="4274FF"/>
                </a:solidFill>
                <a:latin typeface="Times New Roman" panose="02020603050405020304" charset="0"/>
                <a:ea typeface="思源黑体 CN Bold" panose="020B0800000000000000" pitchFamily="34" charset="-122"/>
                <a:cs typeface="Times New Roman" panose="02020603050405020304" charset="0"/>
              </a:rPr>
              <a:t>v-t</a:t>
            </a:r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图像看加速度</a:t>
            </a:r>
          </a:p>
        </p:txBody>
      </p:sp>
      <p:sp>
        <p:nvSpPr>
          <p:cNvPr id="6145" name="Rectangle 4"/>
          <p:cNvSpPr/>
          <p:nvPr>
            <p:custDataLst>
              <p:tags r:id="rId2"/>
            </p:custDataLst>
          </p:nvPr>
        </p:nvSpPr>
        <p:spPr>
          <a:xfrm>
            <a:off x="327660" y="1038860"/>
            <a:ext cx="11283315" cy="7969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altLang="zh-CN" sz="32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3.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速度时间（</a:t>
            </a:r>
            <a:r>
              <a:rPr lang="en-US" altLang="zh-CN" sz="3200" b="1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v-t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）图像中速度、加速度方向判断方法</a:t>
            </a:r>
          </a:p>
        </p:txBody>
      </p:sp>
      <p:sp>
        <p:nvSpPr>
          <p:cNvPr id="5122" name="文本框 2"/>
          <p:cNvSpPr txBox="1"/>
          <p:nvPr>
            <p:custDataLst>
              <p:tags r:id="rId3"/>
            </p:custDataLst>
          </p:nvPr>
        </p:nvSpPr>
        <p:spPr>
          <a:xfrm>
            <a:off x="427355" y="1772920"/>
            <a:ext cx="6467475" cy="2030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(1)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速度的方向：</a:t>
            </a: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①速度图像在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轴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上方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，速度为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正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②速度图像在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轴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下方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，速度为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负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。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427355" y="3991610"/>
            <a:ext cx="6074410" cy="2030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(2)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加速度方向：</a:t>
            </a: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①速度图像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向上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倾斜，加速度为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正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②速度图像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向下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倾斜，加速度为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负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</a:p>
        </p:txBody>
      </p:sp>
      <p:grpSp>
        <p:nvGrpSpPr>
          <p:cNvPr id="5" name="组合 4"/>
          <p:cNvGrpSpPr/>
          <p:nvPr>
            <p:custDataLst>
              <p:tags r:id="rId5"/>
            </p:custDataLst>
          </p:nvPr>
        </p:nvGrpSpPr>
        <p:grpSpPr>
          <a:xfrm>
            <a:off x="8956675" y="2509520"/>
            <a:ext cx="2826385" cy="3723640"/>
            <a:chOff x="8704" y="2616"/>
            <a:chExt cx="4451" cy="5864"/>
          </a:xfrm>
        </p:grpSpPr>
        <p:grpSp>
          <p:nvGrpSpPr>
            <p:cNvPr id="6153" name="Group 45"/>
            <p:cNvGrpSpPr/>
            <p:nvPr>
              <p:custDataLst>
                <p:tags r:id="rId6"/>
              </p:custDataLst>
            </p:nvPr>
          </p:nvGrpSpPr>
          <p:grpSpPr>
            <a:xfrm>
              <a:off x="8704" y="2616"/>
              <a:ext cx="4009" cy="5864"/>
              <a:chOff x="118" y="114"/>
              <a:chExt cx="2138" cy="3130"/>
            </a:xfrm>
          </p:grpSpPr>
          <p:grpSp>
            <p:nvGrpSpPr>
              <p:cNvPr id="6154" name="Group 46"/>
              <p:cNvGrpSpPr/>
              <p:nvPr>
                <p:custDataLst>
                  <p:tags r:id="rId19"/>
                </p:custDataLst>
              </p:nvPr>
            </p:nvGrpSpPr>
            <p:grpSpPr>
              <a:xfrm>
                <a:off x="384" y="192"/>
                <a:ext cx="1872" cy="3052"/>
                <a:chOff x="0" y="0"/>
                <a:chExt cx="1872" cy="3052"/>
              </a:xfrm>
            </p:grpSpPr>
            <p:grpSp>
              <p:nvGrpSpPr>
                <p:cNvPr id="6155" name="Group 47"/>
                <p:cNvGrpSpPr/>
                <p:nvPr>
                  <p:custDataLst>
                    <p:tags r:id="rId30"/>
                  </p:custDataLst>
                </p:nvPr>
              </p:nvGrpSpPr>
              <p:grpSpPr>
                <a:xfrm>
                  <a:off x="0" y="0"/>
                  <a:ext cx="1872" cy="3052"/>
                  <a:chOff x="0" y="0"/>
                  <a:chExt cx="1872" cy="3052"/>
                </a:xfrm>
              </p:grpSpPr>
              <p:sp>
                <p:nvSpPr>
                  <p:cNvPr id="6156" name="Line 48"/>
                  <p:cNvSpPr/>
                  <p:nvPr>
                    <p:custDataLst>
                      <p:tags r:id="rId39"/>
                    </p:custDataLst>
                  </p:nvPr>
                </p:nvSpPr>
                <p:spPr>
                  <a:xfrm flipH="1" flipV="1">
                    <a:off x="0" y="0"/>
                    <a:ext cx="0" cy="3052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6157" name="Line 49"/>
                  <p:cNvSpPr/>
                  <p:nvPr>
                    <p:custDataLst>
                      <p:tags r:id="rId40"/>
                    </p:custDataLst>
                  </p:nvPr>
                </p:nvSpPr>
                <p:spPr>
                  <a:xfrm>
                    <a:off x="0" y="1920"/>
                    <a:ext cx="187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</p:grpSp>
            <p:sp>
              <p:nvSpPr>
                <p:cNvPr id="6158" name="Line 50"/>
                <p:cNvSpPr/>
                <p:nvPr>
                  <p:custDataLst>
                    <p:tags r:id="rId31"/>
                  </p:custDataLst>
                </p:nvPr>
              </p:nvSpPr>
              <p:spPr>
                <a:xfrm flipH="1">
                  <a:off x="384" y="1824"/>
                  <a:ext cx="0" cy="9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6159" name="Line 51"/>
                <p:cNvSpPr/>
                <p:nvPr>
                  <p:custDataLst>
                    <p:tags r:id="rId32"/>
                  </p:custDataLst>
                </p:nvPr>
              </p:nvSpPr>
              <p:spPr>
                <a:xfrm flipH="1">
                  <a:off x="768" y="1824"/>
                  <a:ext cx="0" cy="9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6160" name="Line 52"/>
                <p:cNvSpPr/>
                <p:nvPr>
                  <p:custDataLst>
                    <p:tags r:id="rId33"/>
                  </p:custDataLst>
                </p:nvPr>
              </p:nvSpPr>
              <p:spPr>
                <a:xfrm flipH="1">
                  <a:off x="1152" y="1824"/>
                  <a:ext cx="0" cy="9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6161" name="Line 53"/>
                <p:cNvSpPr/>
                <p:nvPr>
                  <p:custDataLst>
                    <p:tags r:id="rId34"/>
                  </p:custDataLst>
                </p:nvPr>
              </p:nvSpPr>
              <p:spPr>
                <a:xfrm flipH="1">
                  <a:off x="1536" y="1824"/>
                  <a:ext cx="0" cy="96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6162" name="Line 54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0" y="1584"/>
                  <a:ext cx="9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6163" name="Line 55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0" y="912"/>
                  <a:ext cx="9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6164" name="Line 56"/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0" y="1248"/>
                  <a:ext cx="9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6165" name="Line 57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0" y="576"/>
                  <a:ext cx="96" cy="0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6166" name="Text Box 58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434" y="114"/>
                <a:ext cx="766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i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v(m/s)</a:t>
                </a:r>
              </a:p>
            </p:txBody>
          </p:sp>
          <p:sp>
            <p:nvSpPr>
              <p:cNvPr id="6167" name="Text Box 59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28" y="632"/>
                <a:ext cx="233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6168" name="Text Box 60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128" y="959"/>
                <a:ext cx="192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6169" name="Text Box 61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118" y="1294"/>
                <a:ext cx="202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6170" name="Text Box 62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128" y="1633"/>
                <a:ext cx="222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171" name="Text Box 63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192" y="2016"/>
                <a:ext cx="384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172" name="Text Box 64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672" y="2112"/>
                <a:ext cx="288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</a:p>
            </p:txBody>
          </p:sp>
          <p:sp>
            <p:nvSpPr>
              <p:cNvPr id="6173" name="Text Box 65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994" y="2124"/>
                <a:ext cx="370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10</a:t>
                </a:r>
              </a:p>
            </p:txBody>
          </p:sp>
          <p:sp>
            <p:nvSpPr>
              <p:cNvPr id="6174" name="Text Box 66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1392" y="2112"/>
                <a:ext cx="480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15</a:t>
                </a:r>
              </a:p>
            </p:txBody>
          </p:sp>
          <p:sp>
            <p:nvSpPr>
              <p:cNvPr id="6175" name="Text Box 67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1759" y="2101"/>
                <a:ext cx="405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20</a:t>
                </a:r>
              </a:p>
            </p:txBody>
          </p:sp>
        </p:grpSp>
        <p:sp>
          <p:nvSpPr>
            <p:cNvPr id="6176" name="Text Box 68"/>
            <p:cNvSpPr txBox="1"/>
            <p:nvPr>
              <p:custDataLst>
                <p:tags r:id="rId7"/>
              </p:custDataLst>
            </p:nvPr>
          </p:nvSpPr>
          <p:spPr>
            <a:xfrm>
              <a:off x="12345" y="6359"/>
              <a:ext cx="810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t/s</a:t>
              </a:r>
            </a:p>
          </p:txBody>
        </p:sp>
        <p:sp>
          <p:nvSpPr>
            <p:cNvPr id="6177" name="Line 42"/>
            <p:cNvSpPr/>
            <p:nvPr>
              <p:custDataLst>
                <p:tags r:id="rId8"/>
              </p:custDataLst>
            </p:nvPr>
          </p:nvSpPr>
          <p:spPr>
            <a:xfrm flipV="1">
              <a:off x="9237" y="3472"/>
              <a:ext cx="3330" cy="287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8" name="Line 35"/>
            <p:cNvSpPr/>
            <p:nvPr>
              <p:custDataLst>
                <p:tags r:id="rId9"/>
              </p:custDataLst>
            </p:nvPr>
          </p:nvSpPr>
          <p:spPr>
            <a:xfrm flipV="1">
              <a:off x="11363" y="6381"/>
              <a:ext cx="1" cy="1995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9" name="Line 31"/>
            <p:cNvSpPr/>
            <p:nvPr>
              <p:custDataLst>
                <p:tags r:id="rId10"/>
              </p:custDataLst>
            </p:nvPr>
          </p:nvSpPr>
          <p:spPr>
            <a:xfrm flipH="1" flipV="1">
              <a:off x="10643" y="5120"/>
              <a:ext cx="0" cy="1079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6180" name="Group 38"/>
            <p:cNvGrpSpPr/>
            <p:nvPr>
              <p:custDataLst>
                <p:tags r:id="rId11"/>
              </p:custDataLst>
            </p:nvPr>
          </p:nvGrpSpPr>
          <p:grpSpPr>
            <a:xfrm>
              <a:off x="9296" y="3867"/>
              <a:ext cx="2790" cy="2428"/>
              <a:chOff x="0" y="0"/>
              <a:chExt cx="1488" cy="1296"/>
            </a:xfrm>
          </p:grpSpPr>
          <p:sp>
            <p:nvSpPr>
              <p:cNvPr id="6181" name="Line 39"/>
              <p:cNvSpPr/>
              <p:nvPr>
                <p:custDataLst>
                  <p:tags r:id="rId17"/>
                </p:custDataLst>
              </p:nvPr>
            </p:nvSpPr>
            <p:spPr>
              <a:xfrm flipH="1" flipV="1">
                <a:off x="1488" y="0"/>
                <a:ext cx="0" cy="1296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182" name="Line 40"/>
              <p:cNvSpPr/>
              <p:nvPr>
                <p:custDataLst>
                  <p:tags r:id="rId18"/>
                </p:custDataLst>
              </p:nvPr>
            </p:nvSpPr>
            <p:spPr>
              <a:xfrm>
                <a:off x="0" y="0"/>
                <a:ext cx="1488" cy="0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6183" name="Group 48"/>
            <p:cNvGrpSpPr/>
            <p:nvPr>
              <p:custDataLst>
                <p:tags r:id="rId12"/>
              </p:custDataLst>
            </p:nvPr>
          </p:nvGrpSpPr>
          <p:grpSpPr>
            <a:xfrm>
              <a:off x="9161" y="3363"/>
              <a:ext cx="2897" cy="3019"/>
              <a:chOff x="-105" y="-308"/>
              <a:chExt cx="3865" cy="4029"/>
            </a:xfrm>
          </p:grpSpPr>
          <p:sp>
            <p:nvSpPr>
              <p:cNvPr id="6184" name="Line 49"/>
              <p:cNvSpPr/>
              <p:nvPr>
                <p:custDataLst>
                  <p:tags r:id="rId15"/>
                </p:custDataLst>
              </p:nvPr>
            </p:nvSpPr>
            <p:spPr>
              <a:xfrm>
                <a:off x="0" y="351"/>
                <a:ext cx="3760" cy="3370"/>
              </a:xfrm>
              <a:prstGeom prst="line">
                <a:avLst/>
              </a:prstGeom>
              <a:ln w="444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185" name="Text Box 50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-105" y="-308"/>
                <a:ext cx="1015" cy="17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67627" tIns="35242" rIns="67627" bIns="35242" anchor="t">
                <a:spAutoFit/>
              </a:bodyPr>
              <a:lstStyle/>
              <a:p>
                <a:r>
                  <a:rPr lang="zh-CN" altLang="en-US" sz="100">
                    <a:solidFill>
                      <a:schemeClr val="bg1"/>
                    </a:solidFill>
                    <a:latin typeface="Arial" panose="020B0604020202020204" pitchFamily="34" charset="0"/>
                    <a:ea typeface="楷体" panose="02010609060101010101" charset="-122"/>
                  </a:rPr>
                  <a:t>B</a:t>
                </a:r>
              </a:p>
            </p:txBody>
          </p:sp>
        </p:grpSp>
        <p:sp>
          <p:nvSpPr>
            <p:cNvPr id="6187" name="Line 49"/>
            <p:cNvSpPr/>
            <p:nvPr>
              <p:custDataLst>
                <p:tags r:id="rId13"/>
              </p:custDataLst>
            </p:nvPr>
          </p:nvSpPr>
          <p:spPr>
            <a:xfrm>
              <a:off x="9233" y="6383"/>
              <a:ext cx="2129" cy="1995"/>
            </a:xfrm>
            <a:prstGeom prst="line">
              <a:avLst/>
            </a:prstGeom>
            <a:ln w="44450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8" name="文本框 5"/>
            <p:cNvSpPr txBox="1"/>
            <p:nvPr>
              <p:custDataLst>
                <p:tags r:id="rId14"/>
              </p:custDataLst>
            </p:nvPr>
          </p:nvSpPr>
          <p:spPr>
            <a:xfrm>
              <a:off x="11507" y="8147"/>
              <a:ext cx="504" cy="1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sz="100">
                  <a:solidFill>
                    <a:srgbClr val="00B0F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 23"/>
          <p:cNvSpPr/>
          <p:nvPr>
            <p:custDataLst>
              <p:tags r:id="rId1"/>
            </p:custDataLst>
          </p:nvPr>
        </p:nvSpPr>
        <p:spPr>
          <a:xfrm>
            <a:off x="4876165" y="2129155"/>
            <a:ext cx="401955" cy="603250"/>
          </a:xfrm>
          <a:custGeom>
            <a:avLst/>
            <a:gdLst>
              <a:gd name="connisteX0" fmla="*/ 0 w 842010"/>
              <a:gd name="connsiteY0" fmla="*/ 0 h 1287780"/>
              <a:gd name="connisteX1" fmla="*/ 254000 w 842010"/>
              <a:gd name="connsiteY1" fmla="*/ 953135 h 1287780"/>
              <a:gd name="connisteX2" fmla="*/ 842010 w 842010"/>
              <a:gd name="connsiteY2" fmla="*/ 1287780 h 128778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842010" h="1287780">
                <a:moveTo>
                  <a:pt x="0" y="0"/>
                </a:moveTo>
                <a:cubicBezTo>
                  <a:pt x="38735" y="184150"/>
                  <a:pt x="85725" y="695325"/>
                  <a:pt x="254000" y="953135"/>
                </a:cubicBezTo>
                <a:cubicBezTo>
                  <a:pt x="422275" y="1210945"/>
                  <a:pt x="729615" y="1240155"/>
                  <a:pt x="842010" y="1287780"/>
                </a:cubicBezTo>
              </a:path>
            </a:pathLst>
          </a:custGeom>
          <a:noFill/>
          <a:ln w="15875">
            <a:solidFill>
              <a:srgbClr val="3A69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>
            <a:off x="4848860" y="1310005"/>
            <a:ext cx="379095" cy="697230"/>
          </a:xfrm>
          <a:custGeom>
            <a:avLst/>
            <a:gdLst>
              <a:gd name="connisteX0" fmla="*/ 0 w 801370"/>
              <a:gd name="connsiteY0" fmla="*/ 1044575 h 1044575"/>
              <a:gd name="connisteX1" fmla="*/ 213360 w 801370"/>
              <a:gd name="connsiteY1" fmla="*/ 334645 h 1044575"/>
              <a:gd name="connisteX2" fmla="*/ 801370 w 801370"/>
              <a:gd name="connsiteY2" fmla="*/ 0 h 10445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801370" h="1044575">
                <a:moveTo>
                  <a:pt x="0" y="1044575"/>
                </a:moveTo>
                <a:cubicBezTo>
                  <a:pt x="31115" y="909320"/>
                  <a:pt x="53340" y="543560"/>
                  <a:pt x="213360" y="334645"/>
                </a:cubicBezTo>
                <a:cubicBezTo>
                  <a:pt x="373380" y="125730"/>
                  <a:pt x="688340" y="52705"/>
                  <a:pt x="801370" y="0"/>
                </a:cubicBezTo>
              </a:path>
            </a:pathLst>
          </a:custGeom>
          <a:noFill/>
          <a:ln w="15875">
            <a:solidFill>
              <a:srgbClr val="3A69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30505" y="200025"/>
            <a:ext cx="2334895" cy="6946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课堂小结</a:t>
            </a:r>
          </a:p>
        </p:txBody>
      </p:sp>
      <p:grpSp>
        <p:nvGrpSpPr>
          <p:cNvPr id="16" name="组合 15"/>
          <p:cNvGrpSpPr/>
          <p:nvPr>
            <p:custDataLst>
              <p:tags r:id="rId4"/>
            </p:custDataLst>
          </p:nvPr>
        </p:nvGrpSpPr>
        <p:grpSpPr>
          <a:xfrm>
            <a:off x="499745" y="3832860"/>
            <a:ext cx="2272665" cy="579120"/>
            <a:chOff x="5807" y="5109"/>
            <a:chExt cx="3579" cy="912"/>
          </a:xfrm>
        </p:grpSpPr>
        <p:sp>
          <p:nvSpPr>
            <p:cNvPr id="17" name="矩形 16"/>
            <p:cNvSpPr/>
            <p:nvPr>
              <p:custDataLst>
                <p:tags r:id="rId31"/>
              </p:custDataLst>
            </p:nvPr>
          </p:nvSpPr>
          <p:spPr>
            <a:xfrm>
              <a:off x="5807" y="5109"/>
              <a:ext cx="3579" cy="895"/>
            </a:xfrm>
            <a:prstGeom prst="rect">
              <a:avLst/>
            </a:prstGeom>
            <a:solidFill>
              <a:srgbClr val="3A69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32"/>
              </p:custDataLst>
            </p:nvPr>
          </p:nvSpPr>
          <p:spPr>
            <a:xfrm>
              <a:off x="5807" y="5127"/>
              <a:ext cx="3578" cy="89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sz="280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加速度</a:t>
              </a:r>
            </a:p>
          </p:txBody>
        </p:sp>
      </p:grpSp>
      <p:grpSp>
        <p:nvGrpSpPr>
          <p:cNvPr id="8" name="组合 7"/>
          <p:cNvGrpSpPr/>
          <p:nvPr>
            <p:custDataLst>
              <p:tags r:id="rId5"/>
            </p:custDataLst>
          </p:nvPr>
        </p:nvGrpSpPr>
        <p:grpSpPr>
          <a:xfrm>
            <a:off x="5255125" y="1196975"/>
            <a:ext cx="1084887" cy="568325"/>
            <a:chOff x="7817" y="4321"/>
            <a:chExt cx="1018" cy="895"/>
          </a:xfrm>
        </p:grpSpPr>
        <p:sp>
          <p:nvSpPr>
            <p:cNvPr id="9" name="矩形 8"/>
            <p:cNvSpPr/>
            <p:nvPr>
              <p:custDataLst>
                <p:tags r:id="rId29"/>
              </p:custDataLst>
            </p:nvPr>
          </p:nvSpPr>
          <p:spPr>
            <a:xfrm>
              <a:off x="7817" y="4321"/>
              <a:ext cx="1017" cy="895"/>
            </a:xfrm>
            <a:prstGeom prst="rect">
              <a:avLst/>
            </a:prstGeom>
            <a:solidFill>
              <a:srgbClr val="3A69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30"/>
              </p:custDataLst>
            </p:nvPr>
          </p:nvSpPr>
          <p:spPr>
            <a:xfrm>
              <a:off x="7866" y="4389"/>
              <a:ext cx="969" cy="71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280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公式时刻</a:t>
              </a:r>
            </a:p>
          </p:txBody>
        </p:sp>
      </p:grpSp>
      <p:cxnSp>
        <p:nvCxnSpPr>
          <p:cNvPr id="11" name="直接连接符 10"/>
          <p:cNvCxnSpPr/>
          <p:nvPr>
            <p:custDataLst>
              <p:tags r:id="rId6"/>
            </p:custDataLst>
          </p:nvPr>
        </p:nvCxnSpPr>
        <p:spPr>
          <a:xfrm>
            <a:off x="6308090" y="1774190"/>
            <a:ext cx="5455920" cy="3810"/>
          </a:xfrm>
          <a:prstGeom prst="line">
            <a:avLst/>
          </a:prstGeom>
          <a:ln w="15875">
            <a:solidFill>
              <a:srgbClr val="3A69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任意多边形 24"/>
          <p:cNvSpPr/>
          <p:nvPr>
            <p:custDataLst>
              <p:tags r:id="rId7"/>
            </p:custDataLst>
          </p:nvPr>
        </p:nvSpPr>
        <p:spPr>
          <a:xfrm>
            <a:off x="1812290" y="1907540"/>
            <a:ext cx="1129665" cy="1925320"/>
          </a:xfrm>
          <a:custGeom>
            <a:avLst/>
            <a:gdLst>
              <a:gd name="connisteX0" fmla="*/ 0 w 801370"/>
              <a:gd name="connsiteY0" fmla="*/ 1044575 h 1044575"/>
              <a:gd name="connisteX1" fmla="*/ 213360 w 801370"/>
              <a:gd name="connsiteY1" fmla="*/ 334645 h 1044575"/>
              <a:gd name="connisteX2" fmla="*/ 801370 w 801370"/>
              <a:gd name="connsiteY2" fmla="*/ 0 h 10445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801370" h="1044575">
                <a:moveTo>
                  <a:pt x="0" y="1044575"/>
                </a:moveTo>
                <a:cubicBezTo>
                  <a:pt x="31115" y="909320"/>
                  <a:pt x="53340" y="543560"/>
                  <a:pt x="213360" y="334645"/>
                </a:cubicBezTo>
                <a:cubicBezTo>
                  <a:pt x="373380" y="125730"/>
                  <a:pt x="688340" y="52705"/>
                  <a:pt x="801370" y="0"/>
                </a:cubicBezTo>
              </a:path>
            </a:pathLst>
          </a:custGeom>
          <a:noFill/>
          <a:ln w="15875">
            <a:solidFill>
              <a:srgbClr val="3A69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8"/>
            </p:custDataLst>
          </p:nvPr>
        </p:nvSpPr>
        <p:spPr>
          <a:xfrm flipV="1">
            <a:off x="1812290" y="4423410"/>
            <a:ext cx="1170305" cy="1597025"/>
          </a:xfrm>
          <a:custGeom>
            <a:avLst/>
            <a:gdLst>
              <a:gd name="connisteX0" fmla="*/ 0 w 801370"/>
              <a:gd name="connsiteY0" fmla="*/ 1044575 h 1044575"/>
              <a:gd name="connisteX1" fmla="*/ 213360 w 801370"/>
              <a:gd name="connsiteY1" fmla="*/ 334645 h 1044575"/>
              <a:gd name="connisteX2" fmla="*/ 801370 w 801370"/>
              <a:gd name="connsiteY2" fmla="*/ 0 h 10445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801370" h="1044575">
                <a:moveTo>
                  <a:pt x="0" y="1044575"/>
                </a:moveTo>
                <a:cubicBezTo>
                  <a:pt x="31115" y="909320"/>
                  <a:pt x="53340" y="543560"/>
                  <a:pt x="213360" y="334645"/>
                </a:cubicBezTo>
                <a:cubicBezTo>
                  <a:pt x="373380" y="125730"/>
                  <a:pt x="688340" y="52705"/>
                  <a:pt x="801370" y="0"/>
                </a:cubicBezTo>
              </a:path>
            </a:pathLst>
          </a:custGeom>
          <a:noFill/>
          <a:ln w="15875">
            <a:solidFill>
              <a:srgbClr val="3A69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>
            <p:custDataLst>
              <p:tags r:id="rId9"/>
            </p:custDataLst>
          </p:nvPr>
        </p:nvCxnSpPr>
        <p:spPr>
          <a:xfrm>
            <a:off x="4796790" y="6322695"/>
            <a:ext cx="6148070" cy="0"/>
          </a:xfrm>
          <a:prstGeom prst="line">
            <a:avLst/>
          </a:prstGeom>
          <a:ln w="15875">
            <a:solidFill>
              <a:srgbClr val="3A69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>
            <p:custDataLst>
              <p:tags r:id="rId10"/>
            </p:custDataLst>
          </p:nvPr>
        </p:nvGrpSpPr>
        <p:grpSpPr>
          <a:xfrm>
            <a:off x="2941320" y="1705610"/>
            <a:ext cx="1934210" cy="568325"/>
            <a:chOff x="7617" y="5109"/>
            <a:chExt cx="3046" cy="895"/>
          </a:xfrm>
        </p:grpSpPr>
        <p:sp>
          <p:nvSpPr>
            <p:cNvPr id="6" name="矩形 5"/>
            <p:cNvSpPr/>
            <p:nvPr>
              <p:custDataLst>
                <p:tags r:id="rId27"/>
              </p:custDataLst>
            </p:nvPr>
          </p:nvSpPr>
          <p:spPr>
            <a:xfrm>
              <a:off x="7617" y="5109"/>
              <a:ext cx="3046" cy="895"/>
            </a:xfrm>
            <a:prstGeom prst="rect">
              <a:avLst/>
            </a:prstGeom>
            <a:solidFill>
              <a:srgbClr val="3A69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>
              <p:custDataLst>
                <p:tags r:id="rId28"/>
              </p:custDataLst>
            </p:nvPr>
          </p:nvSpPr>
          <p:spPr>
            <a:xfrm>
              <a:off x="7618" y="5154"/>
              <a:ext cx="296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>
                  <a:solidFill>
                    <a:schemeClr val="bg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大小</a:t>
              </a:r>
            </a:p>
          </p:txBody>
        </p:sp>
      </p:grpSp>
      <p:grpSp>
        <p:nvGrpSpPr>
          <p:cNvPr id="37" name="组合 36"/>
          <p:cNvGrpSpPr/>
          <p:nvPr>
            <p:custDataLst>
              <p:tags r:id="rId11"/>
            </p:custDataLst>
          </p:nvPr>
        </p:nvGrpSpPr>
        <p:grpSpPr>
          <a:xfrm>
            <a:off x="5202630" y="2499360"/>
            <a:ext cx="1083821" cy="568325"/>
            <a:chOff x="7788" y="3831"/>
            <a:chExt cx="1017" cy="895"/>
          </a:xfrm>
        </p:grpSpPr>
        <p:sp>
          <p:nvSpPr>
            <p:cNvPr id="38" name="矩形 37"/>
            <p:cNvSpPr/>
            <p:nvPr>
              <p:custDataLst>
                <p:tags r:id="rId25"/>
              </p:custDataLst>
            </p:nvPr>
          </p:nvSpPr>
          <p:spPr>
            <a:xfrm>
              <a:off x="7788" y="3831"/>
              <a:ext cx="1017" cy="895"/>
            </a:xfrm>
            <a:prstGeom prst="rect">
              <a:avLst/>
            </a:prstGeom>
            <a:solidFill>
              <a:srgbClr val="3A69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9" name="文本框 38"/>
            <p:cNvSpPr txBox="1"/>
            <p:nvPr>
              <p:custDataLst>
                <p:tags r:id="rId26"/>
              </p:custDataLst>
            </p:nvPr>
          </p:nvSpPr>
          <p:spPr>
            <a:xfrm>
              <a:off x="7816" y="3877"/>
              <a:ext cx="969" cy="71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280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rPr>
                <a:t>意义</a:t>
              </a:r>
            </a:p>
          </p:txBody>
        </p:sp>
      </p:grpSp>
      <p:cxnSp>
        <p:nvCxnSpPr>
          <p:cNvPr id="40" name="直接连接符 39"/>
          <p:cNvCxnSpPr/>
          <p:nvPr>
            <p:custDataLst>
              <p:tags r:id="rId12"/>
            </p:custDataLst>
          </p:nvPr>
        </p:nvCxnSpPr>
        <p:spPr>
          <a:xfrm>
            <a:off x="6308090" y="3067685"/>
            <a:ext cx="5424805" cy="3810"/>
          </a:xfrm>
          <a:prstGeom prst="line">
            <a:avLst/>
          </a:prstGeom>
          <a:ln w="15875">
            <a:solidFill>
              <a:srgbClr val="3A69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Box 3"/>
          <p:cNvSpPr txBox="1"/>
          <p:nvPr>
            <p:custDataLst>
              <p:tags r:id="rId13"/>
            </p:custDataLst>
          </p:nvPr>
        </p:nvSpPr>
        <p:spPr>
          <a:xfrm>
            <a:off x="6339840" y="2425065"/>
            <a:ext cx="5405120" cy="62484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用于描述物体速度变化快慢的物理量。</a:t>
            </a:r>
          </a:p>
        </p:txBody>
      </p:sp>
      <p:sp>
        <p:nvSpPr>
          <p:cNvPr id="42" name="Text Box 3"/>
          <p:cNvSpPr txBox="1"/>
          <p:nvPr>
            <p:custDataLst>
              <p:tags r:id="rId14"/>
            </p:custDataLst>
          </p:nvPr>
        </p:nvSpPr>
        <p:spPr>
          <a:xfrm>
            <a:off x="4871720" y="3762375"/>
            <a:ext cx="5432425" cy="63881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与速度变化量的方向一致。</a:t>
            </a:r>
          </a:p>
        </p:txBody>
      </p:sp>
      <p:cxnSp>
        <p:nvCxnSpPr>
          <p:cNvPr id="2" name="直接连接符 1"/>
          <p:cNvCxnSpPr/>
          <p:nvPr>
            <p:custDataLst>
              <p:tags r:id="rId15"/>
            </p:custDataLst>
          </p:nvPr>
        </p:nvCxnSpPr>
        <p:spPr>
          <a:xfrm>
            <a:off x="2291080" y="4149725"/>
            <a:ext cx="1141730" cy="0"/>
          </a:xfrm>
          <a:prstGeom prst="line">
            <a:avLst/>
          </a:prstGeom>
          <a:ln w="15875">
            <a:solidFill>
              <a:srgbClr val="3A69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/>
          <p:cNvGrpSpPr/>
          <p:nvPr>
            <p:custDataLst>
              <p:tags r:id="rId16"/>
            </p:custDataLst>
          </p:nvPr>
        </p:nvGrpSpPr>
        <p:grpSpPr>
          <a:xfrm>
            <a:off x="2976880" y="3857625"/>
            <a:ext cx="1845310" cy="565785"/>
            <a:chOff x="8738" y="1601"/>
            <a:chExt cx="2906" cy="891"/>
          </a:xfrm>
        </p:grpSpPr>
        <p:sp>
          <p:nvSpPr>
            <p:cNvPr id="31" name="矩形 30"/>
            <p:cNvSpPr/>
            <p:nvPr>
              <p:custDataLst>
                <p:tags r:id="rId23"/>
              </p:custDataLst>
            </p:nvPr>
          </p:nvSpPr>
          <p:spPr>
            <a:xfrm>
              <a:off x="8738" y="1601"/>
              <a:ext cx="2866" cy="891"/>
            </a:xfrm>
            <a:prstGeom prst="rect">
              <a:avLst/>
            </a:prstGeom>
            <a:solidFill>
              <a:srgbClr val="3A69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>
              <p:custDataLst>
                <p:tags r:id="rId24"/>
              </p:custDataLst>
            </p:nvPr>
          </p:nvSpPr>
          <p:spPr>
            <a:xfrm>
              <a:off x="8738" y="1693"/>
              <a:ext cx="2906" cy="77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sz="2800">
                  <a:solidFill>
                    <a:schemeClr val="bg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方向</a:t>
              </a:r>
            </a:p>
          </p:txBody>
        </p:sp>
      </p:grpSp>
      <p:cxnSp>
        <p:nvCxnSpPr>
          <p:cNvPr id="29" name="直接连接符 28"/>
          <p:cNvCxnSpPr/>
          <p:nvPr>
            <p:custDataLst>
              <p:tags r:id="rId17"/>
            </p:custDataLst>
          </p:nvPr>
        </p:nvCxnSpPr>
        <p:spPr>
          <a:xfrm flipV="1">
            <a:off x="4797425" y="4411980"/>
            <a:ext cx="6388100" cy="3175"/>
          </a:xfrm>
          <a:prstGeom prst="line">
            <a:avLst/>
          </a:prstGeom>
          <a:ln w="15875">
            <a:solidFill>
              <a:srgbClr val="3A69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/>
          <p:cNvGrpSpPr/>
          <p:nvPr>
            <p:custDataLst>
              <p:tags r:id="rId18"/>
            </p:custDataLst>
          </p:nvPr>
        </p:nvGrpSpPr>
        <p:grpSpPr>
          <a:xfrm>
            <a:off x="2976880" y="5777230"/>
            <a:ext cx="1845310" cy="565785"/>
            <a:chOff x="8738" y="1601"/>
            <a:chExt cx="2906" cy="891"/>
          </a:xfrm>
        </p:grpSpPr>
        <p:sp>
          <p:nvSpPr>
            <p:cNvPr id="45" name="矩形 44"/>
            <p:cNvSpPr/>
            <p:nvPr>
              <p:custDataLst>
                <p:tags r:id="rId21"/>
              </p:custDataLst>
            </p:nvPr>
          </p:nvSpPr>
          <p:spPr>
            <a:xfrm>
              <a:off x="8738" y="1601"/>
              <a:ext cx="2866" cy="891"/>
            </a:xfrm>
            <a:prstGeom prst="rect">
              <a:avLst/>
            </a:prstGeom>
            <a:solidFill>
              <a:srgbClr val="3A69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>
              <p:custDataLst>
                <p:tags r:id="rId22"/>
              </p:custDataLst>
            </p:nvPr>
          </p:nvSpPr>
          <p:spPr>
            <a:xfrm>
              <a:off x="8738" y="1693"/>
              <a:ext cx="2906" cy="77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i="1">
                  <a:solidFill>
                    <a:schemeClr val="bg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v-t</a:t>
              </a:r>
              <a:r>
                <a:rPr lang="zh-CN" altLang="en-US" sz="2800">
                  <a:solidFill>
                    <a:schemeClr val="bg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图像</a:t>
              </a:r>
            </a:p>
          </p:txBody>
        </p:sp>
      </p:grpSp>
      <p:sp>
        <p:nvSpPr>
          <p:cNvPr id="48" name="Text Box 3"/>
          <p:cNvSpPr txBox="1"/>
          <p:nvPr>
            <p:custDataLst>
              <p:tags r:id="rId19"/>
            </p:custDataLst>
          </p:nvPr>
        </p:nvSpPr>
        <p:spPr>
          <a:xfrm>
            <a:off x="4848860" y="5713095"/>
            <a:ext cx="6363335" cy="60960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395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反映物体速度与时间的关系，斜率表示加速度。</a:t>
            </a: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custDataLst>
              <p:tags r:id="rId20"/>
            </p:custDataLst>
          </p:nvPr>
        </p:nvGraphicFramePr>
        <p:xfrm>
          <a:off x="7134860" y="903605"/>
          <a:ext cx="2585720" cy="851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4" imgW="1054100" imgH="393700" progId="Equation.3">
                  <p:embed/>
                </p:oleObj>
              </mc:Choice>
              <mc:Fallback>
                <p:oleObj r:id="rId34" imgW="1054100" imgH="393700" progId="Equation.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7134860" y="903605"/>
                        <a:ext cx="2585720" cy="851535"/>
                      </a:xfrm>
                      <a:prstGeom prst="rect">
                        <a:avLst/>
                      </a:prstGeom>
                      <a:noFill/>
                      <a:ln w="9525" cap="flat" cmpd="sng">
                        <a:noFill/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6099810" cy="675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课堂练习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98780" y="1052830"/>
            <a:ext cx="11394440" cy="4052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1．物体A的加速度为3m/s</a:t>
            </a:r>
            <a:r>
              <a:rPr sz="2800" baseline="300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2</a:t>
            </a: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，物体B的加速度为-5m/s</a:t>
            </a:r>
            <a:r>
              <a:rPr sz="2800" baseline="300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2</a:t>
            </a: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，下列说法中正确的是（　　）</a:t>
            </a:r>
          </a:p>
          <a:p>
            <a:pPr>
              <a:lnSpc>
                <a:spcPct val="15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A．物体B的速度一定在减小</a:t>
            </a:r>
          </a:p>
          <a:p>
            <a:pPr>
              <a:lnSpc>
                <a:spcPct val="15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B．物体B的速度变化比A的速度变化快</a:t>
            </a:r>
          </a:p>
          <a:p>
            <a:pPr>
              <a:lnSpc>
                <a:spcPct val="15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C．物体A的速度一定在增加</a:t>
            </a:r>
          </a:p>
          <a:p>
            <a:pPr>
              <a:lnSpc>
                <a:spcPct val="15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D．物体A的加速度比B的加速度大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615440" y="1835785"/>
            <a:ext cx="719455" cy="551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思源黑体 CN Light" panose="020B0400000000000000" pitchFamily="34" charset="-122"/>
                <a:cs typeface="Times New Roman" panose="02020603050405020304" charset="0"/>
              </a:rPr>
              <a:t>B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6099810" cy="675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课堂练习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98780" y="1052830"/>
            <a:ext cx="11394440" cy="4052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2．足球以8m/s的速度飞来，运动员把足球以12m/s的速度反向踢出，踢球时间为0.1s，设足球飞来的方向为正方向，则这段时间内足球的加速度是（　　）</a:t>
            </a:r>
          </a:p>
          <a:p>
            <a:pPr>
              <a:lnSpc>
                <a:spcPct val="15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A．200m/s</a:t>
            </a:r>
            <a:r>
              <a:rPr sz="2800" baseline="300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2</a:t>
            </a: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	</a:t>
            </a:r>
          </a:p>
          <a:p>
            <a:pPr>
              <a:lnSpc>
                <a:spcPct val="15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B．-200m/s</a:t>
            </a:r>
            <a:r>
              <a:rPr sz="2800" baseline="300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2</a:t>
            </a: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	</a:t>
            </a:r>
          </a:p>
          <a:p>
            <a:pPr>
              <a:lnSpc>
                <a:spcPct val="15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C．100m/s</a:t>
            </a:r>
            <a:r>
              <a:rPr sz="2800" baseline="300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2</a:t>
            </a: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	</a:t>
            </a:r>
          </a:p>
          <a:p>
            <a:pPr>
              <a:lnSpc>
                <a:spcPct val="15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D．-100m/s</a:t>
            </a:r>
            <a:r>
              <a:rPr sz="2800" baseline="300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2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641475" y="2504440"/>
            <a:ext cx="719455" cy="551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思源黑体 CN Light" panose="020B0400000000000000" pitchFamily="34" charset="-122"/>
                <a:cs typeface="Times New Roman" panose="02020603050405020304" charset="0"/>
              </a:rPr>
              <a:t>B</a:t>
            </a:r>
          </a:p>
        </p:txBody>
      </p:sp>
      <p:pic>
        <p:nvPicPr>
          <p:cNvPr id="2" name="Picture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12395200" y="125349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6099810" cy="675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课堂练习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98780" y="1052830"/>
            <a:ext cx="11394440" cy="4052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3．下列关于加速度的描述中，正确的是（　　）</a:t>
            </a:r>
          </a:p>
          <a:p>
            <a:pPr>
              <a:lnSpc>
                <a:spcPct val="15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A．当加速度与速度方向相同且又减小时，物体做减速运动</a:t>
            </a:r>
          </a:p>
          <a:p>
            <a:pPr>
              <a:lnSpc>
                <a:spcPct val="15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B．速度方向为正，加速度方向可能为正</a:t>
            </a:r>
          </a:p>
          <a:p>
            <a:pPr>
              <a:lnSpc>
                <a:spcPct val="15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C．加速度在数值上等于单位时间里速度的变化</a:t>
            </a:r>
          </a:p>
          <a:p>
            <a:pPr>
              <a:lnSpc>
                <a:spcPct val="15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D．速度变化越来越快，加速度越来越小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7044055" y="1143000"/>
            <a:ext cx="719455" cy="551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思源黑体 CN Light" panose="020B0400000000000000" pitchFamily="34" charset="-122"/>
                <a:cs typeface="Times New Roman" panose="02020603050405020304" charset="0"/>
              </a:rPr>
              <a:t>BC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6099810" cy="675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4274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课堂练习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98780" y="1052830"/>
            <a:ext cx="11394440" cy="4052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4．某物体沿直线运动,其v-t图像如图所示,则下列说法中正确的是(    </a:t>
            </a:r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    </a:t>
            </a: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  )</a:t>
            </a:r>
          </a:p>
          <a:p>
            <a:pPr>
              <a:lnSpc>
                <a:spcPct val="15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A．第3 s内和第5 s内速度方向相反</a:t>
            </a:r>
          </a:p>
          <a:p>
            <a:pPr>
              <a:lnSpc>
                <a:spcPct val="15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B．第3 s内和第5 s内加速度方向相反</a:t>
            </a:r>
          </a:p>
          <a:p>
            <a:pPr>
              <a:lnSpc>
                <a:spcPct val="15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C．第5 s内速度和加速度方向相反</a:t>
            </a:r>
          </a:p>
          <a:p>
            <a:pPr>
              <a:lnSpc>
                <a:spcPct val="150000"/>
              </a:lnSpc>
            </a:pPr>
            <a:r>
              <a:rPr sz="28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D．第7 s内速度和加速度方向相反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0522585" y="1258570"/>
            <a:ext cx="1092200" cy="525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思源黑体 CN Light" panose="020B0400000000000000" pitchFamily="34" charset="-122"/>
                <a:cs typeface="Times New Roman" panose="02020603050405020304" charset="0"/>
              </a:rPr>
              <a:t>BCD</a:t>
            </a:r>
          </a:p>
        </p:txBody>
      </p:sp>
      <p:pic>
        <p:nvPicPr>
          <p:cNvPr id="2" name="图片 100003" descr="@@@d4b275c9-ab3b-4873-849b-6d126deac30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037830" y="1783715"/>
            <a:ext cx="3274060" cy="269176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5450FB-FC1E-C81C-33A4-477FEDE49A51}"/>
              </a:ext>
            </a:extLst>
          </p:cNvPr>
          <p:cNvSpPr txBox="1"/>
          <p:nvPr/>
        </p:nvSpPr>
        <p:spPr>
          <a:xfrm>
            <a:off x="4186519" y="2365828"/>
            <a:ext cx="47070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6600" dirty="0">
                <a:latin typeface="思源黑体 CN Light" panose="020B0400000000000000" pitchFamily="34" charset="-122"/>
                <a:ea typeface="思源黑体 CN Light" panose="020B0400000000000000" pitchFamily="34" charset="-122"/>
              </a:rPr>
              <a:t>章末复习</a:t>
            </a:r>
          </a:p>
        </p:txBody>
      </p:sp>
    </p:spTree>
    <p:extLst>
      <p:ext uri="{BB962C8B-B14F-4D97-AF65-F5344CB8AC3E}">
        <p14:creationId xmlns:p14="http://schemas.microsoft.com/office/powerpoint/2010/main" val="7840810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71755" y="569826"/>
            <a:ext cx="11536498" cy="4291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599" b="1" kern="100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/>
              </a:rPr>
              <a:t>例</a:t>
            </a:r>
            <a:r>
              <a:rPr lang="en-US" altLang="zh-CN" sz="2599" b="1" kern="100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/>
              </a:rPr>
              <a:t>1</a:t>
            </a:r>
            <a:r>
              <a:rPr lang="zh-CN" altLang="zh-CN" sz="2599" kern="100" dirty="0"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　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某人骑自行车沿一平面斜坡直线行驶，从坡底到坡顶，再从坡顶到坡底往返一次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已知上坡时的平均速度大小为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4m/s,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下坡时的平均速度大小为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6m/s,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则此人往返一次的平均速度大小是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(        )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A. 10 m/s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B. 5 m/s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C. 4.8 m/s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D. 0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04006" y="2133032"/>
            <a:ext cx="647922" cy="36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D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7556" y="5222301"/>
            <a:ext cx="9339958" cy="36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补充：全程平均速率是多少？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12345" y="5228575"/>
            <a:ext cx="647922" cy="36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2" grpId="1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71755" y="569826"/>
            <a:ext cx="11536498" cy="2491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599" b="1" kern="100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/>
              </a:rPr>
              <a:t>例</a:t>
            </a:r>
            <a:r>
              <a:rPr lang="en-US" altLang="zh-CN" sz="2599" b="1" kern="100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/>
              </a:rPr>
              <a:t>2</a:t>
            </a:r>
            <a:r>
              <a:rPr lang="zh-CN" altLang="zh-CN" sz="2599" kern="100" dirty="0"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　汽车沿直线从甲地开往乙地,若前一半路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程的平均速度为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baseline="-250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1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,后一半路程的平均速度为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baseline="-250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2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,则汽车全程的平均速度为多少？若汽车在全程的前一半时间的平均速度为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baseline="-250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1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,后一半时间的平均速度为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baseline="-250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2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,则全程的平均速度为多少？哪种情况下的平均速度大？</a:t>
            </a:r>
            <a:endParaRPr lang="en-US" altLang="zh-CN" sz="2599" kern="100" baseline="-25000" dirty="0">
              <a:latin typeface="Times New Roman" panose="02020603050405020304"/>
              <a:ea typeface="微软雅黑" panose="020B0503020204020204" pitchFamily="34" charset="-122"/>
              <a:cs typeface="Courier New" panose="020703090202050204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24996" y="5444500"/>
                <a:ext cx="11265467" cy="5182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rgbClr val="FF0000"/>
                    </a:solidFill>
                  </a:rPr>
                  <a:t>答：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;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,第二种情况平均速度大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96" y="5444500"/>
                <a:ext cx="11265467" cy="518227"/>
              </a:xfrm>
              <a:prstGeom prst="rect">
                <a:avLst/>
              </a:prstGeom>
              <a:blipFill>
                <a:blip r:embed="rId2"/>
                <a:stretch>
                  <a:fillRect l="-487" b="-1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624996" y="5159647"/>
            <a:ext cx="4751428" cy="9065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71755" y="569827"/>
            <a:ext cx="11536498" cy="3691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599" b="1" kern="100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/>
              </a:rPr>
              <a:t>例</a:t>
            </a:r>
            <a:r>
              <a:rPr lang="en-US" altLang="zh-CN" sz="2599" b="1" kern="100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/>
              </a:rPr>
              <a:t>3</a:t>
            </a:r>
            <a:r>
              <a:rPr lang="zh-CN" altLang="zh-CN" sz="2599" kern="100" dirty="0"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　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A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、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B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、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C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三物体同时同地出发做直线运动，它们的运动情况如图所示，则在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20s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的时间内，它们的平均速率关系是（         ）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 err="1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A.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799" kern="100" baseline="-25000" dirty="0" err="1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A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=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baseline="-25000" dirty="0" err="1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B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=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baseline="-25000" dirty="0" err="1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C</a:t>
            </a:r>
            <a:endParaRPr lang="en-US" altLang="zh-CN" sz="2599" kern="100" baseline="-25000" dirty="0">
              <a:latin typeface="Times New Roman" panose="02020603050405020304"/>
              <a:ea typeface="微软雅黑" panose="020B0503020204020204" pitchFamily="34" charset="-122"/>
              <a:cs typeface="Courier New" panose="02070309020205020404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599" kern="100" dirty="0" err="1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B.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baseline="-25000" dirty="0" err="1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A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＞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baseline="-25000" dirty="0" err="1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B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=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baseline="-25000" dirty="0" err="1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C</a:t>
            </a:r>
            <a:endParaRPr lang="en-US" altLang="zh-CN" sz="2599" kern="100" baseline="-25000" dirty="0">
              <a:latin typeface="Times New Roman" panose="02020603050405020304"/>
              <a:ea typeface="微软雅黑" panose="020B0503020204020204" pitchFamily="34" charset="-122"/>
              <a:cs typeface="Courier New" panose="02070309020205020404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599" kern="100" dirty="0" err="1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C.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baseline="-25000" dirty="0" err="1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A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＞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baseline="-25000" dirty="0" err="1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C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＞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baseline="-25000" dirty="0" err="1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B</a:t>
            </a:r>
            <a:endParaRPr lang="en-US" altLang="zh-CN" sz="2599" kern="100" baseline="-25000" dirty="0">
              <a:latin typeface="Times New Roman" panose="02020603050405020304"/>
              <a:ea typeface="微软雅黑" panose="020B0503020204020204" pitchFamily="34" charset="-122"/>
              <a:cs typeface="Courier New" panose="02070309020205020404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599" kern="100" dirty="0" err="1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D.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baseline="-25000" dirty="0" err="1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A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=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baseline="-25000" dirty="0" err="1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B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＜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baseline="-25000" dirty="0" err="1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C</a:t>
            </a:r>
            <a:endParaRPr lang="en-US" altLang="zh-CN" sz="2599" kern="100" baseline="-25000" dirty="0">
              <a:latin typeface="Times New Roman" panose="02020603050405020304"/>
              <a:ea typeface="微软雅黑" panose="020B0503020204020204" pitchFamily="34" charset="-122"/>
              <a:cs typeface="Courier New" panose="020703090202050204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31887" y="1341251"/>
            <a:ext cx="647922" cy="36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B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03426" name="Picture 2" descr="https://gss0.baidu.com/-fo3dSag_xI4khGko9WTAnF6hhy/zhidao/pic/item/8718367adab44aede03db552b01c8701a18bfb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079" y="2277139"/>
            <a:ext cx="2171557" cy="1851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427556" y="5222301"/>
            <a:ext cx="9339958" cy="36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补充：</a:t>
            </a:r>
            <a:r>
              <a:rPr lang="zh-CN" altLang="en-US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  <a:sym typeface="+mn-ea"/>
              </a:rPr>
              <a:t>在</a:t>
            </a:r>
            <a:r>
              <a:rPr lang="en-US" altLang="zh-CN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  <a:sym typeface="+mn-ea"/>
              </a:rPr>
              <a:t>20s</a:t>
            </a:r>
            <a:r>
              <a:rPr lang="zh-CN" altLang="en-US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  <a:sym typeface="+mn-ea"/>
              </a:rPr>
              <a:t>的时间内，它们的平均速度关系是</a:t>
            </a:r>
            <a:r>
              <a:rPr lang="zh-CN" altLang="en-US"/>
              <a:t>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031887" y="5220838"/>
            <a:ext cx="647922" cy="36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A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2" grpId="1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37855" y="549347"/>
            <a:ext cx="11421037" cy="3091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zh-CN" altLang="zh-CN" sz="2599" b="1" kern="100" dirty="0">
                <a:solidFill>
                  <a:srgbClr val="0000FF"/>
                </a:solidFill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例</a:t>
            </a:r>
            <a:r>
              <a:rPr lang="en-US" altLang="zh-CN" sz="2599" b="1" kern="100" dirty="0">
                <a:solidFill>
                  <a:srgbClr val="0000FF"/>
                </a:solidFill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4</a:t>
            </a:r>
            <a:r>
              <a:rPr lang="zh-CN" altLang="zh-CN" sz="2599" kern="100" dirty="0"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　</a:t>
            </a:r>
            <a:r>
              <a:rPr lang="zh-CN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一质点沿直线</a:t>
            </a:r>
            <a:r>
              <a:rPr lang="en-US" altLang="zh-CN" sz="2599" i="1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Ox</a:t>
            </a:r>
            <a:r>
              <a:rPr lang="zh-CN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方向做变速运动，它离开</a:t>
            </a:r>
            <a:r>
              <a:rPr lang="en-US" altLang="zh-CN" sz="2599" i="1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O</a:t>
            </a:r>
            <a:r>
              <a:rPr lang="zh-CN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点的距离</a:t>
            </a:r>
            <a:r>
              <a:rPr lang="en-US" altLang="zh-CN" sz="2599" i="1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x</a:t>
            </a:r>
            <a:r>
              <a:rPr lang="zh-CN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随时间</a:t>
            </a:r>
            <a:r>
              <a:rPr lang="en-US" altLang="zh-CN" sz="2599" i="1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t</a:t>
            </a:r>
            <a:r>
              <a:rPr lang="zh-CN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变化的关系为</a:t>
            </a:r>
            <a:r>
              <a:rPr lang="en-US" altLang="zh-CN" sz="2599" i="1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x</a:t>
            </a:r>
            <a:r>
              <a:rPr lang="zh-CN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＝</a:t>
            </a:r>
            <a:r>
              <a:rPr lang="en-US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(5</a:t>
            </a:r>
            <a:r>
              <a:rPr lang="zh-CN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＋</a:t>
            </a:r>
            <a:r>
              <a:rPr lang="en-US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2</a:t>
            </a:r>
            <a:r>
              <a:rPr lang="en-US" altLang="zh-CN" sz="2599" i="1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t</a:t>
            </a:r>
            <a:r>
              <a:rPr lang="en-US" altLang="zh-CN" sz="2599" kern="100" baseline="300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3</a:t>
            </a:r>
            <a:r>
              <a:rPr lang="en-US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) m</a:t>
            </a:r>
            <a:r>
              <a:rPr lang="zh-CN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，该质点在</a:t>
            </a:r>
            <a:r>
              <a:rPr lang="en-US" altLang="zh-CN" sz="2599" i="1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t</a:t>
            </a:r>
            <a:r>
              <a:rPr lang="zh-CN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＝</a:t>
            </a:r>
            <a:r>
              <a:rPr lang="en-US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2 s</a:t>
            </a:r>
            <a:r>
              <a:rPr lang="zh-CN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时的速度和</a:t>
            </a:r>
            <a:r>
              <a:rPr lang="en-US" altLang="zh-CN" sz="2599" i="1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t</a:t>
            </a:r>
            <a:r>
              <a:rPr lang="zh-CN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＝</a:t>
            </a:r>
            <a:r>
              <a:rPr lang="en-US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2 s</a:t>
            </a:r>
            <a:r>
              <a:rPr lang="zh-CN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到</a:t>
            </a:r>
            <a:r>
              <a:rPr lang="en-US" altLang="zh-CN" sz="2599" i="1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t</a:t>
            </a:r>
            <a:r>
              <a:rPr lang="zh-CN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＝</a:t>
            </a:r>
            <a:r>
              <a:rPr lang="en-US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3 s</a:t>
            </a:r>
            <a:r>
              <a:rPr lang="zh-CN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时间内的平均速度的大小分别为</a:t>
            </a:r>
            <a:r>
              <a:rPr lang="zh-CN" altLang="en-US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（      ）</a:t>
            </a:r>
            <a:endParaRPr lang="zh-CN" altLang="zh-CN" sz="1050" kern="100" dirty="0">
              <a:solidFill>
                <a:prstClr val="black"/>
              </a:solidFill>
              <a:latin typeface="宋体" panose="02010600030101010101" pitchFamily="2" charset="-122"/>
              <a:cs typeface="Courier New" panose="02070309020205020404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A.24 m/s　39 m/s  		           B.24 m/s　38 m/s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599" kern="100" dirty="0">
                <a:solidFill>
                  <a:prstClr val="black"/>
                </a:solidFill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C.12 m/s　19.5 m/s  		D.24 m/s　13 m/s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12407" y="1864786"/>
            <a:ext cx="647922" cy="36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B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71755" y="569826"/>
            <a:ext cx="11536498" cy="369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599" b="1" kern="100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/>
              </a:rPr>
              <a:t>例</a:t>
            </a:r>
            <a:r>
              <a:rPr lang="en-US" altLang="zh-CN" sz="2599" b="1" kern="100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/>
              </a:rPr>
              <a:t>5</a:t>
            </a:r>
            <a:r>
              <a:rPr lang="zh-CN" altLang="zh-CN" sz="2599" kern="100" dirty="0"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　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一个做变速直线运动的物体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加速度逐渐减小到零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那么该物体的运动情况可能是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(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　　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)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A.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速度不断增大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到加速度为零时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速度达到最大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而后做匀速直线运动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B.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速度不断减小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到加速度为零时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物体做匀减速直线运动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而后物体停止运动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C.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速度不断减小到零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然后向相反方向做加速运动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而后物体做匀速直线运动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D.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速度不断减小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到加速度为零时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速度减小到最小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而后物体做匀速直线运动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76520" y="1341251"/>
            <a:ext cx="1079870" cy="36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ACD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71755" y="569827"/>
            <a:ext cx="11536498" cy="3691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599" b="1" kern="100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/>
              </a:rPr>
              <a:t>例</a:t>
            </a:r>
            <a:r>
              <a:rPr lang="en-US" altLang="zh-CN" sz="2599" b="1" kern="100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/>
              </a:rPr>
              <a:t>6</a:t>
            </a:r>
            <a:r>
              <a:rPr lang="zh-CN" altLang="zh-CN" sz="2599" kern="100" dirty="0"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　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一个以初速度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baseline="-250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0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沿直线运动的物体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en-US" altLang="zh-CN" sz="2599" i="1" kern="100" dirty="0" err="1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t </a:t>
            </a:r>
            <a:r>
              <a:rPr lang="en-US" altLang="zh-CN" sz="2599" kern="100" dirty="0" err="1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s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末速度为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baseline="-250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1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如图所示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则下列说法中正确的是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(          )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A. 0∼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t 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s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内的平均加速度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a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=(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baseline="-250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1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−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baseline="-250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0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)/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t</a:t>
            </a:r>
            <a:endParaRPr lang="en-US" altLang="zh-CN" sz="2599" kern="100" dirty="0">
              <a:latin typeface="Times New Roman" panose="02020603050405020304"/>
              <a:ea typeface="微软雅黑" panose="020B0503020204020204" pitchFamily="34" charset="-122"/>
              <a:cs typeface="Courier New" panose="02070309020205020404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B. 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t </a:t>
            </a:r>
            <a:r>
              <a:rPr lang="en-US" altLang="zh-CN" sz="2599" kern="100" dirty="0" err="1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s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之前，物体的瞬时加速度越来越小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C. 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t 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=0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时的瞬时加速度为零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D. 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t </a:t>
            </a:r>
            <a:r>
              <a:rPr lang="en-US" altLang="zh-CN" sz="2599" kern="100" dirty="0" err="1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s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之前，物体的平均加速度和瞬时加速度的方向相同</a:t>
            </a:r>
            <a:endParaRPr lang="en-US" altLang="zh-CN" sz="2599" kern="100" dirty="0">
              <a:latin typeface="Times New Roman" panose="02020603050405020304"/>
              <a:ea typeface="微软雅黑" panose="020B0503020204020204" pitchFamily="34" charset="-122"/>
              <a:cs typeface="Courier New" panose="020703090202050204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92494" y="1341251"/>
            <a:ext cx="1151861" cy="36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ABD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679" y="1353090"/>
            <a:ext cx="2951645" cy="25826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371755" y="569826"/>
                <a:ext cx="11536498" cy="4503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zh-CN" sz="2599" b="1" kern="100" dirty="0">
                    <a:solidFill>
                      <a:srgbClr val="0000FF"/>
                    </a:solidFill>
                    <a:latin typeface="+mj-ea"/>
                    <a:ea typeface="+mj-ea"/>
                    <a:cs typeface="Times New Roman" panose="02020603050405020304"/>
                  </a:rPr>
                  <a:t>例</a:t>
                </a:r>
                <a:r>
                  <a:rPr lang="en-US" altLang="zh-CN" sz="2599" b="1" kern="100" dirty="0">
                    <a:solidFill>
                      <a:srgbClr val="0000FF"/>
                    </a:solidFill>
                    <a:latin typeface="+mj-ea"/>
                    <a:ea typeface="+mj-ea"/>
                    <a:cs typeface="Times New Roman" panose="02020603050405020304"/>
                  </a:rPr>
                  <a:t>7</a:t>
                </a:r>
                <a:r>
                  <a:rPr lang="zh-CN" altLang="zh-CN" sz="2599" kern="100" dirty="0">
                    <a:latin typeface="Times New Roman" panose="02020603050405020304"/>
                    <a:ea typeface="微软雅黑" panose="020B0503020204020204" pitchFamily="34" charset="-122"/>
                    <a:cs typeface="Times New Roman" panose="02020603050405020304"/>
                  </a:rPr>
                  <a:t>　</a:t>
                </a:r>
                <a:r>
                  <a:rPr lang="zh-CN" altLang="en-US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某物体沿</a:t>
                </a:r>
                <a:r>
                  <a:rPr lang="en-US" altLang="zh-CN" sz="2599" i="1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x</a:t>
                </a:r>
                <a:r>
                  <a:rPr lang="zh-CN" altLang="en-US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轴方向从</a:t>
                </a:r>
                <a:r>
                  <a:rPr lang="en-US" altLang="zh-CN" sz="2599" i="1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x</a:t>
                </a:r>
                <a:r>
                  <a:rPr lang="en-US" altLang="zh-CN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=0</a:t>
                </a:r>
                <a:r>
                  <a:rPr lang="zh-CN" altLang="en-US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处由静止开始运动</a:t>
                </a:r>
                <a:r>
                  <a:rPr lang="en-US" altLang="zh-CN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,</a:t>
                </a:r>
                <a:r>
                  <a:rPr lang="zh-CN" altLang="en-US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其速度随位置变化的图像如图所示</a:t>
                </a:r>
                <a:r>
                  <a:rPr lang="en-US" altLang="zh-CN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,</a:t>
                </a:r>
                <a:r>
                  <a:rPr lang="zh-CN" altLang="en-US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由图可知</a:t>
                </a:r>
                <a:r>
                  <a:rPr lang="en-US" altLang="zh-CN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(        )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A.</a:t>
                </a:r>
                <a:r>
                  <a:rPr lang="zh-CN" altLang="en-US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物体做匀加速直线运动</a:t>
                </a:r>
                <a:endParaRPr lang="en-US" altLang="zh-CN" sz="2599" kern="100" dirty="0">
                  <a:latin typeface="Times New Roman" panose="02020603050405020304"/>
                  <a:ea typeface="微软雅黑" panose="020B0503020204020204" pitchFamily="34" charset="-122"/>
                  <a:cs typeface="Courier New" panose="02070309020205020404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B.</a:t>
                </a:r>
                <a:r>
                  <a:rPr lang="zh-CN" altLang="en-US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物体做加速度越来越大的加速运动</a:t>
                </a:r>
                <a:endParaRPr lang="en-US" altLang="zh-CN" sz="2599" kern="100" dirty="0">
                  <a:latin typeface="Times New Roman" panose="02020603050405020304"/>
                  <a:ea typeface="微软雅黑" panose="020B0503020204020204" pitchFamily="34" charset="-122"/>
                  <a:cs typeface="Courier New" panose="02070309020205020404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C.</a:t>
                </a:r>
                <a:r>
                  <a:rPr lang="zh-CN" altLang="en-US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物体在</a:t>
                </a:r>
                <a:r>
                  <a:rPr lang="en-US" altLang="zh-CN" sz="2599" i="1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x</a:t>
                </a:r>
                <a:r>
                  <a:rPr lang="en-US" altLang="zh-CN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=</a:t>
                </a:r>
                <a:r>
                  <a:rPr lang="en-US" altLang="zh-CN" sz="2599" i="1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x</a:t>
                </a:r>
                <a:r>
                  <a:rPr lang="en-US" altLang="zh-CN" sz="2599" kern="100" baseline="-250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1</a:t>
                </a:r>
                <a:r>
                  <a:rPr lang="zh-CN" altLang="en-US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处的加速度为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599" i="1" kern="1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ourier New" panose="02070309020205020404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599" i="1" kern="1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/>
                              </a:rPr>
                            </m:ctrlPr>
                          </m:sSubSupPr>
                          <m:e>
                            <m:r>
                              <a:rPr lang="en-US" altLang="zh-CN" sz="2599" i="1" kern="1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599" i="1" kern="1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599" i="1" kern="1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zh-CN" sz="2599" i="1" kern="1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/>
                              </a:rPr>
                            </m:ctrlPr>
                          </m:sSubPr>
                          <m:e>
                            <m:r>
                              <a:rPr lang="en-US" altLang="zh-CN" sz="2599" i="1" kern="1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599" i="1" kern="1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2599" kern="100" dirty="0">
                  <a:latin typeface="Times New Roman" panose="02020603050405020304"/>
                  <a:ea typeface="微软雅黑" panose="020B0503020204020204" pitchFamily="34" charset="-122"/>
                  <a:cs typeface="Courier New" panose="02070309020205020404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D.</a:t>
                </a:r>
                <a:r>
                  <a:rPr lang="zh-CN" altLang="en-US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物体在</a:t>
                </a:r>
                <a:r>
                  <a:rPr lang="en-US" altLang="zh-CN" sz="2599" i="1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x</a:t>
                </a:r>
                <a:r>
                  <a:rPr lang="en-US" altLang="zh-CN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=</a:t>
                </a:r>
                <a:r>
                  <a:rPr lang="en-US" altLang="zh-CN" sz="2599" i="1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x</a:t>
                </a:r>
                <a:r>
                  <a:rPr lang="en-US" altLang="zh-CN" sz="2599" kern="100" baseline="-250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1</a:t>
                </a:r>
                <a:r>
                  <a:rPr lang="zh-CN" altLang="en-US" sz="2599" kern="100" dirty="0">
                    <a:latin typeface="Times New Roman" panose="02020603050405020304"/>
                    <a:ea typeface="微软雅黑" panose="020B0503020204020204" pitchFamily="34" charset="-122"/>
                    <a:cs typeface="Courier New" panose="02070309020205020404"/>
                  </a:rPr>
                  <a:t>处的加速度为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599" i="1" kern="1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ourier New" panose="02070309020205020404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599" i="1" kern="1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/>
                              </a:rPr>
                            </m:ctrlPr>
                          </m:sSubSupPr>
                          <m:e>
                            <m:r>
                              <a:rPr lang="en-US" altLang="zh-CN" sz="2599" i="1" kern="1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599" i="1" kern="1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599" i="1" kern="1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zh-CN" sz="2599" i="1" kern="1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/>
                              </a:rPr>
                            </m:ctrlPr>
                          </m:sSubPr>
                          <m:e>
                            <m:r>
                              <a:rPr lang="en-US" altLang="zh-CN" sz="2599" i="1" kern="1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/>
                              </a:rPr>
                              <m:t>2</m:t>
                            </m:r>
                            <m:r>
                              <a:rPr lang="en-US" altLang="zh-CN" sz="2599" i="1" kern="1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599" i="1" kern="1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Courier New" panose="02070309020205020404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2599" kern="100" dirty="0">
                  <a:latin typeface="Times New Roman" panose="02020603050405020304"/>
                  <a:ea typeface="微软雅黑" panose="020B0503020204020204" pitchFamily="34" charset="-122"/>
                  <a:cs typeface="Courier New" panose="02070309020205020404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55" y="569826"/>
                <a:ext cx="11536498" cy="4503013"/>
              </a:xfrm>
              <a:prstGeom prst="rect">
                <a:avLst/>
              </a:prstGeom>
              <a:blipFill>
                <a:blip r:embed="rId2"/>
                <a:stretch>
                  <a:fillRect l="-951" r="-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2928386" y="1412989"/>
            <a:ext cx="1151861" cy="36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BC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1266" name="Picture 2" descr="imag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882" y="1413243"/>
            <a:ext cx="5854434" cy="3239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71755" y="569826"/>
            <a:ext cx="11536498" cy="1221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599" b="1" kern="100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/>
              </a:rPr>
              <a:t>例</a:t>
            </a:r>
            <a:r>
              <a:rPr lang="en-US" altLang="zh-CN" sz="2599" b="1" kern="100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/>
              </a:rPr>
              <a:t>8</a:t>
            </a:r>
            <a:r>
              <a:rPr lang="zh-CN" altLang="zh-CN" sz="2599" kern="100" dirty="0"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　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一物体做直线运动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其加速度随时间变化的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a 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− 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t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图象如图所示。下列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−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t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图象中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可能正确描述此物体运动的是（ ）</a:t>
            </a:r>
            <a:endParaRPr lang="en-US" altLang="zh-CN" sz="2599" i="1" kern="100" dirty="0">
              <a:latin typeface="Times New Roman" panose="02020603050405020304"/>
              <a:ea typeface="微软雅黑" panose="020B0503020204020204" pitchFamily="34" charset="-122"/>
              <a:cs typeface="Courier New" panose="020703090202050204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16043" y="1343033"/>
            <a:ext cx="647922" cy="36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D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7571" y="1316801"/>
            <a:ext cx="3130682" cy="204233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45" y="2049749"/>
            <a:ext cx="3277890" cy="346699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682" y="2081524"/>
            <a:ext cx="2937542" cy="3435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71755" y="569827"/>
            <a:ext cx="11536498" cy="3691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599" b="1" kern="100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/>
              </a:rPr>
              <a:t>例</a:t>
            </a:r>
            <a:r>
              <a:rPr lang="en-US" altLang="zh-CN" sz="2599" b="1" kern="100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/>
              </a:rPr>
              <a:t>9</a:t>
            </a:r>
            <a:r>
              <a:rPr lang="zh-CN" altLang="zh-CN" sz="2599" kern="100" dirty="0"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　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某质点做直线运动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运动速率的倒数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1/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与位移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x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的关系如图所示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关于质点运动的下列说法正确的是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(       )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A. 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质点做匀加速直线运动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B. 1/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−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x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图线斜率等于质点运动加速度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C. 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四边形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AA′B′B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面积可表示质点运动时间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D. 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四边形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BB′C′C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面积可表示质点运动时间</a:t>
            </a:r>
            <a:endParaRPr lang="en-US" altLang="zh-CN" sz="2599" i="1" kern="100" dirty="0">
              <a:latin typeface="Times New Roman" panose="02020603050405020304"/>
              <a:ea typeface="微软雅黑" panose="020B0503020204020204" pitchFamily="34" charset="-122"/>
              <a:cs typeface="Courier New" panose="020703090202050204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40199" y="1341251"/>
            <a:ext cx="647922" cy="36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CD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909" y="1229110"/>
            <a:ext cx="2951645" cy="30118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71755" y="569827"/>
            <a:ext cx="11536498" cy="3691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599" b="1" kern="100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/>
              </a:rPr>
              <a:t>例</a:t>
            </a:r>
            <a:r>
              <a:rPr lang="en-US" altLang="zh-CN" sz="2599" b="1" kern="100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/>
              </a:rPr>
              <a:t>10</a:t>
            </a:r>
            <a:r>
              <a:rPr lang="zh-CN" altLang="zh-CN" sz="2599" kern="100" dirty="0"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　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甲、乙两车在同一直线上同方向运动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两车运动的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v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−</a:t>
            </a:r>
            <a:r>
              <a:rPr lang="en-US" altLang="zh-CN" sz="2599" i="1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t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图象如图所示。在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4s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末两车相遇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由图可知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(      )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A. 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甲车的速度变化比乙车快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B. 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乙车出发时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  <a:sym typeface="+mn-ea"/>
              </a:rPr>
              <a:t>甲车与乙车距离为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  <a:sym typeface="+mn-ea"/>
              </a:rPr>
              <a:t>1.5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m</a:t>
            </a:r>
            <a:endParaRPr lang="zh-CN" altLang="en-US" sz="2599" kern="100" dirty="0">
              <a:latin typeface="Times New Roman" panose="02020603050405020304"/>
              <a:ea typeface="微软雅黑" panose="020B0503020204020204" pitchFamily="34" charset="-122"/>
              <a:cs typeface="Courier New" panose="02070309020205020404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C. 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乙车出发时甲车与乙车距离为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4m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D. 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相遇前甲、乙两车的最远距离为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4m</a:t>
            </a:r>
            <a:endParaRPr lang="en-US" altLang="zh-CN" sz="2599" i="1" kern="100" dirty="0">
              <a:latin typeface="Times New Roman" panose="02020603050405020304"/>
              <a:ea typeface="微软雅黑" panose="020B0503020204020204" pitchFamily="34" charset="-122"/>
              <a:cs typeface="Courier New" panose="020703090202050204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04312" y="1341251"/>
            <a:ext cx="647922" cy="36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D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31" y="1350428"/>
            <a:ext cx="4319480" cy="27201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71755" y="569826"/>
            <a:ext cx="11536498" cy="369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599" b="1" kern="100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/>
              </a:rPr>
              <a:t>例</a:t>
            </a:r>
            <a:r>
              <a:rPr lang="en-US" altLang="zh-CN" sz="2599" b="1" kern="100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/>
              </a:rPr>
              <a:t>11</a:t>
            </a:r>
            <a:r>
              <a:rPr lang="zh-CN" altLang="zh-CN" sz="2599" kern="100" dirty="0">
                <a:latin typeface="Times New Roman" panose="02020603050405020304"/>
                <a:ea typeface="微软雅黑" panose="020B0503020204020204" pitchFamily="34" charset="-122"/>
                <a:cs typeface="Times New Roman" panose="02020603050405020304"/>
              </a:rPr>
              <a:t>　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甲乙两物体沿同一方向做直线运动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他们的速度时间图象如图所示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在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2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秒末乙车在甲车的前面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3m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处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,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以下说法正确的是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(        )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A. 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前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4s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内，两车平均速度大小相等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B. 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在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6s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末两车相遇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C. 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在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0∼6s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内，两车相遇两次</a:t>
            </a:r>
          </a:p>
          <a:p>
            <a:pPr algn="just">
              <a:lnSpc>
                <a:spcPct val="150000"/>
              </a:lnSpc>
            </a:pP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D. 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在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0∼6s</a:t>
            </a:r>
            <a:r>
              <a:rPr lang="zh-CN" altLang="en-US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内，两车之间最远的距离为</a:t>
            </a:r>
            <a:r>
              <a:rPr lang="en-US" altLang="zh-CN" sz="2599" kern="100" dirty="0">
                <a:latin typeface="Times New Roman" panose="02020603050405020304"/>
                <a:ea typeface="微软雅黑" panose="020B0503020204020204" pitchFamily="34" charset="-122"/>
                <a:cs typeface="Courier New" panose="02070309020205020404"/>
              </a:rPr>
              <a:t>4m</a:t>
            </a:r>
            <a:endParaRPr lang="en-US" altLang="zh-CN" sz="2599" i="1" kern="100" dirty="0">
              <a:latin typeface="Times New Roman" panose="02020603050405020304"/>
              <a:ea typeface="微软雅黑" panose="020B0503020204020204" pitchFamily="34" charset="-122"/>
              <a:cs typeface="Courier New" panose="020703090202050204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75870" y="1321881"/>
            <a:ext cx="647922" cy="36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D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267" y="2014910"/>
            <a:ext cx="4370963" cy="22473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NzEzYzViODdmYWUzNjJjNDY4OGQxN2ZhMWM3MzA4NTAifQ=="/>
  <p:tag name="KSO_WPP_MARK_KEY" val="e4dd7c2b-3ed1-460c-a6df-57fab0872a0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9"/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4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2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STATE" val="0"/>
  <p:tag name="KSO_WM_UNIT_MEDIACOVER_TRANSPARENCY" val="0.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3"/>
  <p:tag name="KSO_WM_BEAUTIFY_FLAG" val=""/>
  <p:tag name="KSO_WM_UNIT_TABLE_BEAUTIFY" val="smartTable{8a0a8e31-c88b-489a-8bbf-a7328b8baedf}"/>
  <p:tag name="TABLE_ENDDRAG_ORIGIN_RECT" val="845*282"/>
  <p:tag name="TABLE_ENDDRAG_RECT" val="46*143*846*28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4"/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5"/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1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2"/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3"/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8"/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6"/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7"/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0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1"/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1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2"/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5"/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7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8"/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9"/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60"/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61"/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62"/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71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7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5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6"/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7"/>
  <p:tag name="KSO_WM_BEAUTIFY_FLAG" val=""/>
  <p:tag name="KSO_WM_UNIT_TABLE_BEAUTIFY" val="smartTable{17941980-3250-4d4d-b5d7-9b2e4e7a4048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8"/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9"/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3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7"/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1"/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9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6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9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7"/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7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1"/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9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9"/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0"/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91"/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5"/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7"/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8"/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0"/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5"/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6"/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04"/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8"/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9"/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7"/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8"/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7"/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8"/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5"/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6"/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8"/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9"/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04"/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0"/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2"/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4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7"/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5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1"/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6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9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7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9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5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7"/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8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1"/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9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9"/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0"/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91"/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5"/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7"/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8"/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0"/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4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5"/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6"/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04"/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8"/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9"/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7"/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8"/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7"/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8"/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5"/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6"/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8"/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9"/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3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04"/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0"/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2"/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7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8"/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9"/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1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2"/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3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4"/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5"/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6"/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7"/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8"/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0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7"/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2"/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3"/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4"/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5"/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6"/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0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1"/>
  <p:tag name="KSO_WM_BEAUTIFY_FLAG" val=""/>
  <p:tag name="KSO_WM_UNIT_PLACING_PICTURE_USER_VIEWPORT" val="{&quot;height&quot;:8434,&quot;width&quot;:8142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2"/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3"/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4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6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7"/>
  <p:tag name="KSO_WM_BEAUTIFY_FLAG" val=""/>
  <p:tag name="KSO_WM_UNIT_PLACING_PICTURE_USER_VIEWPORT" val="{&quot;height&quot;:8434,&quot;width&quot;:8142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8"/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9"/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2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3"/>
  <p:tag name="KSO_WM_BEAUTIFY_FLAG" val=""/>
  <p:tag name="KSO_WM_UNIT_PLACING_PICTURE_USER_VIEWPORT" val="{&quot;height&quot;:8434,&quot;width&quot;:8142}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4"/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5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6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7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8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9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1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2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3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4"/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5"/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6"/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7"/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8"/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9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0"/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2"/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3"/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4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3"/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5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0"/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1"/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2"/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6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9"/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7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9"/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0"/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1"/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2"/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3"/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4"/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5"/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6"/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7"/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8"/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8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1"/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2"/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3"/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4"/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5"/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6"/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7"/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8"/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9"/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0"/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5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6"/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7"/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8"/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9"/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0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1"/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2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4"/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5"/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6"/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7"/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8"/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9"/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0"/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1"/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2"/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3"/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4"/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5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8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4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5"/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6"/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2"/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3"/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9"/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0"/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6"/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7"/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3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6"/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7"/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8"/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9"/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0"/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1"/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2"/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3"/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4"/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5"/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8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9"/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0"/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1"/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2"/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3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4"/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5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7"/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"/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9"/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0"/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1"/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2"/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3"/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4"/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5"/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6"/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7"/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8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4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7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8"/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9"/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5"/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6"/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2"/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3"/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9"/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0"/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6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9"/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0"/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1"/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2"/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3"/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4"/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5"/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6"/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7"/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8"/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1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2"/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3"/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4"/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5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6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9"/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0"/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1"/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2"/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3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6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9"/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0"/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7"/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8"/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4"/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5"/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7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9"/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0"/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1"/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2"/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3"/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4"/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5"/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6"/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7"/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8"/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8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1"/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2"/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3"/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4"/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5"/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6"/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7"/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8"/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9"/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0"/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2"/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3"/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4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5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8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1"/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2"/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3"/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4"/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5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8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1"/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2"/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2"/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2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3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6"/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7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2"/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0"/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8"/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9"/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4"/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5"/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9"/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0"/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6"/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7"/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9"/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0"/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6"/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7"/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2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3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4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6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7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8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0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0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1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2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4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5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6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7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400" dirty="0" smtClean="0">
            <a:latin typeface="思源黑体 CN Light" panose="020B0400000000000000" pitchFamily="34" charset="-122"/>
            <a:ea typeface="思源黑体 CN Light" panose="020B04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Source Han Sans Bold"/>
        <a:ea typeface="Source Han Sans Bold"/>
        <a:cs typeface="Arial"/>
      </a:majorFont>
      <a:minorFont>
        <a:latin typeface="Source Han Sans Light"/>
        <a:ea typeface="Source Han Sans Light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2559</Words>
  <Application>Microsoft Office PowerPoint</Application>
  <PresentationFormat>宽屏</PresentationFormat>
  <Paragraphs>320</Paragraphs>
  <Slides>37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7" baseType="lpstr">
      <vt:lpstr>黑体</vt:lpstr>
      <vt:lpstr>宋体</vt:lpstr>
      <vt:lpstr>思源黑体 CN Bold</vt:lpstr>
      <vt:lpstr>Times New Roman</vt:lpstr>
      <vt:lpstr>Arial</vt:lpstr>
      <vt:lpstr>Wingdings</vt:lpstr>
      <vt:lpstr>思源黑体 CN Light</vt:lpstr>
      <vt:lpstr>Cambria Math</vt:lpstr>
      <vt:lpstr>Office 主题​​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学科网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rbm.xkw.com</dc:creator>
  <cp:lastModifiedBy>hu bo</cp:lastModifiedBy>
  <cp:revision>5</cp:revision>
  <cp:lastPrinted>2023-07-24T10:51:44Z</cp:lastPrinted>
  <dcterms:created xsi:type="dcterms:W3CDTF">2023-07-24T10:51:44Z</dcterms:created>
  <dcterms:modified xsi:type="dcterms:W3CDTF">2024-09-18T01:07:18Z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
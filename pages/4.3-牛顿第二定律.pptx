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1390.xml" ContentType="application/vnd.openxmlformats-officedocument.presentationml.tags+xml"/>
  <Override PartName="/ppt/tags/tag1410.xml" ContentType="application/vnd.openxmlformats-officedocument.presentationml.tags+xml"/>
  <Override PartName="/ppt/tags/tag1510.xml" ContentType="application/vnd.openxmlformats-officedocument.presentationml.tags+xml"/>
  <Override PartName="/ppt/tags/tag1530.xml" ContentType="application/vnd.openxmlformats-officedocument.presentationml.tags+xml"/>
  <Override PartName="/ppt/tags/tag1550.xml" ContentType="application/vnd.openxmlformats-officedocument.presentationml.tags+xml"/>
  <Override PartName="/ppt/tags/tag1830.xml" ContentType="application/vnd.openxmlformats-officedocument.presentationml.tags+xml"/>
  <Override PartName="/ppt/tags/tag1850.xml" ContentType="application/vnd.openxmlformats-officedocument.presentationml.tags+xml"/>
  <Override PartName="/ppt/tags/tag1870.xml" ContentType="application/vnd.openxmlformats-officedocument.presentationml.tags+xml"/>
  <Override PartName="/ppt/tags/tag2320.xml" ContentType="application/vnd.openxmlformats-officedocument.presentationml.tags+xml"/>
  <Override PartName="/ppt/tags/tag2350.xml" ContentType="application/vnd.openxmlformats-officedocument.presentationml.tags+xml"/>
  <Override PartName="/ppt/tags/tag2590.xml" ContentType="application/vnd.openxmlformats-officedocument.presentationml.tags+xml"/>
  <Override PartName="/ppt/tags/tag2610.xml" ContentType="application/vnd.openxmlformats-officedocument.presentationml.tags+xml"/>
  <Override PartName="/ppt/tags/tag2630.xml" ContentType="application/vnd.openxmlformats-officedocument.presentationml.tags+xml"/>
  <Override PartName="/ppt/tags/tag3150.xml" ContentType="application/vnd.openxmlformats-officedocument.presentationml.tags+xml"/>
  <Override PartName="/ppt/tags/tag318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6" r:id="rId2"/>
    <p:sldId id="258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81" r:id="rId12"/>
    <p:sldId id="282" r:id="rId13"/>
    <p:sldId id="283" r:id="rId14"/>
    <p:sldId id="5011" r:id="rId15"/>
    <p:sldId id="5012" r:id="rId16"/>
    <p:sldId id="5013" r:id="rId17"/>
    <p:sldId id="5014" r:id="rId18"/>
    <p:sldId id="5015" r:id="rId19"/>
    <p:sldId id="5019" r:id="rId20"/>
    <p:sldId id="5020" r:id="rId21"/>
    <p:sldId id="293" r:id="rId22"/>
    <p:sldId id="294" r:id="rId23"/>
    <p:sldId id="276" r:id="rId24"/>
    <p:sldId id="264" r:id="rId25"/>
    <p:sldId id="277" r:id="rId26"/>
    <p:sldId id="295" r:id="rId27"/>
    <p:sldId id="278" r:id="rId28"/>
    <p:sldId id="279" r:id="rId29"/>
    <p:sldId id="280" r:id="rId30"/>
    <p:sldId id="265" r:id="rId31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2326640" cy="812800"/>
            <a:chOff x="1070" y="-166"/>
            <a:chExt cx="3664" cy="1280"/>
          </a:xfrm>
        </p:grpSpPr>
        <p:sp>
          <p:nvSpPr>
            <p:cNvPr id="13" name="平行四边形 12"/>
            <p:cNvSpPr/>
            <p:nvPr>
              <p:custDataLst>
                <p:tags r:id="rId2"/>
              </p:custDataLst>
            </p:nvPr>
          </p:nvSpPr>
          <p:spPr>
            <a:xfrm>
              <a:off x="1640" y="304"/>
              <a:ext cx="3094" cy="810"/>
            </a:xfrm>
            <a:prstGeom prst="parallelogram">
              <a:avLst>
                <a:gd name="adj" fmla="val 24995"/>
              </a:avLst>
            </a:prstGeom>
            <a:solidFill>
              <a:srgbClr val="FFBF53"/>
            </a:solidFill>
            <a:ln w="12700">
              <a:noFill/>
            </a:ln>
          </p:spPr>
          <p:txBody>
            <a:bodyPr anchor="ctr" anchorCtr="0"/>
            <a:lstStyle/>
            <a:p>
              <a:pPr algn="ctr"/>
              <a:r>
                <a:rPr lang="zh-CN" altLang="en-US" sz="26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学习目标</a:t>
              </a:r>
            </a:p>
          </p:txBody>
        </p:sp>
        <p:pic>
          <p:nvPicPr>
            <p:cNvPr id="14" name="图片 13" descr="水星_#33333850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5"/>
            <a:srcRect b="12800"/>
            <a:stretch>
              <a:fillRect/>
            </a:stretch>
          </p:blipFill>
          <p:spPr>
            <a:xfrm>
              <a:off x="1070" y="-166"/>
              <a:ext cx="952" cy="831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2326640" cy="812800"/>
            <a:chOff x="1070" y="-166"/>
            <a:chExt cx="3664" cy="1280"/>
          </a:xfrm>
        </p:grpSpPr>
        <p:sp>
          <p:nvSpPr>
            <p:cNvPr id="13" name="平行四边形 12"/>
            <p:cNvSpPr/>
            <p:nvPr>
              <p:custDataLst>
                <p:tags r:id="rId2"/>
              </p:custDataLst>
            </p:nvPr>
          </p:nvSpPr>
          <p:spPr>
            <a:xfrm>
              <a:off x="1640" y="304"/>
              <a:ext cx="3094" cy="810"/>
            </a:xfrm>
            <a:prstGeom prst="parallelogram">
              <a:avLst>
                <a:gd name="adj" fmla="val 24995"/>
              </a:avLst>
            </a:prstGeom>
            <a:solidFill>
              <a:srgbClr val="FFBF53"/>
            </a:solidFill>
            <a:ln w="12700">
              <a:noFill/>
            </a:ln>
          </p:spPr>
          <p:txBody>
            <a:bodyPr anchor="ctr" anchorCtr="0"/>
            <a:lstStyle/>
            <a:p>
              <a:pPr algn="ctr"/>
              <a:r>
                <a:rPr lang="zh-CN" altLang="en-US" sz="26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新课导入</a:t>
              </a:r>
            </a:p>
          </p:txBody>
        </p:sp>
        <p:pic>
          <p:nvPicPr>
            <p:cNvPr id="14" name="图片 13" descr="水星_#33333850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5"/>
            <a:srcRect b="12800"/>
            <a:stretch>
              <a:fillRect/>
            </a:stretch>
          </p:blipFill>
          <p:spPr>
            <a:xfrm>
              <a:off x="1070" y="-166"/>
              <a:ext cx="952" cy="831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2326640" cy="812800"/>
            <a:chOff x="1070" y="-166"/>
            <a:chExt cx="3664" cy="1280"/>
          </a:xfrm>
        </p:grpSpPr>
        <p:sp>
          <p:nvSpPr>
            <p:cNvPr id="14" name="平行四边形 13"/>
            <p:cNvSpPr/>
            <p:nvPr>
              <p:custDataLst>
                <p:tags r:id="rId2"/>
              </p:custDataLst>
            </p:nvPr>
          </p:nvSpPr>
          <p:spPr>
            <a:xfrm>
              <a:off x="1640" y="304"/>
              <a:ext cx="3094" cy="810"/>
            </a:xfrm>
            <a:prstGeom prst="parallelogram">
              <a:avLst>
                <a:gd name="adj" fmla="val 24995"/>
              </a:avLst>
            </a:prstGeom>
            <a:solidFill>
              <a:srgbClr val="FFBF53"/>
            </a:solidFill>
            <a:ln w="12700">
              <a:noFill/>
            </a:ln>
          </p:spPr>
          <p:txBody>
            <a:bodyPr anchor="ctr" anchorCtr="0"/>
            <a:lstStyle/>
            <a:p>
              <a:pPr algn="ctr"/>
              <a:r>
                <a:rPr lang="zh-CN" altLang="en-US" sz="26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新知学习</a:t>
              </a:r>
            </a:p>
          </p:txBody>
        </p:sp>
        <p:pic>
          <p:nvPicPr>
            <p:cNvPr id="15" name="图片 14" descr="水星_#33333850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5"/>
            <a:srcRect b="12800"/>
            <a:stretch>
              <a:fillRect/>
            </a:stretch>
          </p:blipFill>
          <p:spPr>
            <a:xfrm>
              <a:off x="1070" y="-166"/>
              <a:ext cx="952" cy="831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2326640" cy="812800"/>
            <a:chOff x="1070" y="-166"/>
            <a:chExt cx="3664" cy="1280"/>
          </a:xfrm>
        </p:grpSpPr>
        <p:sp>
          <p:nvSpPr>
            <p:cNvPr id="16" name="平行四边形 15"/>
            <p:cNvSpPr/>
            <p:nvPr>
              <p:custDataLst>
                <p:tags r:id="rId2"/>
              </p:custDataLst>
            </p:nvPr>
          </p:nvSpPr>
          <p:spPr>
            <a:xfrm>
              <a:off x="1640" y="304"/>
              <a:ext cx="3094" cy="810"/>
            </a:xfrm>
            <a:prstGeom prst="parallelogram">
              <a:avLst>
                <a:gd name="adj" fmla="val 24995"/>
              </a:avLst>
            </a:prstGeom>
            <a:solidFill>
              <a:srgbClr val="FFBF53"/>
            </a:solidFill>
            <a:ln w="12700">
              <a:noFill/>
            </a:ln>
          </p:spPr>
          <p:txBody>
            <a:bodyPr anchor="ctr" anchorCtr="0"/>
            <a:lstStyle/>
            <a:p>
              <a:pPr algn="ctr"/>
              <a:r>
                <a:rPr lang="zh-CN" altLang="en-US" sz="26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当堂检测</a:t>
              </a:r>
            </a:p>
          </p:txBody>
        </p:sp>
        <p:pic>
          <p:nvPicPr>
            <p:cNvPr id="17" name="图片 16" descr="水星_#33333850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5"/>
            <a:srcRect b="12800"/>
            <a:stretch>
              <a:fillRect/>
            </a:stretch>
          </p:blipFill>
          <p:spPr>
            <a:xfrm>
              <a:off x="1070" y="-166"/>
              <a:ext cx="952" cy="831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2326640" cy="812800"/>
            <a:chOff x="1070" y="-166"/>
            <a:chExt cx="3664" cy="1280"/>
          </a:xfrm>
        </p:grpSpPr>
        <p:sp>
          <p:nvSpPr>
            <p:cNvPr id="12" name="平行四边形 11"/>
            <p:cNvSpPr/>
            <p:nvPr>
              <p:custDataLst>
                <p:tags r:id="rId2"/>
              </p:custDataLst>
            </p:nvPr>
          </p:nvSpPr>
          <p:spPr>
            <a:xfrm>
              <a:off x="1640" y="304"/>
              <a:ext cx="3094" cy="810"/>
            </a:xfrm>
            <a:prstGeom prst="parallelogram">
              <a:avLst>
                <a:gd name="adj" fmla="val 24995"/>
              </a:avLst>
            </a:prstGeom>
            <a:solidFill>
              <a:srgbClr val="FFBF53"/>
            </a:solidFill>
            <a:ln w="12700">
              <a:noFill/>
            </a:ln>
          </p:spPr>
          <p:txBody>
            <a:bodyPr anchor="ctr" anchorCtr="0"/>
            <a:lstStyle/>
            <a:p>
              <a:pPr algn="ctr"/>
              <a:r>
                <a:rPr lang="zh-CN" altLang="en-US" sz="26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课堂总结</a:t>
              </a:r>
            </a:p>
          </p:txBody>
        </p:sp>
        <p:pic>
          <p:nvPicPr>
            <p:cNvPr id="13" name="图片 12" descr="水星_#33333850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5"/>
            <a:srcRect b="12800"/>
            <a:stretch>
              <a:fillRect/>
            </a:stretch>
          </p:blipFill>
          <p:spPr>
            <a:xfrm>
              <a:off x="1070" y="-166"/>
              <a:ext cx="952" cy="831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1663311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5516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8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20" Type="http://schemas.openxmlformats.org/officeDocument/2006/relationships/tags" Target="../tags/tag7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23" Type="http://schemas.openxmlformats.org/officeDocument/2006/relationships/image" Target="file:///D:\qq&#25991;&#20214;\712321467\Image\C2C\Image2\%7b75232B38-A165-1FB7-499C-2E1C792CACB5%7d.png" TargetMode="Externa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/>
          <p:cNvSpPr txBox="1"/>
          <p:nvPr userDrawn="1">
            <p:custDataLst>
              <p:tags r:id="rId20"/>
            </p:custDataLst>
          </p:nvPr>
        </p:nvSpPr>
        <p:spPr>
          <a:xfrm>
            <a:off x="471170" y="6217285"/>
            <a:ext cx="488950" cy="2489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00">
                <a:solidFill>
                  <a:schemeClr val="bg1"/>
                </a:solidFill>
                <a:sym typeface="+mn-ea"/>
              </a:rPr>
              <a:t>作者编号：</a:t>
            </a:r>
            <a:r>
              <a:rPr lang="en-US" altLang="zh-CN" sz="100">
                <a:solidFill>
                  <a:schemeClr val="bg1"/>
                </a:solidFill>
                <a:sym typeface="+mn-ea"/>
              </a:rPr>
              <a:t>43002</a:t>
            </a:r>
          </a:p>
        </p:txBody>
      </p:sp>
      <p:pic>
        <p:nvPicPr>
          <p:cNvPr id="8" name="图片 1073743875" descr="学科网 zxxk.com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 r:link="rId23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10" Type="http://schemas.openxmlformats.org/officeDocument/2006/relationships/image" Target="../media/image8.wmf"/><Relationship Id="rId4" Type="http://schemas.openxmlformats.org/officeDocument/2006/relationships/tags" Target="../tags/tag58.xml"/><Relationship Id="rId9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65.xml"/><Relationship Id="rId9" Type="http://schemas.openxmlformats.org/officeDocument/2006/relationships/tags" Target="../tags/tag7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74.xml"/><Relationship Id="rId9" Type="http://schemas.openxmlformats.org/officeDocument/2006/relationships/tags" Target="../tags/tag7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12" Type="http://schemas.openxmlformats.org/officeDocument/2006/relationships/tags" Target="../tags/tag91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tags" Target="../tags/tag90.xml"/><Relationship Id="rId5" Type="http://schemas.openxmlformats.org/officeDocument/2006/relationships/tags" Target="../tags/tag84.xml"/><Relationship Id="rId10" Type="http://schemas.openxmlformats.org/officeDocument/2006/relationships/tags" Target="../tags/tag89.xml"/><Relationship Id="rId4" Type="http://schemas.openxmlformats.org/officeDocument/2006/relationships/tags" Target="../tags/tag83.xml"/><Relationship Id="rId9" Type="http://schemas.openxmlformats.org/officeDocument/2006/relationships/tags" Target="../tags/tag88.xml"/><Relationship Id="rId1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13" Type="http://schemas.openxmlformats.org/officeDocument/2006/relationships/tags" Target="../tags/tag104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12" Type="http://schemas.openxmlformats.org/officeDocument/2006/relationships/tags" Target="../tags/tag103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tags" Target="../tags/tag102.xml"/><Relationship Id="rId5" Type="http://schemas.openxmlformats.org/officeDocument/2006/relationships/tags" Target="../tags/tag96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101.xml"/><Relationship Id="rId4" Type="http://schemas.openxmlformats.org/officeDocument/2006/relationships/tags" Target="../tags/tag95.xml"/><Relationship Id="rId9" Type="http://schemas.openxmlformats.org/officeDocument/2006/relationships/tags" Target="../tags/tag100.xml"/><Relationship Id="rId14" Type="http://schemas.openxmlformats.org/officeDocument/2006/relationships/tags" Target="../tags/tag10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13.xml"/><Relationship Id="rId13" Type="http://schemas.openxmlformats.org/officeDocument/2006/relationships/tags" Target="../tags/tag118.xml"/><Relationship Id="rId18" Type="http://schemas.openxmlformats.org/officeDocument/2006/relationships/tags" Target="../tags/tag123.xml"/><Relationship Id="rId26" Type="http://schemas.openxmlformats.org/officeDocument/2006/relationships/tags" Target="../tags/tag131.xml"/><Relationship Id="rId39" Type="http://schemas.openxmlformats.org/officeDocument/2006/relationships/tags" Target="../tags/tag144.xml"/><Relationship Id="rId3" Type="http://schemas.openxmlformats.org/officeDocument/2006/relationships/tags" Target="../tags/tag108.xml"/><Relationship Id="rId21" Type="http://schemas.openxmlformats.org/officeDocument/2006/relationships/tags" Target="../tags/tag126.xml"/><Relationship Id="rId34" Type="http://schemas.openxmlformats.org/officeDocument/2006/relationships/tags" Target="../tags/tag139.xml"/><Relationship Id="rId7" Type="http://schemas.openxmlformats.org/officeDocument/2006/relationships/tags" Target="../tags/tag112.xml"/><Relationship Id="rId12" Type="http://schemas.openxmlformats.org/officeDocument/2006/relationships/tags" Target="../tags/tag117.xml"/><Relationship Id="rId17" Type="http://schemas.openxmlformats.org/officeDocument/2006/relationships/tags" Target="../tags/tag122.xml"/><Relationship Id="rId25" Type="http://schemas.openxmlformats.org/officeDocument/2006/relationships/tags" Target="../tags/tag130.xml"/><Relationship Id="rId33" Type="http://schemas.openxmlformats.org/officeDocument/2006/relationships/tags" Target="../tags/tag138.xml"/><Relationship Id="rId38" Type="http://schemas.openxmlformats.org/officeDocument/2006/relationships/tags" Target="../tags/tag143.xml"/><Relationship Id="rId2" Type="http://schemas.openxmlformats.org/officeDocument/2006/relationships/tags" Target="../tags/tag107.xml"/><Relationship Id="rId16" Type="http://schemas.openxmlformats.org/officeDocument/2006/relationships/tags" Target="../tags/tag121.xml"/><Relationship Id="rId20" Type="http://schemas.openxmlformats.org/officeDocument/2006/relationships/tags" Target="../tags/tag125.xml"/><Relationship Id="rId29" Type="http://schemas.openxmlformats.org/officeDocument/2006/relationships/tags" Target="../tags/tag134.xml"/><Relationship Id="rId41" Type="http://schemas.openxmlformats.org/officeDocument/2006/relationships/slideLayout" Target="../slideLayouts/slideLayout7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11" Type="http://schemas.openxmlformats.org/officeDocument/2006/relationships/tags" Target="../tags/tag116.xml"/><Relationship Id="rId24" Type="http://schemas.openxmlformats.org/officeDocument/2006/relationships/tags" Target="../tags/tag129.xml"/><Relationship Id="rId32" Type="http://schemas.openxmlformats.org/officeDocument/2006/relationships/tags" Target="../tags/tag137.xml"/><Relationship Id="rId37" Type="http://schemas.openxmlformats.org/officeDocument/2006/relationships/tags" Target="../tags/tag142.xml"/><Relationship Id="rId40" Type="http://schemas.openxmlformats.org/officeDocument/2006/relationships/tags" Target="../tags/tag145.xml"/><Relationship Id="rId5" Type="http://schemas.openxmlformats.org/officeDocument/2006/relationships/tags" Target="../tags/tag110.xml"/><Relationship Id="rId15" Type="http://schemas.openxmlformats.org/officeDocument/2006/relationships/tags" Target="../tags/tag120.xml"/><Relationship Id="rId23" Type="http://schemas.openxmlformats.org/officeDocument/2006/relationships/tags" Target="../tags/tag128.xml"/><Relationship Id="rId28" Type="http://schemas.openxmlformats.org/officeDocument/2006/relationships/tags" Target="../tags/tag133.xml"/><Relationship Id="rId36" Type="http://schemas.openxmlformats.org/officeDocument/2006/relationships/tags" Target="../tags/tag141.xml"/><Relationship Id="rId10" Type="http://schemas.openxmlformats.org/officeDocument/2006/relationships/tags" Target="../tags/tag115.xml"/><Relationship Id="rId19" Type="http://schemas.openxmlformats.org/officeDocument/2006/relationships/tags" Target="../tags/tag124.xml"/><Relationship Id="rId31" Type="http://schemas.openxmlformats.org/officeDocument/2006/relationships/tags" Target="../tags/tag136.xml"/><Relationship Id="rId4" Type="http://schemas.openxmlformats.org/officeDocument/2006/relationships/tags" Target="../tags/tag109.xml"/><Relationship Id="rId9" Type="http://schemas.openxmlformats.org/officeDocument/2006/relationships/tags" Target="../tags/tag114.xml"/><Relationship Id="rId14" Type="http://schemas.openxmlformats.org/officeDocument/2006/relationships/tags" Target="../tags/tag119.xml"/><Relationship Id="rId22" Type="http://schemas.openxmlformats.org/officeDocument/2006/relationships/tags" Target="../tags/tag127.xml"/><Relationship Id="rId27" Type="http://schemas.openxmlformats.org/officeDocument/2006/relationships/tags" Target="../tags/tag132.xml"/><Relationship Id="rId30" Type="http://schemas.openxmlformats.org/officeDocument/2006/relationships/tags" Target="../tags/tag135.xml"/><Relationship Id="rId35" Type="http://schemas.openxmlformats.org/officeDocument/2006/relationships/tags" Target="../tags/tag14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53.xml"/><Relationship Id="rId13" Type="http://schemas.openxmlformats.org/officeDocument/2006/relationships/oleObject" Target="../embeddings/oleObject3.bin"/><Relationship Id="rId3" Type="http://schemas.openxmlformats.org/officeDocument/2006/relationships/tags" Target="../tags/tag148.xml"/><Relationship Id="rId7" Type="http://schemas.openxmlformats.org/officeDocument/2006/relationships/tags" Target="../tags/tag152.xml"/><Relationship Id="rId12" Type="http://schemas.openxmlformats.org/officeDocument/2006/relationships/image" Target="../media/image10.wmf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6" Type="http://schemas.openxmlformats.org/officeDocument/2006/relationships/tags" Target="../tags/tag151.xml"/><Relationship Id="rId11" Type="http://schemas.openxmlformats.org/officeDocument/2006/relationships/oleObject" Target="../embeddings/oleObject2.bin"/><Relationship Id="rId5" Type="http://schemas.openxmlformats.org/officeDocument/2006/relationships/tags" Target="../tags/tag150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149.xml"/><Relationship Id="rId9" Type="http://schemas.openxmlformats.org/officeDocument/2006/relationships/tags" Target="../tags/tag154.xml"/><Relationship Id="rId14" Type="http://schemas.openxmlformats.org/officeDocument/2006/relationships/image" Target="../media/image1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62.xml"/><Relationship Id="rId13" Type="http://schemas.openxmlformats.org/officeDocument/2006/relationships/tags" Target="../tags/tag167.xml"/><Relationship Id="rId3" Type="http://schemas.openxmlformats.org/officeDocument/2006/relationships/tags" Target="../tags/tag157.xml"/><Relationship Id="rId7" Type="http://schemas.openxmlformats.org/officeDocument/2006/relationships/tags" Target="../tags/tag161.xml"/><Relationship Id="rId12" Type="http://schemas.openxmlformats.org/officeDocument/2006/relationships/tags" Target="../tags/tag166.xml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6" Type="http://schemas.openxmlformats.org/officeDocument/2006/relationships/tags" Target="../tags/tag160.xml"/><Relationship Id="rId11" Type="http://schemas.openxmlformats.org/officeDocument/2006/relationships/tags" Target="../tags/tag165.xml"/><Relationship Id="rId5" Type="http://schemas.openxmlformats.org/officeDocument/2006/relationships/tags" Target="../tags/tag159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164.xml"/><Relationship Id="rId4" Type="http://schemas.openxmlformats.org/officeDocument/2006/relationships/tags" Target="../tags/tag158.xml"/><Relationship Id="rId9" Type="http://schemas.openxmlformats.org/officeDocument/2006/relationships/tags" Target="../tags/tag163.xml"/><Relationship Id="rId14" Type="http://schemas.openxmlformats.org/officeDocument/2006/relationships/tags" Target="../tags/tag16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7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80.xml"/><Relationship Id="rId13" Type="http://schemas.openxmlformats.org/officeDocument/2006/relationships/tags" Target="../tags/tag185.xml"/><Relationship Id="rId18" Type="http://schemas.openxmlformats.org/officeDocument/2006/relationships/tags" Target="../tags/tag190.xml"/><Relationship Id="rId26" Type="http://schemas.openxmlformats.org/officeDocument/2006/relationships/tags" Target="../tags/tag198.xml"/><Relationship Id="rId3" Type="http://schemas.openxmlformats.org/officeDocument/2006/relationships/tags" Target="../tags/tag175.xml"/><Relationship Id="rId21" Type="http://schemas.openxmlformats.org/officeDocument/2006/relationships/tags" Target="../tags/tag193.xml"/><Relationship Id="rId34" Type="http://schemas.openxmlformats.org/officeDocument/2006/relationships/image" Target="../media/image24.png"/><Relationship Id="rId7" Type="http://schemas.openxmlformats.org/officeDocument/2006/relationships/tags" Target="../tags/tag179.xml"/><Relationship Id="rId12" Type="http://schemas.openxmlformats.org/officeDocument/2006/relationships/tags" Target="../tags/tag184.xml"/><Relationship Id="rId17" Type="http://schemas.openxmlformats.org/officeDocument/2006/relationships/tags" Target="../tags/tag189.xml"/><Relationship Id="rId25" Type="http://schemas.openxmlformats.org/officeDocument/2006/relationships/tags" Target="../tags/tag197.xml"/><Relationship Id="rId33" Type="http://schemas.openxmlformats.org/officeDocument/2006/relationships/tags" Target="../tags/tag1510.xml"/><Relationship Id="rId38" Type="http://schemas.openxmlformats.org/officeDocument/2006/relationships/image" Target="../media/image26.png"/><Relationship Id="rId2" Type="http://schemas.openxmlformats.org/officeDocument/2006/relationships/tags" Target="../tags/tag174.xml"/><Relationship Id="rId16" Type="http://schemas.openxmlformats.org/officeDocument/2006/relationships/tags" Target="../tags/tag188.xml"/><Relationship Id="rId20" Type="http://schemas.openxmlformats.org/officeDocument/2006/relationships/tags" Target="../tags/tag192.xml"/><Relationship Id="rId29" Type="http://schemas.openxmlformats.org/officeDocument/2006/relationships/image" Target="../media/image21.png"/><Relationship Id="rId1" Type="http://schemas.openxmlformats.org/officeDocument/2006/relationships/tags" Target="../tags/tag173.xml"/><Relationship Id="rId6" Type="http://schemas.openxmlformats.org/officeDocument/2006/relationships/tags" Target="../tags/tag178.xml"/><Relationship Id="rId11" Type="http://schemas.openxmlformats.org/officeDocument/2006/relationships/tags" Target="../tags/tag183.xml"/><Relationship Id="rId24" Type="http://schemas.openxmlformats.org/officeDocument/2006/relationships/tags" Target="../tags/tag196.xml"/><Relationship Id="rId32" Type="http://schemas.openxmlformats.org/officeDocument/2006/relationships/image" Target="../media/image12.png"/><Relationship Id="rId37" Type="http://schemas.openxmlformats.org/officeDocument/2006/relationships/tags" Target="../tags/tag1550.xml"/><Relationship Id="rId5" Type="http://schemas.openxmlformats.org/officeDocument/2006/relationships/tags" Target="../tags/tag177.xml"/><Relationship Id="rId15" Type="http://schemas.openxmlformats.org/officeDocument/2006/relationships/tags" Target="../tags/tag187.xml"/><Relationship Id="rId23" Type="http://schemas.openxmlformats.org/officeDocument/2006/relationships/tags" Target="../tags/tag195.xml"/><Relationship Id="rId28" Type="http://schemas.openxmlformats.org/officeDocument/2006/relationships/tags" Target="../tags/tag1390.xml"/><Relationship Id="rId36" Type="http://schemas.openxmlformats.org/officeDocument/2006/relationships/image" Target="../media/image25.png"/><Relationship Id="rId10" Type="http://schemas.openxmlformats.org/officeDocument/2006/relationships/tags" Target="../tags/tag182.xml"/><Relationship Id="rId19" Type="http://schemas.openxmlformats.org/officeDocument/2006/relationships/tags" Target="../tags/tag191.xml"/><Relationship Id="rId31" Type="http://schemas.openxmlformats.org/officeDocument/2006/relationships/image" Target="../media/image22.png"/><Relationship Id="rId4" Type="http://schemas.openxmlformats.org/officeDocument/2006/relationships/tags" Target="../tags/tag176.xml"/><Relationship Id="rId9" Type="http://schemas.openxmlformats.org/officeDocument/2006/relationships/tags" Target="../tags/tag181.xml"/><Relationship Id="rId14" Type="http://schemas.openxmlformats.org/officeDocument/2006/relationships/tags" Target="../tags/tag186.xml"/><Relationship Id="rId22" Type="http://schemas.openxmlformats.org/officeDocument/2006/relationships/tags" Target="../tags/tag194.xml"/><Relationship Id="rId27" Type="http://schemas.openxmlformats.org/officeDocument/2006/relationships/slideLayout" Target="../slideLayouts/slideLayout13.xml"/><Relationship Id="rId30" Type="http://schemas.openxmlformats.org/officeDocument/2006/relationships/tags" Target="../tags/tag1410.xml"/><Relationship Id="rId35" Type="http://schemas.openxmlformats.org/officeDocument/2006/relationships/tags" Target="../tags/tag1530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206.xml"/><Relationship Id="rId13" Type="http://schemas.openxmlformats.org/officeDocument/2006/relationships/tags" Target="../tags/tag211.xml"/><Relationship Id="rId18" Type="http://schemas.openxmlformats.org/officeDocument/2006/relationships/tags" Target="../tags/tag216.xml"/><Relationship Id="rId26" Type="http://schemas.openxmlformats.org/officeDocument/2006/relationships/image" Target="../media/image12.png"/><Relationship Id="rId3" Type="http://schemas.openxmlformats.org/officeDocument/2006/relationships/tags" Target="../tags/tag201.xml"/><Relationship Id="rId21" Type="http://schemas.openxmlformats.org/officeDocument/2006/relationships/tags" Target="../tags/tag219.xml"/><Relationship Id="rId7" Type="http://schemas.openxmlformats.org/officeDocument/2006/relationships/tags" Target="../tags/tag205.xml"/><Relationship Id="rId12" Type="http://schemas.openxmlformats.org/officeDocument/2006/relationships/tags" Target="../tags/tag210.xml"/><Relationship Id="rId17" Type="http://schemas.openxmlformats.org/officeDocument/2006/relationships/tags" Target="../tags/tag215.xml"/><Relationship Id="rId25" Type="http://schemas.openxmlformats.org/officeDocument/2006/relationships/slideLayout" Target="../slideLayouts/slideLayout13.xml"/><Relationship Id="rId2" Type="http://schemas.openxmlformats.org/officeDocument/2006/relationships/tags" Target="../tags/tag200.xml"/><Relationship Id="rId16" Type="http://schemas.openxmlformats.org/officeDocument/2006/relationships/tags" Target="../tags/tag214.xml"/><Relationship Id="rId20" Type="http://schemas.openxmlformats.org/officeDocument/2006/relationships/tags" Target="../tags/tag218.xml"/><Relationship Id="rId29" Type="http://schemas.openxmlformats.org/officeDocument/2006/relationships/tags" Target="../tags/tag1850.xml"/><Relationship Id="rId1" Type="http://schemas.openxmlformats.org/officeDocument/2006/relationships/tags" Target="../tags/tag199.xml"/><Relationship Id="rId6" Type="http://schemas.openxmlformats.org/officeDocument/2006/relationships/tags" Target="../tags/tag204.xml"/><Relationship Id="rId11" Type="http://schemas.openxmlformats.org/officeDocument/2006/relationships/tags" Target="../tags/tag209.xml"/><Relationship Id="rId24" Type="http://schemas.openxmlformats.org/officeDocument/2006/relationships/tags" Target="../tags/tag222.xml"/><Relationship Id="rId32" Type="http://schemas.openxmlformats.org/officeDocument/2006/relationships/image" Target="../media/image29.png"/><Relationship Id="rId5" Type="http://schemas.openxmlformats.org/officeDocument/2006/relationships/tags" Target="../tags/tag203.xml"/><Relationship Id="rId15" Type="http://schemas.openxmlformats.org/officeDocument/2006/relationships/tags" Target="../tags/tag213.xml"/><Relationship Id="rId23" Type="http://schemas.openxmlformats.org/officeDocument/2006/relationships/tags" Target="../tags/tag221.xml"/><Relationship Id="rId28" Type="http://schemas.openxmlformats.org/officeDocument/2006/relationships/image" Target="../media/image27.png"/><Relationship Id="rId10" Type="http://schemas.openxmlformats.org/officeDocument/2006/relationships/tags" Target="../tags/tag208.xml"/><Relationship Id="rId19" Type="http://schemas.openxmlformats.org/officeDocument/2006/relationships/tags" Target="../tags/tag217.xml"/><Relationship Id="rId31" Type="http://schemas.openxmlformats.org/officeDocument/2006/relationships/tags" Target="../tags/tag1870.xml"/><Relationship Id="rId4" Type="http://schemas.openxmlformats.org/officeDocument/2006/relationships/tags" Target="../tags/tag202.xml"/><Relationship Id="rId9" Type="http://schemas.openxmlformats.org/officeDocument/2006/relationships/tags" Target="../tags/tag207.xml"/><Relationship Id="rId14" Type="http://schemas.openxmlformats.org/officeDocument/2006/relationships/tags" Target="../tags/tag212.xml"/><Relationship Id="rId22" Type="http://schemas.openxmlformats.org/officeDocument/2006/relationships/tags" Target="../tags/tag220.xml"/><Relationship Id="rId27" Type="http://schemas.openxmlformats.org/officeDocument/2006/relationships/tags" Target="../tags/tag1830.xml"/><Relationship Id="rId30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230.xml"/><Relationship Id="rId13" Type="http://schemas.openxmlformats.org/officeDocument/2006/relationships/image" Target="../media/image14.png"/><Relationship Id="rId3" Type="http://schemas.openxmlformats.org/officeDocument/2006/relationships/tags" Target="../tags/tag225.xml"/><Relationship Id="rId7" Type="http://schemas.openxmlformats.org/officeDocument/2006/relationships/tags" Target="../tags/tag229.xml"/><Relationship Id="rId12" Type="http://schemas.openxmlformats.org/officeDocument/2006/relationships/image" Target="../media/image13.png"/><Relationship Id="rId2" Type="http://schemas.openxmlformats.org/officeDocument/2006/relationships/tags" Target="../tags/tag224.xml"/><Relationship Id="rId1" Type="http://schemas.openxmlformats.org/officeDocument/2006/relationships/tags" Target="../tags/tag223.xml"/><Relationship Id="rId6" Type="http://schemas.openxmlformats.org/officeDocument/2006/relationships/tags" Target="../tags/tag228.xml"/><Relationship Id="rId11" Type="http://schemas.openxmlformats.org/officeDocument/2006/relationships/slideLayout" Target="../slideLayouts/slideLayout13.xml"/><Relationship Id="rId5" Type="http://schemas.openxmlformats.org/officeDocument/2006/relationships/tags" Target="../tags/tag227.xml"/><Relationship Id="rId10" Type="http://schemas.openxmlformats.org/officeDocument/2006/relationships/tags" Target="../tags/tag232.xml"/><Relationship Id="rId4" Type="http://schemas.openxmlformats.org/officeDocument/2006/relationships/tags" Target="../tags/tag226.xml"/><Relationship Id="rId9" Type="http://schemas.openxmlformats.org/officeDocument/2006/relationships/tags" Target="../tags/tag23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235.xml"/><Relationship Id="rId7" Type="http://schemas.openxmlformats.org/officeDocument/2006/relationships/image" Target="../media/image15.png"/><Relationship Id="rId2" Type="http://schemas.openxmlformats.org/officeDocument/2006/relationships/tags" Target="../tags/tag234.xml"/><Relationship Id="rId1" Type="http://schemas.openxmlformats.org/officeDocument/2006/relationships/tags" Target="../tags/tag233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237.xml"/><Relationship Id="rId4" Type="http://schemas.openxmlformats.org/officeDocument/2006/relationships/tags" Target="../tags/tag23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245.xml"/><Relationship Id="rId13" Type="http://schemas.openxmlformats.org/officeDocument/2006/relationships/tags" Target="../tags/tag250.xml"/><Relationship Id="rId18" Type="http://schemas.openxmlformats.org/officeDocument/2006/relationships/tags" Target="../tags/tag255.xml"/><Relationship Id="rId26" Type="http://schemas.openxmlformats.org/officeDocument/2006/relationships/tags" Target="../tags/tag263.xml"/><Relationship Id="rId3" Type="http://schemas.openxmlformats.org/officeDocument/2006/relationships/tags" Target="../tags/tag240.xml"/><Relationship Id="rId21" Type="http://schemas.openxmlformats.org/officeDocument/2006/relationships/tags" Target="../tags/tag258.xml"/><Relationship Id="rId34" Type="http://schemas.openxmlformats.org/officeDocument/2006/relationships/image" Target="../media/image35.png"/><Relationship Id="rId7" Type="http://schemas.openxmlformats.org/officeDocument/2006/relationships/tags" Target="../tags/tag244.xml"/><Relationship Id="rId12" Type="http://schemas.openxmlformats.org/officeDocument/2006/relationships/tags" Target="../tags/tag249.xml"/><Relationship Id="rId17" Type="http://schemas.openxmlformats.org/officeDocument/2006/relationships/tags" Target="../tags/tag254.xml"/><Relationship Id="rId25" Type="http://schemas.openxmlformats.org/officeDocument/2006/relationships/tags" Target="../tags/tag262.xml"/><Relationship Id="rId33" Type="http://schemas.openxmlformats.org/officeDocument/2006/relationships/tags" Target="../tags/tag2320.xml"/><Relationship Id="rId2" Type="http://schemas.openxmlformats.org/officeDocument/2006/relationships/tags" Target="../tags/tag239.xml"/><Relationship Id="rId16" Type="http://schemas.openxmlformats.org/officeDocument/2006/relationships/tags" Target="../tags/tag253.xml"/><Relationship Id="rId20" Type="http://schemas.openxmlformats.org/officeDocument/2006/relationships/tags" Target="../tags/tag257.xml"/><Relationship Id="rId29" Type="http://schemas.openxmlformats.org/officeDocument/2006/relationships/tags" Target="../tags/tag266.xml"/><Relationship Id="rId1" Type="http://schemas.openxmlformats.org/officeDocument/2006/relationships/tags" Target="../tags/tag238.xml"/><Relationship Id="rId6" Type="http://schemas.openxmlformats.org/officeDocument/2006/relationships/tags" Target="../tags/tag243.xml"/><Relationship Id="rId11" Type="http://schemas.openxmlformats.org/officeDocument/2006/relationships/tags" Target="../tags/tag248.xml"/><Relationship Id="rId24" Type="http://schemas.openxmlformats.org/officeDocument/2006/relationships/tags" Target="../tags/tag261.xml"/><Relationship Id="rId32" Type="http://schemas.microsoft.com/office/2007/relationships/hdphoto" Target="../media/hdphoto1.wdp"/><Relationship Id="rId5" Type="http://schemas.openxmlformats.org/officeDocument/2006/relationships/tags" Target="../tags/tag242.xml"/><Relationship Id="rId15" Type="http://schemas.openxmlformats.org/officeDocument/2006/relationships/tags" Target="../tags/tag252.xml"/><Relationship Id="rId23" Type="http://schemas.openxmlformats.org/officeDocument/2006/relationships/tags" Target="../tags/tag260.xml"/><Relationship Id="rId28" Type="http://schemas.openxmlformats.org/officeDocument/2006/relationships/tags" Target="../tags/tag265.xml"/><Relationship Id="rId36" Type="http://schemas.openxmlformats.org/officeDocument/2006/relationships/image" Target="../media/image36.png"/><Relationship Id="rId10" Type="http://schemas.openxmlformats.org/officeDocument/2006/relationships/tags" Target="../tags/tag247.xml"/><Relationship Id="rId19" Type="http://schemas.openxmlformats.org/officeDocument/2006/relationships/tags" Target="../tags/tag256.xml"/><Relationship Id="rId31" Type="http://schemas.openxmlformats.org/officeDocument/2006/relationships/image" Target="../media/image16.png"/><Relationship Id="rId4" Type="http://schemas.openxmlformats.org/officeDocument/2006/relationships/tags" Target="../tags/tag241.xml"/><Relationship Id="rId9" Type="http://schemas.openxmlformats.org/officeDocument/2006/relationships/tags" Target="../tags/tag246.xml"/><Relationship Id="rId14" Type="http://schemas.openxmlformats.org/officeDocument/2006/relationships/tags" Target="../tags/tag251.xml"/><Relationship Id="rId22" Type="http://schemas.openxmlformats.org/officeDocument/2006/relationships/tags" Target="../tags/tag259.xml"/><Relationship Id="rId27" Type="http://schemas.openxmlformats.org/officeDocument/2006/relationships/tags" Target="../tags/tag264.xml"/><Relationship Id="rId30" Type="http://schemas.openxmlformats.org/officeDocument/2006/relationships/slideLayout" Target="../slideLayouts/slideLayout13.xml"/><Relationship Id="rId35" Type="http://schemas.openxmlformats.org/officeDocument/2006/relationships/tags" Target="../tags/tag235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274.xml"/><Relationship Id="rId13" Type="http://schemas.openxmlformats.org/officeDocument/2006/relationships/tags" Target="../tags/tag279.xml"/><Relationship Id="rId18" Type="http://schemas.openxmlformats.org/officeDocument/2006/relationships/tags" Target="../tags/tag284.xml"/><Relationship Id="rId26" Type="http://schemas.openxmlformats.org/officeDocument/2006/relationships/tags" Target="../tags/tag292.xml"/><Relationship Id="rId39" Type="http://schemas.openxmlformats.org/officeDocument/2006/relationships/image" Target="../media/image37.png"/><Relationship Id="rId3" Type="http://schemas.openxmlformats.org/officeDocument/2006/relationships/tags" Target="../tags/tag269.xml"/><Relationship Id="rId21" Type="http://schemas.openxmlformats.org/officeDocument/2006/relationships/tags" Target="../tags/tag287.xml"/><Relationship Id="rId34" Type="http://schemas.openxmlformats.org/officeDocument/2006/relationships/tags" Target="../tags/tag300.xml"/><Relationship Id="rId42" Type="http://schemas.openxmlformats.org/officeDocument/2006/relationships/tags" Target="../tags/tag2630.xml"/><Relationship Id="rId7" Type="http://schemas.openxmlformats.org/officeDocument/2006/relationships/tags" Target="../tags/tag273.xml"/><Relationship Id="rId12" Type="http://schemas.openxmlformats.org/officeDocument/2006/relationships/tags" Target="../tags/tag278.xml"/><Relationship Id="rId17" Type="http://schemas.openxmlformats.org/officeDocument/2006/relationships/tags" Target="../tags/tag283.xml"/><Relationship Id="rId25" Type="http://schemas.openxmlformats.org/officeDocument/2006/relationships/tags" Target="../tags/tag291.xml"/><Relationship Id="rId33" Type="http://schemas.openxmlformats.org/officeDocument/2006/relationships/tags" Target="../tags/tag299.xml"/><Relationship Id="rId38" Type="http://schemas.openxmlformats.org/officeDocument/2006/relationships/tags" Target="../tags/tag2590.xml"/><Relationship Id="rId2" Type="http://schemas.openxmlformats.org/officeDocument/2006/relationships/tags" Target="../tags/tag268.xml"/><Relationship Id="rId16" Type="http://schemas.openxmlformats.org/officeDocument/2006/relationships/tags" Target="../tags/tag282.xml"/><Relationship Id="rId20" Type="http://schemas.openxmlformats.org/officeDocument/2006/relationships/tags" Target="../tags/tag286.xml"/><Relationship Id="rId29" Type="http://schemas.openxmlformats.org/officeDocument/2006/relationships/tags" Target="../tags/tag295.xml"/><Relationship Id="rId41" Type="http://schemas.openxmlformats.org/officeDocument/2006/relationships/image" Target="../media/image38.png"/><Relationship Id="rId1" Type="http://schemas.openxmlformats.org/officeDocument/2006/relationships/tags" Target="../tags/tag267.xml"/><Relationship Id="rId6" Type="http://schemas.openxmlformats.org/officeDocument/2006/relationships/tags" Target="../tags/tag272.xml"/><Relationship Id="rId11" Type="http://schemas.openxmlformats.org/officeDocument/2006/relationships/tags" Target="../tags/tag277.xml"/><Relationship Id="rId24" Type="http://schemas.openxmlformats.org/officeDocument/2006/relationships/tags" Target="../tags/tag290.xml"/><Relationship Id="rId32" Type="http://schemas.openxmlformats.org/officeDocument/2006/relationships/tags" Target="../tags/tag298.xml"/><Relationship Id="rId37" Type="http://schemas.microsoft.com/office/2007/relationships/hdphoto" Target="../media/hdphoto1.wdp"/><Relationship Id="rId40" Type="http://schemas.openxmlformats.org/officeDocument/2006/relationships/tags" Target="../tags/tag2610.xml"/><Relationship Id="rId5" Type="http://schemas.openxmlformats.org/officeDocument/2006/relationships/tags" Target="../tags/tag271.xml"/><Relationship Id="rId15" Type="http://schemas.openxmlformats.org/officeDocument/2006/relationships/tags" Target="../tags/tag281.xml"/><Relationship Id="rId23" Type="http://schemas.openxmlformats.org/officeDocument/2006/relationships/tags" Target="../tags/tag289.xml"/><Relationship Id="rId28" Type="http://schemas.openxmlformats.org/officeDocument/2006/relationships/tags" Target="../tags/tag294.xml"/><Relationship Id="rId36" Type="http://schemas.openxmlformats.org/officeDocument/2006/relationships/image" Target="../media/image16.png"/><Relationship Id="rId10" Type="http://schemas.openxmlformats.org/officeDocument/2006/relationships/tags" Target="../tags/tag276.xml"/><Relationship Id="rId19" Type="http://schemas.openxmlformats.org/officeDocument/2006/relationships/tags" Target="../tags/tag285.xml"/><Relationship Id="rId31" Type="http://schemas.openxmlformats.org/officeDocument/2006/relationships/tags" Target="../tags/tag297.xml"/><Relationship Id="rId4" Type="http://schemas.openxmlformats.org/officeDocument/2006/relationships/tags" Target="../tags/tag270.xml"/><Relationship Id="rId9" Type="http://schemas.openxmlformats.org/officeDocument/2006/relationships/tags" Target="../tags/tag275.xml"/><Relationship Id="rId14" Type="http://schemas.openxmlformats.org/officeDocument/2006/relationships/tags" Target="../tags/tag280.xml"/><Relationship Id="rId22" Type="http://schemas.openxmlformats.org/officeDocument/2006/relationships/tags" Target="../tags/tag288.xml"/><Relationship Id="rId27" Type="http://schemas.openxmlformats.org/officeDocument/2006/relationships/tags" Target="../tags/tag293.xml"/><Relationship Id="rId30" Type="http://schemas.openxmlformats.org/officeDocument/2006/relationships/tags" Target="../tags/tag296.xml"/><Relationship Id="rId35" Type="http://schemas.openxmlformats.org/officeDocument/2006/relationships/slideLayout" Target="../slideLayouts/slideLayout13.xml"/><Relationship Id="rId43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308.xml"/><Relationship Id="rId3" Type="http://schemas.openxmlformats.org/officeDocument/2006/relationships/tags" Target="../tags/tag303.xml"/><Relationship Id="rId7" Type="http://schemas.openxmlformats.org/officeDocument/2006/relationships/tags" Target="../tags/tag307.xml"/><Relationship Id="rId12" Type="http://schemas.openxmlformats.org/officeDocument/2006/relationships/slideLayout" Target="../slideLayouts/slideLayout7.xml"/><Relationship Id="rId2" Type="http://schemas.openxmlformats.org/officeDocument/2006/relationships/tags" Target="../tags/tag302.xml"/><Relationship Id="rId1" Type="http://schemas.openxmlformats.org/officeDocument/2006/relationships/tags" Target="../tags/tag301.xml"/><Relationship Id="rId6" Type="http://schemas.openxmlformats.org/officeDocument/2006/relationships/tags" Target="../tags/tag306.xml"/><Relationship Id="rId11" Type="http://schemas.openxmlformats.org/officeDocument/2006/relationships/tags" Target="../tags/tag311.xml"/><Relationship Id="rId5" Type="http://schemas.openxmlformats.org/officeDocument/2006/relationships/tags" Target="../tags/tag305.xml"/><Relationship Id="rId10" Type="http://schemas.openxmlformats.org/officeDocument/2006/relationships/tags" Target="../tags/tag310.xml"/><Relationship Id="rId4" Type="http://schemas.openxmlformats.org/officeDocument/2006/relationships/tags" Target="../tags/tag304.xml"/><Relationship Id="rId9" Type="http://schemas.openxmlformats.org/officeDocument/2006/relationships/tags" Target="../tags/tag30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314.xml"/><Relationship Id="rId2" Type="http://schemas.openxmlformats.org/officeDocument/2006/relationships/tags" Target="../tags/tag313.xml"/><Relationship Id="rId1" Type="http://schemas.openxmlformats.org/officeDocument/2006/relationships/tags" Target="../tags/tag312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317.xml"/><Relationship Id="rId7" Type="http://schemas.openxmlformats.org/officeDocument/2006/relationships/image" Target="../media/image21.jpeg"/><Relationship Id="rId2" Type="http://schemas.openxmlformats.org/officeDocument/2006/relationships/tags" Target="../tags/tag316.xml"/><Relationship Id="rId1" Type="http://schemas.openxmlformats.org/officeDocument/2006/relationships/tags" Target="../tags/tag315.xml"/><Relationship Id="rId6" Type="http://schemas.openxmlformats.org/officeDocument/2006/relationships/image" Target="../media/image220.png"/><Relationship Id="rId5" Type="http://schemas.openxmlformats.org/officeDocument/2006/relationships/tags" Target="../tags/tag3150.xml"/><Relationship Id="rId10" Type="http://schemas.openxmlformats.org/officeDocument/2006/relationships/image" Target="../media/image240.png"/><Relationship Id="rId4" Type="http://schemas.openxmlformats.org/officeDocument/2006/relationships/slideLayout" Target="../slideLayouts/slideLayout7.xml"/><Relationship Id="rId9" Type="http://schemas.openxmlformats.org/officeDocument/2006/relationships/tags" Target="../tags/tag3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20.xml"/><Relationship Id="rId1" Type="http://schemas.openxmlformats.org/officeDocument/2006/relationships/tags" Target="../tags/tag31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323.xml"/><Relationship Id="rId2" Type="http://schemas.openxmlformats.org/officeDocument/2006/relationships/tags" Target="../tags/tag322.xml"/><Relationship Id="rId1" Type="http://schemas.openxmlformats.org/officeDocument/2006/relationships/tags" Target="../tags/tag321.xml"/><Relationship Id="rId5" Type="http://schemas.openxmlformats.org/officeDocument/2006/relationships/image" Target="../media/image30.png"/><Relationship Id="rId4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25.xml"/><Relationship Id="rId1" Type="http://schemas.openxmlformats.org/officeDocument/2006/relationships/tags" Target="../tags/tag32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333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328.xml"/><Relationship Id="rId7" Type="http://schemas.openxmlformats.org/officeDocument/2006/relationships/tags" Target="../tags/tag332.xml"/><Relationship Id="rId12" Type="http://schemas.openxmlformats.org/officeDocument/2006/relationships/tags" Target="../tags/tag337.xml"/><Relationship Id="rId2" Type="http://schemas.openxmlformats.org/officeDocument/2006/relationships/tags" Target="../tags/tag327.xml"/><Relationship Id="rId1" Type="http://schemas.openxmlformats.org/officeDocument/2006/relationships/tags" Target="../tags/tag326.xml"/><Relationship Id="rId6" Type="http://schemas.openxmlformats.org/officeDocument/2006/relationships/tags" Target="../tags/tag331.xml"/><Relationship Id="rId11" Type="http://schemas.openxmlformats.org/officeDocument/2006/relationships/tags" Target="../tags/tag336.xml"/><Relationship Id="rId5" Type="http://schemas.openxmlformats.org/officeDocument/2006/relationships/tags" Target="../tags/tag330.xml"/><Relationship Id="rId10" Type="http://schemas.openxmlformats.org/officeDocument/2006/relationships/tags" Target="../tags/tag335.xml"/><Relationship Id="rId4" Type="http://schemas.openxmlformats.org/officeDocument/2006/relationships/tags" Target="../tags/tag329.xml"/><Relationship Id="rId9" Type="http://schemas.openxmlformats.org/officeDocument/2006/relationships/tags" Target="../tags/tag3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/>
          <p:nvPr/>
        </p:nvSpPr>
        <p:spPr>
          <a:xfrm>
            <a:off x="1562947" y="3257127"/>
            <a:ext cx="9099127" cy="830997"/>
          </a:xfrm>
          <a:prstGeom prst="rect">
            <a:avLst/>
          </a:prstGeom>
          <a:ln w="12700">
            <a:miter lim="400000"/>
          </a:ln>
        </p:spPr>
        <p:txBody>
          <a:bodyPr wrap="square" lIns="60959" rIns="60959">
            <a:spAutoFit/>
          </a:bodyPr>
          <a:lstStyle>
            <a:lvl1pPr>
              <a:defRPr sz="3600">
                <a:solidFill>
                  <a:srgbClr val="B61C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zh-CN" altLang="en-US" sz="4800" b="1">
                <a:solidFill>
                  <a:srgbClr val="7030A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第四章 </a:t>
            </a:r>
            <a:r>
              <a:rPr lang="en-US" altLang="zh-CN" sz="4800" b="1">
                <a:solidFill>
                  <a:srgbClr val="7030A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</a:t>
            </a:r>
            <a:r>
              <a:rPr lang="zh-CN" altLang="en-US" sz="4800" b="1">
                <a:solidFill>
                  <a:srgbClr val="7030A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运动和力的关系</a:t>
            </a:r>
          </a:p>
        </p:txBody>
      </p:sp>
      <p:sp>
        <p:nvSpPr>
          <p:cNvPr id="6" name="Shape 40"/>
          <p:cNvSpPr/>
          <p:nvPr/>
        </p:nvSpPr>
        <p:spPr>
          <a:xfrm>
            <a:off x="1797474" y="4765887"/>
            <a:ext cx="9033087" cy="584775"/>
          </a:xfrm>
          <a:prstGeom prst="rect">
            <a:avLst/>
          </a:prstGeom>
          <a:ln w="12700">
            <a:miter lim="400000"/>
          </a:ln>
        </p:spPr>
        <p:txBody>
          <a:bodyPr wrap="square" lIns="60959" rIns="60959">
            <a:spAutoFit/>
          </a:bodyPr>
          <a:lstStyle>
            <a:lvl1pPr>
              <a:defRPr sz="3600">
                <a:solidFill>
                  <a:srgbClr val="B61C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lvl="0" algn="ctr">
              <a:lnSpc>
                <a:spcPct val="100000"/>
              </a:lnSpc>
              <a:defRPr sz="1800" b="0"/>
            </a:pPr>
            <a:r>
              <a:rPr lang="zh-CN" altLang="en-US" sz="32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</a:t>
            </a:r>
            <a:r>
              <a:rPr lang="en-US" altLang="zh-CN" sz="32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32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节      牛顿第二定律</a:t>
            </a: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9820" y="4614538"/>
            <a:ext cx="2496757" cy="2496757"/>
          </a:xfrm>
          <a:prstGeom prst="rect">
            <a:avLst/>
          </a:prstGeom>
        </p:spPr>
      </p:pic>
      <p:sp>
        <p:nvSpPr>
          <p:cNvPr id="3" name="Shape 40"/>
          <p:cNvSpPr/>
          <p:nvPr/>
        </p:nvSpPr>
        <p:spPr>
          <a:xfrm>
            <a:off x="1562947" y="1122680"/>
            <a:ext cx="9963526" cy="1200329"/>
          </a:xfrm>
          <a:prstGeom prst="rect">
            <a:avLst/>
          </a:prstGeom>
          <a:ln w="12700">
            <a:miter lim="4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60959" rIns="60959">
            <a:spAutoFit/>
          </a:bodyPr>
          <a:lstStyle>
            <a:lvl1pPr>
              <a:defRPr sz="3600">
                <a:solidFill>
                  <a:srgbClr val="B61C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64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新教材人教版   </a:t>
            </a:r>
            <a:r>
              <a:rPr lang="zh-CN" altLang="en-US" sz="72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物理</a:t>
            </a:r>
            <a:r>
              <a:rPr lang="zh-CN" altLang="en-US" sz="1867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（必修第一册）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798433" y="924782"/>
            <a:ext cx="8077200" cy="85567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5200"/>
              </a:lnSpc>
            </a:pPr>
            <a:r>
              <a:rPr lang="zh-CN" altLang="en-US" sz="29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    通过上节课的实验，我们能得出什么结论？</a:t>
            </a:r>
          </a:p>
        </p:txBody>
      </p:sp>
      <p:pic>
        <p:nvPicPr>
          <p:cNvPr id="6" name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310" y="1675200"/>
            <a:ext cx="2707272" cy="2601516"/>
          </a:xfrm>
          <a:prstGeom prst="rect">
            <a:avLst/>
          </a:prstGeom>
        </p:spPr>
      </p:pic>
      <p:pic>
        <p:nvPicPr>
          <p:cNvPr id="7" name="图片2"/>
          <p:cNvPicPr>
            <a:picLocks noChangeAspect="1"/>
          </p:cNvPicPr>
          <p:nvPr/>
        </p:nvPicPr>
        <p:blipFill>
          <a:blip r:embed="rId3"/>
          <a:srcRect l="3406" t="3309" r="3649" b="709"/>
          <a:stretch>
            <a:fillRect/>
          </a:stretch>
        </p:blipFill>
        <p:spPr>
          <a:xfrm>
            <a:off x="7591777" y="1780565"/>
            <a:ext cx="2457945" cy="2614679"/>
          </a:xfrm>
          <a:prstGeom prst="rect">
            <a:avLst/>
          </a:prstGeom>
        </p:spPr>
      </p:pic>
      <p:pic>
        <p:nvPicPr>
          <p:cNvPr id="8" name="图片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6340" y="1668418"/>
            <a:ext cx="2761056" cy="2615039"/>
          </a:xfrm>
          <a:prstGeom prst="rect">
            <a:avLst/>
          </a:prstGeom>
        </p:spPr>
      </p:pic>
      <p:pic>
        <p:nvPicPr>
          <p:cNvPr id="9" name="图片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7016" y="4394949"/>
            <a:ext cx="6620323" cy="19907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/>
          <p:nvPr>
            <p:custDataLst>
              <p:tags r:id="rId1"/>
            </p:custDataLst>
          </p:nvPr>
        </p:nvSpPr>
        <p:spPr>
          <a:xfrm>
            <a:off x="1157288" y="1251584"/>
            <a:ext cx="4056062" cy="584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/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sz="2600" b="1">
                <a:latin typeface="+mj-ea"/>
                <a:ea typeface="+mj-ea"/>
              </a:rPr>
              <a:t>一、牛顿第二定律</a:t>
            </a:r>
          </a:p>
        </p:txBody>
      </p:sp>
      <p:sp>
        <p:nvSpPr>
          <p:cNvPr id="3" name="文本框 2"/>
          <p:cNvSpPr/>
          <p:nvPr>
            <p:custDataLst>
              <p:tags r:id="rId2"/>
            </p:custDataLst>
          </p:nvPr>
        </p:nvSpPr>
        <p:spPr>
          <a:xfrm>
            <a:off x="1157288" y="2044700"/>
            <a:ext cx="9545164" cy="13843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/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lnSpc>
                <a:spcPct val="200000"/>
              </a:lnSpc>
            </a:pP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内容：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物体加速度的大小跟作用力成正比，跟物体的质量成反比，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加速度的方向跟作用力的方向相同。</a:t>
            </a:r>
          </a:p>
        </p:txBody>
      </p:sp>
      <p:graphicFrame>
        <p:nvGraphicFramePr>
          <p:cNvPr id="4" name="对象 1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3345498" y="3582353"/>
          <a:ext cx="1531938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2496800" imgH="9753600" progId="Equation.KSEE3">
                  <p:embed/>
                </p:oleObj>
              </mc:Choice>
              <mc:Fallback>
                <p:oleObj r:id="rId9" imgW="12496800" imgH="9753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45498" y="3582353"/>
                        <a:ext cx="1531938" cy="1193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AutoShape 34"/>
          <p:cNvSpPr/>
          <p:nvPr>
            <p:custDataLst>
              <p:tags r:id="rId4"/>
            </p:custDataLst>
          </p:nvPr>
        </p:nvSpPr>
        <p:spPr>
          <a:xfrm rot="10800000" flipH="1">
            <a:off x="5126832" y="4053681"/>
            <a:ext cx="1344612" cy="304800"/>
          </a:xfrm>
          <a:custGeom>
            <a:avLst/>
            <a:gdLst/>
            <a:ahLst/>
            <a:cxnLst>
              <a:cxn ang="0">
                <a:pos x="1008459" y="0"/>
              </a:cxn>
              <a:cxn ang="0">
                <a:pos x="1008459" y="55569"/>
              </a:cxn>
              <a:cxn ang="0">
                <a:pos x="210095" y="55569"/>
              </a:cxn>
              <a:cxn ang="0">
                <a:pos x="210095" y="249230"/>
              </a:cxn>
              <a:cxn ang="0">
                <a:pos x="1008459" y="249230"/>
              </a:cxn>
              <a:cxn ang="0">
                <a:pos x="1008459" y="304800"/>
              </a:cxn>
              <a:cxn ang="0">
                <a:pos x="1344612" y="152400"/>
              </a:cxn>
              <a:cxn ang="0">
                <a:pos x="84038" y="55569"/>
              </a:cxn>
              <a:cxn ang="0">
                <a:pos x="84038" y="249230"/>
              </a:cxn>
              <a:cxn ang="0">
                <a:pos x="168076" y="249230"/>
              </a:cxn>
              <a:cxn ang="0">
                <a:pos x="168076" y="55569"/>
              </a:cxn>
              <a:cxn ang="0">
                <a:pos x="0" y="55569"/>
              </a:cxn>
              <a:cxn ang="0">
                <a:pos x="0" y="249230"/>
              </a:cxn>
              <a:cxn ang="0">
                <a:pos x="42019" y="249230"/>
              </a:cxn>
              <a:cxn ang="0">
                <a:pos x="42019" y="55569"/>
              </a:cxn>
            </a:cxnLst>
            <a:rect l="0" t="0" r="0" b="0"/>
            <a:pathLst>
              <a:path w="21600" h="21600">
                <a:moveTo>
                  <a:pt x="16200" y="0"/>
                </a:moveTo>
                <a:lnTo>
                  <a:pt x="16200" y="3938"/>
                </a:lnTo>
                <a:lnTo>
                  <a:pt x="3375" y="3938"/>
                </a:lnTo>
                <a:lnTo>
                  <a:pt x="3375" y="17662"/>
                </a:lnTo>
                <a:lnTo>
                  <a:pt x="16200" y="17662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3938"/>
                </a:moveTo>
                <a:lnTo>
                  <a:pt x="1350" y="17662"/>
                </a:lnTo>
                <a:lnTo>
                  <a:pt x="2700" y="17662"/>
                </a:lnTo>
                <a:lnTo>
                  <a:pt x="2700" y="3938"/>
                </a:lnTo>
                <a:close/>
              </a:path>
              <a:path w="21600" h="21600">
                <a:moveTo>
                  <a:pt x="0" y="3938"/>
                </a:moveTo>
                <a:lnTo>
                  <a:pt x="0" y="17662"/>
                </a:lnTo>
                <a:lnTo>
                  <a:pt x="675" y="17662"/>
                </a:lnTo>
                <a:lnTo>
                  <a:pt x="675" y="3938"/>
                </a:lnTo>
                <a:close/>
              </a:path>
            </a:pathLst>
          </a:custGeom>
          <a:gradFill rotWithShape="1">
            <a:gsLst>
              <a:gs pos="0">
                <a:srgbClr val="FF3399"/>
              </a:gs>
              <a:gs pos="12500">
                <a:srgbClr val="FF6633"/>
              </a:gs>
              <a:gs pos="25000">
                <a:srgbClr val="FFFF00"/>
              </a:gs>
              <a:gs pos="37500">
                <a:srgbClr val="01A78F"/>
              </a:gs>
              <a:gs pos="50000">
                <a:srgbClr val="3366FF"/>
              </a:gs>
              <a:gs pos="62500">
                <a:srgbClr val="01A78F"/>
              </a:gs>
              <a:gs pos="75000">
                <a:srgbClr val="FFFF00"/>
              </a:gs>
              <a:gs pos="87500">
                <a:srgbClr val="FF6633"/>
              </a:gs>
              <a:gs pos="100000">
                <a:srgbClr val="FF3399"/>
              </a:gs>
            </a:gsLst>
            <a:lin ang="5400000" scaled="1"/>
          </a:gradFill>
          <a:ln>
            <a:solidFill>
              <a:prstClr val="black"/>
            </a:solidFill>
            <a:round/>
          </a:ln>
        </p:spPr>
        <p:txBody>
          <a:bodyPr anchor="t" anchorCtr="0"/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endParaRPr lang="zh-CN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3"/>
          <p:cNvSpPr/>
          <p:nvPr>
            <p:custDataLst>
              <p:tags r:id="rId5"/>
            </p:custDataLst>
          </p:nvPr>
        </p:nvSpPr>
        <p:spPr>
          <a:xfrm>
            <a:off x="6844983" y="3898790"/>
            <a:ext cx="2066925" cy="6461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/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en-US" sz="2400" b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合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=kma</a:t>
            </a:r>
          </a:p>
        </p:txBody>
      </p:sp>
      <p:sp>
        <p:nvSpPr>
          <p:cNvPr id="7" name="文本框 4"/>
          <p:cNvSpPr/>
          <p:nvPr>
            <p:custDataLst>
              <p:tags r:id="rId6"/>
            </p:custDataLst>
          </p:nvPr>
        </p:nvSpPr>
        <p:spPr>
          <a:xfrm>
            <a:off x="1863726" y="5111751"/>
            <a:ext cx="3935412" cy="9906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/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是比例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系数，没有单位。</a:t>
            </a:r>
          </a:p>
        </p:txBody>
      </p:sp>
      <p:sp>
        <p:nvSpPr>
          <p:cNvPr id="8" name="文本框 1"/>
          <p:cNvSpPr/>
          <p:nvPr>
            <p:custDataLst>
              <p:tags r:id="rId7"/>
            </p:custDataLst>
          </p:nvPr>
        </p:nvSpPr>
        <p:spPr>
          <a:xfrm>
            <a:off x="5822633" y="5014797"/>
            <a:ext cx="6178550" cy="85883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/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lnSpc>
                <a:spcPct val="150000"/>
              </a:lnSpc>
            </a:pP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数值取决于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单位的选取。</a:t>
            </a:r>
            <a:endParaRPr lang="zh-CN" altLang="en-US" sz="24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/>
          <p:nvPr>
            <p:custDataLst>
              <p:tags r:id="rId1"/>
            </p:custDataLst>
          </p:nvPr>
        </p:nvSpPr>
        <p:spPr>
          <a:xfrm>
            <a:off x="421641" y="1222698"/>
            <a:ext cx="2803525" cy="584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/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sz="2600" b="1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二、力的单位</a:t>
            </a:r>
          </a:p>
        </p:txBody>
      </p:sp>
      <p:sp>
        <p:nvSpPr>
          <p:cNvPr id="3" name="Text Box 16"/>
          <p:cNvSpPr/>
          <p:nvPr>
            <p:custDataLst>
              <p:tags r:id="rId2"/>
            </p:custDataLst>
          </p:nvPr>
        </p:nvSpPr>
        <p:spPr>
          <a:xfrm>
            <a:off x="480377" y="1738870"/>
            <a:ext cx="11231245" cy="57624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zh-CN" altLang="en-US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=1时，质量 </a:t>
            </a:r>
            <a:r>
              <a:rPr lang="zh-CN" altLang="en-US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1 kg 的物体在某力作用下获得 </a:t>
            </a:r>
            <a:r>
              <a:rPr lang="zh-CN" altLang="en-US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1 m/s</a:t>
            </a:r>
            <a:r>
              <a:rPr lang="zh-CN" altLang="en-US" sz="2400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的加速度所需要的力：</a:t>
            </a:r>
          </a:p>
        </p:txBody>
      </p:sp>
      <p:sp>
        <p:nvSpPr>
          <p:cNvPr id="4" name="Text Box 17"/>
          <p:cNvSpPr/>
          <p:nvPr>
            <p:custDataLst>
              <p:tags r:id="rId3"/>
            </p:custDataLst>
          </p:nvPr>
        </p:nvSpPr>
        <p:spPr>
          <a:xfrm>
            <a:off x="681184" y="2916939"/>
            <a:ext cx="4371194" cy="57624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F=ma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 kg×1m/s</a:t>
            </a:r>
            <a:r>
              <a:rPr lang="zh-CN" altLang="en-US" sz="2400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1 kg·m/s</a:t>
            </a:r>
            <a:r>
              <a:rPr lang="zh-CN" altLang="en-US" sz="2400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" name="Rectangle 19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446203" y="2374336"/>
            <a:ext cx="4356464" cy="5762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algn="ctr">
              <a:lnSpc>
                <a:spcPct val="150000"/>
              </a:lnSpc>
              <a:buNone/>
            </a:pPr>
            <a:r>
              <a:rPr lang="zh-CN" altLang="en-US" sz="2400">
                <a:solidFill>
                  <a:srgbClr val="FF0000"/>
                </a:solidFill>
                <a:effectLst>
                  <a:outerShdw blurRad="38100" dist="38100" dir="2700000" algn="tl">
                    <a:schemeClr val="bg2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把 </a:t>
            </a:r>
            <a:r>
              <a:rPr lang="en-US" altLang="zh-CN" sz="2400">
                <a:solidFill>
                  <a:srgbClr val="FF0000"/>
                </a:solidFill>
                <a:effectLst>
                  <a:outerShdw blurRad="38100" dist="38100" dir="2700000" algn="tl">
                    <a:schemeClr val="bg2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kg·m/s</a:t>
            </a:r>
            <a:r>
              <a:rPr lang="en-US" altLang="zh-CN" sz="2400" baseline="30000">
                <a:solidFill>
                  <a:srgbClr val="FF0000"/>
                </a:solidFill>
                <a:effectLst>
                  <a:outerShdw blurRad="38100" dist="38100" dir="2700000" algn="tl">
                    <a:schemeClr val="bg2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>
                <a:solidFill>
                  <a:srgbClr val="FF0000"/>
                </a:solidFill>
                <a:effectLst>
                  <a:outerShdw blurRad="38100" dist="38100" dir="2700000" algn="tl">
                    <a:schemeClr val="bg2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>
                <a:solidFill>
                  <a:srgbClr val="FF0000"/>
                </a:solidFill>
                <a:effectLst>
                  <a:outerShdw blurRad="38100" dist="38100" dir="2700000" algn="tl">
                    <a:schemeClr val="bg2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叫做一个单位的力</a:t>
            </a:r>
            <a:endParaRPr lang="zh-CN" altLang="en-US" sz="2400" baseline="30000">
              <a:solidFill>
                <a:srgbClr val="FF0000"/>
              </a:solidFill>
              <a:effectLst>
                <a:outerShdw blurRad="38100" dist="38100" dir="2700000" algn="tl">
                  <a:schemeClr val="bg2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21"/>
          <p:cNvSpPr/>
          <p:nvPr>
            <p:custDataLst>
              <p:tags r:id="rId5"/>
            </p:custDataLst>
          </p:nvPr>
        </p:nvSpPr>
        <p:spPr>
          <a:xfrm>
            <a:off x="5312728" y="3205063"/>
            <a:ext cx="792162" cy="215900"/>
          </a:xfrm>
          <a:prstGeom prst="notchedRightArrow">
            <a:avLst>
              <a:gd name="adj1" fmla="val 50000"/>
              <a:gd name="adj2" fmla="val 91592"/>
            </a:avLst>
          </a:prstGeom>
          <a:solidFill>
            <a:srgbClr val="9BD3EF"/>
          </a:solidFill>
          <a:ln>
            <a:noFill/>
            <a:miter lim="800000"/>
          </a:ln>
          <a:effectLst>
            <a:outerShdw dist="35921" dir="2700000" algn="ctr">
              <a:schemeClr val="bg2"/>
            </a:outerShdw>
          </a:effectLst>
        </p:spPr>
        <p:txBody>
          <a:bodyPr wrap="none" anchor="ctr" anchorCtr="0"/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lnSpc>
                <a:spcPct val="150000"/>
              </a:lnSpc>
              <a:spcBef>
                <a:spcPct val="0"/>
              </a:spcBef>
              <a:buNone/>
            </a:pPr>
            <a:endParaRPr lang="zh-CN" altLang="en-US" sz="24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16"/>
          <p:cNvSpPr/>
          <p:nvPr>
            <p:custDataLst>
              <p:tags r:id="rId6"/>
            </p:custDataLst>
          </p:nvPr>
        </p:nvSpPr>
        <p:spPr>
          <a:xfrm>
            <a:off x="6365240" y="3082181"/>
            <a:ext cx="5378450" cy="46166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力的单位就是千克米每二次方秒</a:t>
            </a:r>
          </a:p>
        </p:txBody>
      </p:sp>
      <p:sp>
        <p:nvSpPr>
          <p:cNvPr id="8" name="文本框 17"/>
          <p:cNvSpPr/>
          <p:nvPr>
            <p:custDataLst>
              <p:tags r:id="rId7"/>
            </p:custDataLst>
          </p:nvPr>
        </p:nvSpPr>
        <p:spPr>
          <a:xfrm>
            <a:off x="610553" y="3687664"/>
            <a:ext cx="9293225" cy="57624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lnSpc>
                <a:spcPct val="150000"/>
              </a:lnSpc>
              <a:spcBef>
                <a:spcPct val="50000"/>
              </a:spcBef>
              <a:buNone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后人为了纪念牛顿，把它称作“牛顿”，用符号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endParaRPr lang="en-US" altLang="zh-CN" sz="2400" b="1" baseline="300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195"/>
          <p:cNvSpPr/>
          <p:nvPr>
            <p:custDataLst>
              <p:tags r:id="rId8"/>
            </p:custDataLst>
          </p:nvPr>
        </p:nvSpPr>
        <p:spPr>
          <a:xfrm>
            <a:off x="577841" y="4506212"/>
            <a:ext cx="11133782" cy="1130246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在质量的单位取千克（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kg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），加速度的单位取米每二次方秒（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m/s</a:t>
            </a:r>
            <a:r>
              <a:rPr lang="en-US" altLang="zh-CN" sz="2400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），力的单位取牛顿（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 时，牛顿第二定律简化成：</a:t>
            </a:r>
          </a:p>
        </p:txBody>
      </p:sp>
      <p:sp>
        <p:nvSpPr>
          <p:cNvPr id="10" name="Text Box 8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708809" y="5141678"/>
            <a:ext cx="1852179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2400" i="1" strike="noStrike" noProof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en-US" sz="2400" strike="noStrike" baseline="-25000" noProof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合</a:t>
            </a:r>
            <a:r>
              <a:rPr lang="en-US" altLang="zh-CN" sz="2400" strike="noStrike" noProof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400" i="1" strike="noStrike" noProof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additive="base"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 additive="base"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 animBg="1"/>
      <p:bldP spid="7" grpId="0"/>
      <p:bldP spid="8" grpId="0"/>
      <p:bldP spid="9" grpId="0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/>
          <p:nvPr>
            <p:custDataLst>
              <p:tags r:id="rId1"/>
            </p:custDataLst>
          </p:nvPr>
        </p:nvSpPr>
        <p:spPr>
          <a:xfrm>
            <a:off x="1322770" y="1352495"/>
            <a:ext cx="7127875" cy="584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/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sz="2600" b="1">
                <a:latin typeface="微软雅黑" panose="020B0503020204020204" charset="-122"/>
                <a:ea typeface="微软雅黑" panose="020B0503020204020204" charset="-122"/>
              </a:rPr>
              <a:t>三、对牛顿第二定律的理解</a:t>
            </a:r>
          </a:p>
        </p:txBody>
      </p:sp>
      <p:sp>
        <p:nvSpPr>
          <p:cNvPr id="3" name="Text Box 2"/>
          <p:cNvSpPr/>
          <p:nvPr>
            <p:custDataLst>
              <p:tags r:id="rId2"/>
            </p:custDataLst>
          </p:nvPr>
        </p:nvSpPr>
        <p:spPr>
          <a:xfrm>
            <a:off x="1283419" y="2055477"/>
            <a:ext cx="9754235" cy="1684244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lnSpc>
                <a:spcPct val="150000"/>
              </a:lnSpc>
              <a:spcBef>
                <a:spcPct val="50000"/>
              </a:spcBef>
              <a:buClrTx/>
              <a:buNone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从牛顿第二定律知道，无论怎样小的力都可以产生加速度，可是，我们用力去提一个很重的箱子，却提不动它。这和牛顿第二定律有矛盾吗？怎么解释？</a:t>
            </a:r>
            <a:endParaRPr lang="zh-CN" altLang="en-US" sz="24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Text Box 22"/>
          <p:cNvSpPr/>
          <p:nvPr>
            <p:custDataLst>
              <p:tags r:id="rId3"/>
            </p:custDataLst>
          </p:nvPr>
        </p:nvSpPr>
        <p:spPr>
          <a:xfrm>
            <a:off x="1283419" y="4179606"/>
            <a:ext cx="9948862" cy="46166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spcBef>
                <a:spcPct val="50000"/>
              </a:spcBef>
              <a:buClrTx/>
              <a:buNone/>
            </a:pP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回顾在上节课的实验探究中所用的外力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是怎样得来的？</a:t>
            </a:r>
          </a:p>
        </p:txBody>
      </p:sp>
      <p:grpSp>
        <p:nvGrpSpPr>
          <p:cNvPr id="5" name="Group 19"/>
          <p:cNvGrpSpPr/>
          <p:nvPr>
            <p:custDataLst>
              <p:tags r:id="rId4"/>
            </p:custDataLst>
          </p:nvPr>
        </p:nvGrpSpPr>
        <p:grpSpPr>
          <a:xfrm>
            <a:off x="4961658" y="4687178"/>
            <a:ext cx="1524000" cy="373063"/>
            <a:chOff x="0" y="33"/>
            <a:chExt cx="894" cy="235"/>
          </a:xfrm>
        </p:grpSpPr>
        <p:sp>
          <p:nvSpPr>
            <p:cNvPr id="6" name="Rectangle 20"/>
            <p:cNvSpPr/>
            <p:nvPr>
              <p:custDataLst>
                <p:tags r:id="rId8"/>
              </p:custDataLst>
            </p:nvPr>
          </p:nvSpPr>
          <p:spPr>
            <a:xfrm>
              <a:off x="0" y="33"/>
              <a:ext cx="894" cy="233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lIns="0" tIns="0" rIns="0" bIns="0" anchor="t" anchorCtr="0">
              <a:spAutoFit/>
            </a:bodyPr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</a:lstStyle>
            <a:p>
              <a:pPr lvl="0" algn="ctr">
                <a:buFont typeface="Arial" panose="020B0604020202020204" pitchFamily="34" charset="0"/>
              </a:pPr>
              <a:r>
                <a:rPr lang="en-US" altLang="zh-CN" sz="2400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zh-CN" altLang="en-US" sz="2400" b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合</a:t>
              </a:r>
              <a:r>
                <a:rPr lang="zh-CN" altLang="en-US" sz="2400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</a:t>
              </a:r>
              <a:r>
                <a:rPr lang="en-US" altLang="zh-CN" sz="2400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ma</a:t>
              </a:r>
              <a:endPara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21"/>
            <p:cNvSpPr/>
            <p:nvPr>
              <p:custDataLst>
                <p:tags r:id="rId9"/>
              </p:custDataLst>
            </p:nvPr>
          </p:nvSpPr>
          <p:spPr>
            <a:xfrm>
              <a:off x="410" y="35"/>
              <a:ext cx="90" cy="233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anchor="t" anchorCtr="0">
              <a:spAutoFit/>
            </a:bodyPr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</a:lstStyle>
            <a:p>
              <a:pPr lvl="0" algn="ctr">
                <a:buFont typeface="Arial" panose="020B0604020202020204" pitchFamily="34" charset="0"/>
              </a:pPr>
              <a:r>
                <a:rPr lang="en-US" altLang="zh-CN" sz="240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</a:t>
              </a:r>
            </a:p>
          </p:txBody>
        </p:sp>
      </p:grpSp>
      <p:sp>
        <p:nvSpPr>
          <p:cNvPr id="8" name="AutoShape 14"/>
          <p:cNvSpPr/>
          <p:nvPr>
            <p:custDataLst>
              <p:tags r:id="rId5"/>
            </p:custDataLst>
          </p:nvPr>
        </p:nvSpPr>
        <p:spPr>
          <a:xfrm>
            <a:off x="6160537" y="3858503"/>
            <a:ext cx="1524000" cy="587375"/>
          </a:xfrm>
          <a:prstGeom prst="wedgeRoundRectCallout">
            <a:avLst>
              <a:gd name="adj1" fmla="val -93009"/>
              <a:gd name="adj2" fmla="val 82894"/>
              <a:gd name="adj3" fmla="val 16667"/>
            </a:avLst>
          </a:prstGeom>
          <a:solidFill>
            <a:srgbClr val="CCFF33"/>
          </a:solidFill>
          <a:ln>
            <a:solidFill>
              <a:schemeClr val="tx1"/>
            </a:solidFill>
            <a:round/>
          </a:ln>
        </p:spPr>
        <p:txBody>
          <a:bodyPr anchor="t" anchorCtr="0"/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algn="ctr">
              <a:buFont typeface="Arial" panose="020B0604020202020204" pitchFamily="34" charset="0"/>
            </a:pPr>
            <a:r>
              <a:rPr lang="zh-CN" altLang="en-US" sz="2400" b="1">
                <a:solidFill>
                  <a:srgbClr val="02080A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合力</a:t>
            </a:r>
          </a:p>
        </p:txBody>
      </p:sp>
      <p:sp>
        <p:nvSpPr>
          <p:cNvPr id="9" name="AutoShape 14"/>
          <p:cNvSpPr/>
          <p:nvPr>
            <p:custDataLst>
              <p:tags r:id="rId6"/>
            </p:custDataLst>
          </p:nvPr>
        </p:nvSpPr>
        <p:spPr>
          <a:xfrm flipH="1">
            <a:off x="2413561" y="4644446"/>
            <a:ext cx="1905000" cy="523875"/>
          </a:xfrm>
          <a:prstGeom prst="wedgeRoundRectCallout">
            <a:avLst>
              <a:gd name="adj1" fmla="val -92954"/>
              <a:gd name="adj2" fmla="val -3676"/>
              <a:gd name="adj3" fmla="val 16667"/>
            </a:avLst>
          </a:prstGeom>
          <a:solidFill>
            <a:srgbClr val="CCFF33"/>
          </a:solidFill>
          <a:ln>
            <a:solidFill>
              <a:schemeClr val="tx1"/>
            </a:solidFill>
            <a:round/>
          </a:ln>
        </p:spPr>
        <p:txBody>
          <a:bodyPr anchor="t" anchorCtr="0"/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algn="ctr">
              <a:buFont typeface="Arial" panose="020B0604020202020204" pitchFamily="34" charset="0"/>
            </a:pPr>
            <a:r>
              <a:rPr lang="zh-CN" altLang="en-US" sz="2400" b="1">
                <a:solidFill>
                  <a:srgbClr val="02080A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因果性</a:t>
            </a:r>
          </a:p>
        </p:txBody>
      </p:sp>
      <p:sp>
        <p:nvSpPr>
          <p:cNvPr id="10" name="AutoShape 14"/>
          <p:cNvSpPr/>
          <p:nvPr>
            <p:custDataLst>
              <p:tags r:id="rId7"/>
            </p:custDataLst>
          </p:nvPr>
        </p:nvSpPr>
        <p:spPr>
          <a:xfrm flipH="1">
            <a:off x="6749131" y="4722897"/>
            <a:ext cx="1560512" cy="563562"/>
          </a:xfrm>
          <a:prstGeom prst="wedgeRoundRectCallout">
            <a:avLst>
              <a:gd name="adj1" fmla="val 74486"/>
              <a:gd name="adj2" fmla="val -17204"/>
              <a:gd name="adj3" fmla="val 16667"/>
            </a:avLst>
          </a:prstGeom>
          <a:solidFill>
            <a:srgbClr val="CCFF33"/>
          </a:solidFill>
          <a:ln>
            <a:solidFill>
              <a:schemeClr val="tx1"/>
            </a:solidFill>
            <a:round/>
          </a:ln>
        </p:spPr>
        <p:txBody>
          <a:bodyPr anchor="t" anchorCtr="0"/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algn="ctr">
              <a:buFont typeface="Arial" panose="020B0604020202020204" pitchFamily="34" charset="0"/>
            </a:pPr>
            <a:r>
              <a:rPr lang="zh-CN" altLang="en-US" sz="2400" b="1">
                <a:solidFill>
                  <a:srgbClr val="02080A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同一性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/>
          <p:nvPr>
            <p:custDataLst>
              <p:tags r:id="rId1"/>
            </p:custDataLst>
          </p:nvPr>
        </p:nvSpPr>
        <p:spPr>
          <a:xfrm>
            <a:off x="965575" y="1042625"/>
            <a:ext cx="7127875" cy="584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/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sz="2600" b="1">
                <a:latin typeface="微软雅黑" panose="020B0503020204020204" charset="-122"/>
                <a:ea typeface="微软雅黑" panose="020B0503020204020204" charset="-122"/>
              </a:rPr>
              <a:t>三、对牛顿第二定律的理解</a:t>
            </a:r>
          </a:p>
        </p:txBody>
      </p:sp>
      <p:grpSp>
        <p:nvGrpSpPr>
          <p:cNvPr id="3" name="Group 5"/>
          <p:cNvGrpSpPr/>
          <p:nvPr>
            <p:custDataLst>
              <p:tags r:id="rId2"/>
            </p:custDataLst>
          </p:nvPr>
        </p:nvGrpSpPr>
        <p:grpSpPr>
          <a:xfrm>
            <a:off x="1046537" y="1578563"/>
            <a:ext cx="9993313" cy="920750"/>
            <a:chOff x="-1101" y="-830"/>
            <a:chExt cx="6295" cy="580"/>
          </a:xfrm>
        </p:grpSpPr>
        <p:sp>
          <p:nvSpPr>
            <p:cNvPr id="4" name="Text Box 6"/>
            <p:cNvSpPr/>
            <p:nvPr>
              <p:custDataLst>
                <p:tags r:id="rId11"/>
              </p:custDataLst>
            </p:nvPr>
          </p:nvSpPr>
          <p:spPr>
            <a:xfrm>
              <a:off x="-1101" y="-677"/>
              <a:ext cx="4992" cy="291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t" anchorCtr="0">
              <a:spAutoFit/>
            </a:bodyPr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</a:lstStyle>
            <a:p>
              <a:pPr lvl="0">
                <a:spcBef>
                  <a:spcPct val="50000"/>
                </a:spcBef>
                <a:buClrTx/>
                <a:buNone/>
              </a:pPr>
              <a:r>
                <a:rPr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问题</a:t>
              </a: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水平抛出的铅球，加速度的方向如何？ </a:t>
              </a:r>
            </a:p>
          </p:txBody>
        </p:sp>
        <p:pic>
          <p:nvPicPr>
            <p:cNvPr id="5" name="Picture 7" descr="20090522144122001"/>
            <p:cNvPicPr/>
            <p:nvPr>
              <p:custDataLst>
                <p:tags r:id="rId12"/>
              </p:custDataLst>
            </p:nvPr>
          </p:nvPicPr>
          <p:blipFill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226" y="-830"/>
              <a:ext cx="1968" cy="580"/>
            </a:xfrm>
            <a:prstGeom prst="rect">
              <a:avLst/>
            </a:prstGeom>
            <a:noFill/>
            <a:ln>
              <a:noFill/>
              <a:miter lim="800000"/>
            </a:ln>
          </p:spPr>
        </p:pic>
      </p:grpSp>
      <p:grpSp>
        <p:nvGrpSpPr>
          <p:cNvPr id="6" name="Group 2"/>
          <p:cNvGrpSpPr/>
          <p:nvPr>
            <p:custDataLst>
              <p:tags r:id="rId3"/>
            </p:custDataLst>
          </p:nvPr>
        </p:nvGrpSpPr>
        <p:grpSpPr>
          <a:xfrm>
            <a:off x="1316413" y="2705053"/>
            <a:ext cx="1524000" cy="406400"/>
            <a:chOff x="0" y="33"/>
            <a:chExt cx="894" cy="256"/>
          </a:xfrm>
        </p:grpSpPr>
        <p:sp>
          <p:nvSpPr>
            <p:cNvPr id="7" name="Rectangle 3"/>
            <p:cNvSpPr/>
            <p:nvPr>
              <p:custDataLst>
                <p:tags r:id="rId9"/>
              </p:custDataLst>
            </p:nvPr>
          </p:nvSpPr>
          <p:spPr>
            <a:xfrm>
              <a:off x="0" y="33"/>
              <a:ext cx="894" cy="233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lIns="0" tIns="0" rIns="0" bIns="0" anchor="t" anchorCtr="0">
              <a:spAutoFit/>
            </a:bodyPr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</a:lstStyle>
            <a:p>
              <a:pPr lvl="0" algn="ctr">
                <a:buFont typeface="Arial" panose="020B0604020202020204" pitchFamily="34" charset="0"/>
              </a:pPr>
              <a:r>
                <a:rPr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zh-CN" altLang="en-US" sz="2400" b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合</a:t>
              </a:r>
              <a:r>
                <a:rPr lang="zh-CN" altLang="en-US" sz="2400" b="1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</a:t>
              </a:r>
              <a:r>
                <a:rPr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ma</a:t>
              </a:r>
              <a:endPara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4"/>
            <p:cNvSpPr/>
            <p:nvPr>
              <p:custDataLst>
                <p:tags r:id="rId10"/>
              </p:custDataLst>
            </p:nvPr>
          </p:nvSpPr>
          <p:spPr>
            <a:xfrm>
              <a:off x="401" y="56"/>
              <a:ext cx="91" cy="233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anchor="t" anchorCtr="0">
              <a:spAutoFit/>
            </a:bodyPr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</a:lstStyle>
            <a:p>
              <a:pPr lvl="0" algn="ctr">
                <a:buFont typeface="Arial" panose="020B0604020202020204" pitchFamily="34" charset="0"/>
              </a:pPr>
              <a:r>
                <a:rPr lang="en-US" altLang="zh-CN" sz="2400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</a:t>
              </a:r>
            </a:p>
          </p:txBody>
        </p:sp>
      </p:grpSp>
      <p:sp>
        <p:nvSpPr>
          <p:cNvPr id="9" name="Text Box 5"/>
          <p:cNvSpPr/>
          <p:nvPr>
            <p:custDataLst>
              <p:tags r:id="rId4"/>
            </p:custDataLst>
          </p:nvPr>
        </p:nvSpPr>
        <p:spPr>
          <a:xfrm>
            <a:off x="3124575" y="2649490"/>
            <a:ext cx="5715000" cy="46166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en-US" sz="2400" b="1" baseline="-25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合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的方向即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加速度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的方向</a:t>
            </a:r>
          </a:p>
        </p:txBody>
      </p:sp>
      <p:sp>
        <p:nvSpPr>
          <p:cNvPr id="10" name="AutoShape 14"/>
          <p:cNvSpPr/>
          <p:nvPr>
            <p:custDataLst>
              <p:tags r:id="rId5"/>
            </p:custDataLst>
          </p:nvPr>
        </p:nvSpPr>
        <p:spPr>
          <a:xfrm>
            <a:off x="8084719" y="2675544"/>
            <a:ext cx="1509712" cy="585788"/>
          </a:xfrm>
          <a:prstGeom prst="wedgeRoundRectCallout">
            <a:avLst>
              <a:gd name="adj1" fmla="val -127801"/>
              <a:gd name="adj2" fmla="val 6278"/>
              <a:gd name="adj3" fmla="val 16667"/>
            </a:avLst>
          </a:prstGeom>
          <a:solidFill>
            <a:srgbClr val="CCFF33"/>
          </a:solidFill>
          <a:ln>
            <a:solidFill>
              <a:schemeClr val="tx1"/>
            </a:solidFill>
            <a:round/>
          </a:ln>
        </p:spPr>
        <p:txBody>
          <a:bodyPr anchor="t" anchorCtr="0"/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algn="ctr">
              <a:buFont typeface="Arial" panose="020B0604020202020204" pitchFamily="34" charset="0"/>
            </a:pPr>
            <a:r>
              <a:rPr lang="zh-CN" altLang="en-US" sz="2400" b="1">
                <a:solidFill>
                  <a:srgbClr val="02080A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矢量性</a:t>
            </a:r>
          </a:p>
        </p:txBody>
      </p:sp>
      <p:sp>
        <p:nvSpPr>
          <p:cNvPr id="11" name="Text Box 7"/>
          <p:cNvSpPr/>
          <p:nvPr>
            <p:custDataLst>
              <p:tags r:id="rId6"/>
            </p:custDataLst>
          </p:nvPr>
        </p:nvSpPr>
        <p:spPr>
          <a:xfrm>
            <a:off x="1046537" y="3682317"/>
            <a:ext cx="10413167" cy="46166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若作用在物体上的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外力随时间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不断变化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则物体的加速度会如何？</a:t>
            </a:r>
          </a:p>
        </p:txBody>
      </p:sp>
      <p:sp>
        <p:nvSpPr>
          <p:cNvPr id="12" name="Rectangle 11"/>
          <p:cNvSpPr/>
          <p:nvPr>
            <p:custDataLst>
              <p:tags r:id="rId7"/>
            </p:custDataLst>
          </p:nvPr>
        </p:nvSpPr>
        <p:spPr>
          <a:xfrm>
            <a:off x="1201795" y="4473844"/>
            <a:ext cx="9870123" cy="1113766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24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加速度与合外力存在瞬时对应关系，物体所受合外力的大小和方向如何变化，物体运动的加速度大小和方向总与合外力同步变化。</a:t>
            </a:r>
          </a:p>
        </p:txBody>
      </p:sp>
      <p:sp>
        <p:nvSpPr>
          <p:cNvPr id="13" name="AutoShape 13"/>
          <p:cNvSpPr/>
          <p:nvPr>
            <p:custDataLst>
              <p:tags r:id="rId8"/>
            </p:custDataLst>
          </p:nvPr>
        </p:nvSpPr>
        <p:spPr>
          <a:xfrm>
            <a:off x="8971337" y="5578098"/>
            <a:ext cx="1689100" cy="582612"/>
          </a:xfrm>
          <a:prstGeom prst="wedgeRoundRectCallout">
            <a:avLst>
              <a:gd name="adj1" fmla="val -104921"/>
              <a:gd name="adj2" fmla="val -42551"/>
              <a:gd name="adj3" fmla="val 16667"/>
            </a:avLst>
          </a:prstGeom>
          <a:solidFill>
            <a:srgbClr val="CCFF33"/>
          </a:solidFill>
          <a:ln>
            <a:solidFill>
              <a:schemeClr val="tx1"/>
            </a:solidFill>
            <a:round/>
          </a:ln>
        </p:spPr>
        <p:txBody>
          <a:bodyPr anchor="t" anchorCtr="0"/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algn="ctr">
              <a:buFont typeface="Arial" panose="020B0604020202020204" pitchFamily="34" charset="0"/>
            </a:pPr>
            <a:r>
              <a:rPr lang="zh-CN" altLang="en-US" sz="2400" b="1">
                <a:solidFill>
                  <a:srgbClr val="02080A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瞬时性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/>
      <p:bldP spid="12" grpId="0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/>
          <p:nvPr>
            <p:custDataLst>
              <p:tags r:id="rId1"/>
            </p:custDataLst>
          </p:nvPr>
        </p:nvSpPr>
        <p:spPr>
          <a:xfrm>
            <a:off x="1208020" y="1069271"/>
            <a:ext cx="6705600" cy="46166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讨论下列问题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 Box 5"/>
          <p:cNvSpPr/>
          <p:nvPr>
            <p:custDataLst>
              <p:tags r:id="rId2"/>
            </p:custDataLst>
          </p:nvPr>
        </p:nvSpPr>
        <p:spPr>
          <a:xfrm>
            <a:off x="1208020" y="1706597"/>
            <a:ext cx="4934495" cy="21920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lnSpc>
                <a:spcPct val="20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如图（一）所示：一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10kg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的物体只受到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=10N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的力作用，请问该物体的加速度大小和方向是怎样的？</a:t>
            </a:r>
          </a:p>
        </p:txBody>
      </p:sp>
      <p:grpSp>
        <p:nvGrpSpPr>
          <p:cNvPr id="4" name="Group 11"/>
          <p:cNvGrpSpPr/>
          <p:nvPr>
            <p:custDataLst>
              <p:tags r:id="rId3"/>
            </p:custDataLst>
          </p:nvPr>
        </p:nvGrpSpPr>
        <p:grpSpPr>
          <a:xfrm>
            <a:off x="7445112" y="2154601"/>
            <a:ext cx="2024063" cy="1214438"/>
            <a:chOff x="306" y="1683"/>
            <a:chExt cx="1275" cy="765"/>
          </a:xfrm>
        </p:grpSpPr>
        <p:grpSp>
          <p:nvGrpSpPr>
            <p:cNvPr id="5" name="Group 9"/>
            <p:cNvGrpSpPr/>
            <p:nvPr>
              <p:custDataLst>
                <p:tags r:id="rId10"/>
              </p:custDataLst>
            </p:nvPr>
          </p:nvGrpSpPr>
          <p:grpSpPr>
            <a:xfrm>
              <a:off x="306" y="1683"/>
              <a:ext cx="1275" cy="296"/>
              <a:chOff x="873" y="2451"/>
              <a:chExt cx="1275" cy="296"/>
            </a:xfrm>
          </p:grpSpPr>
          <p:sp>
            <p:nvSpPr>
              <p:cNvPr id="7" name="Rectangle 6"/>
              <p:cNvSpPr/>
              <p:nvPr>
                <p:custDataLst>
                  <p:tags r:id="rId12"/>
                </p:custDataLst>
              </p:nvPr>
            </p:nvSpPr>
            <p:spPr>
              <a:xfrm>
                <a:off x="873" y="2451"/>
                <a:ext cx="432" cy="288"/>
              </a:xfrm>
              <a:prstGeom prst="rect">
                <a:avLst/>
              </a:prstGeom>
              <a:solidFill>
                <a:schemeClr val="tx2"/>
              </a:solidFill>
              <a:ln w="28575">
                <a:solidFill>
                  <a:srgbClr val="339966"/>
                </a:solidFill>
                <a:round/>
              </a:ln>
            </p:spPr>
            <p:txBody>
              <a:bodyPr wrap="none" anchor="ctr" anchorCtr="0"/>
              <a:lstStyle>
                <a:lvl1pPr marL="0" indent="0" algn="l" defTabSz="914400" rtl="0" eaLnBrk="1" fontAlgn="base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457200" indent="0" algn="l" defTabSz="914400" rtl="0" eaLnBrk="1" fontAlgn="base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2pPr>
                <a:lvl3pPr marL="914400" indent="0" algn="l" defTabSz="914400" rtl="0" eaLnBrk="1" fontAlgn="base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3pPr>
                <a:lvl4pPr marL="1371600" indent="0" algn="l" defTabSz="914400" rtl="0" eaLnBrk="1" fontAlgn="base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4pPr>
                <a:lvl5pPr marL="1828800" indent="0" algn="l" defTabSz="914400" rtl="0" eaLnBrk="1" fontAlgn="base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5pPr>
              </a:lstStyle>
              <a:p>
                <a:pPr lvl="0" algn="ctr">
                  <a:buFont typeface="Arial" panose="020B0604020202020204" pitchFamily="34" charset="0"/>
                </a:pPr>
                <a:endPara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" name="Line 7"/>
              <p:cNvCxnSpPr/>
              <p:nvPr>
                <p:custDataLst>
                  <p:tags r:id="rId13"/>
                </p:custDataLst>
              </p:nvPr>
            </p:nvCxnSpPr>
            <p:spPr>
              <a:xfrm rot="1140000" flipV="1">
                <a:off x="1109" y="2477"/>
                <a:ext cx="720" cy="2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bevel/>
                <a:tailEnd type="triangle"/>
              </a:ln>
            </p:spPr>
          </p:cxnSp>
          <p:sp>
            <p:nvSpPr>
              <p:cNvPr id="9" name="Rectangle 8"/>
              <p:cNvSpPr/>
              <p:nvPr>
                <p:custDataLst>
                  <p:tags r:id="rId14"/>
                </p:custDataLst>
              </p:nvPr>
            </p:nvSpPr>
            <p:spPr>
              <a:xfrm>
                <a:off x="1849" y="2456"/>
                <a:ext cx="299" cy="291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 wrap="none" anchor="t" anchorCtr="0">
                <a:spAutoFit/>
              </a:bodyPr>
              <a:lstStyle>
                <a:lvl1pPr marL="0" indent="0" algn="l" defTabSz="914400" rtl="0" eaLnBrk="1" fontAlgn="base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457200" indent="0" algn="l" defTabSz="914400" rtl="0" eaLnBrk="1" fontAlgn="base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2pPr>
                <a:lvl3pPr marL="914400" indent="0" algn="l" defTabSz="914400" rtl="0" eaLnBrk="1" fontAlgn="base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3pPr>
                <a:lvl4pPr marL="1371600" indent="0" algn="l" defTabSz="914400" rtl="0" eaLnBrk="1" fontAlgn="base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4pPr>
                <a:lvl5pPr marL="1828800" indent="0" algn="l" defTabSz="914400" rtl="0" eaLnBrk="1" fontAlgn="base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5pPr>
              </a:lstStyle>
              <a:p>
                <a:pPr lvl="0">
                  <a:buFont typeface="Arial" panose="020B0604020202020204" pitchFamily="34" charset="0"/>
                </a:pPr>
                <a:r>
                  <a:rPr lang="en-US" altLang="zh-CN" sz="2400" i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400" baseline="-25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6" name="Text Box 10"/>
            <p:cNvSpPr/>
            <p:nvPr>
              <p:custDataLst>
                <p:tags r:id="rId11"/>
              </p:custDataLst>
            </p:nvPr>
          </p:nvSpPr>
          <p:spPr>
            <a:xfrm>
              <a:off x="325" y="2157"/>
              <a:ext cx="1248" cy="291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t" anchorCtr="0">
              <a:spAutoFit/>
            </a:bodyPr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</a:lstStyle>
            <a:p>
              <a:pPr lvl="0" algn="ctr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24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（图一）</a:t>
              </a:r>
            </a:p>
          </p:txBody>
        </p:sp>
      </p:grpSp>
      <p:sp>
        <p:nvSpPr>
          <p:cNvPr id="10" name="Text Box 12"/>
          <p:cNvSpPr/>
          <p:nvPr>
            <p:custDataLst>
              <p:tags r:id="rId4"/>
            </p:custDataLst>
          </p:nvPr>
        </p:nvSpPr>
        <p:spPr>
          <a:xfrm>
            <a:off x="1208020" y="3966810"/>
            <a:ext cx="4514771" cy="21920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lnSpc>
                <a:spcPct val="20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如图（二）所示：此物体只受到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=10N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的力作用，那其加速度大小和方向是怎样的？</a:t>
            </a:r>
          </a:p>
        </p:txBody>
      </p:sp>
      <p:grpSp>
        <p:nvGrpSpPr>
          <p:cNvPr id="11" name="Group 23"/>
          <p:cNvGrpSpPr/>
          <p:nvPr>
            <p:custDataLst>
              <p:tags r:id="rId5"/>
            </p:custDataLst>
          </p:nvPr>
        </p:nvGrpSpPr>
        <p:grpSpPr>
          <a:xfrm>
            <a:off x="7512090" y="4347897"/>
            <a:ext cx="2536825" cy="1454150"/>
            <a:chOff x="2770" y="1916"/>
            <a:chExt cx="1598" cy="916"/>
          </a:xfrm>
        </p:grpSpPr>
        <p:sp>
          <p:nvSpPr>
            <p:cNvPr id="12" name="Rectangle 13"/>
            <p:cNvSpPr/>
            <p:nvPr>
              <p:custDataLst>
                <p:tags r:id="rId6"/>
              </p:custDataLst>
            </p:nvPr>
          </p:nvSpPr>
          <p:spPr>
            <a:xfrm>
              <a:off x="2880" y="2544"/>
              <a:ext cx="432" cy="288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rgbClr val="339966"/>
              </a:solidFill>
              <a:round/>
            </a:ln>
          </p:spPr>
          <p:txBody>
            <a:bodyPr wrap="none" anchor="ctr" anchorCtr="0"/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</a:lstStyle>
            <a:p>
              <a:pPr lvl="0" algn="ctr">
                <a:buFont typeface="Arial" panose="020B0604020202020204" pitchFamily="34" charset="0"/>
              </a:pP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3" name="Line 14"/>
            <p:cNvCxnSpPr/>
            <p:nvPr>
              <p:custDataLst>
                <p:tags r:id="rId7"/>
              </p:custDataLst>
            </p:nvPr>
          </p:nvCxnSpPr>
          <p:spPr>
            <a:xfrm rot="1080000" flipH="1" flipV="1">
              <a:off x="2976" y="2016"/>
              <a:ext cx="240" cy="6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  <a:tailEnd type="triangle"/>
            </a:ln>
          </p:spPr>
        </p:cxnSp>
        <p:sp>
          <p:nvSpPr>
            <p:cNvPr id="14" name="Rectangle 15"/>
            <p:cNvSpPr/>
            <p:nvPr>
              <p:custDataLst>
                <p:tags r:id="rId8"/>
              </p:custDataLst>
            </p:nvPr>
          </p:nvSpPr>
          <p:spPr>
            <a:xfrm>
              <a:off x="2770" y="1916"/>
              <a:ext cx="299" cy="291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anchor="t" anchorCtr="0">
              <a:spAutoFit/>
            </a:bodyPr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</a:lstStyle>
            <a:p>
              <a:pPr lvl="0">
                <a:buFont typeface="Arial" panose="020B0604020202020204" pitchFamily="34" charset="0"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5" name="Text Box 22"/>
            <p:cNvSpPr/>
            <p:nvPr>
              <p:custDataLst>
                <p:tags r:id="rId9"/>
              </p:custDataLst>
            </p:nvPr>
          </p:nvSpPr>
          <p:spPr>
            <a:xfrm>
              <a:off x="3168" y="2440"/>
              <a:ext cx="1200" cy="291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t" anchorCtr="0">
              <a:spAutoFit/>
            </a:bodyPr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</a:lstStyle>
            <a:p>
              <a:pPr lvl="0" algn="ctr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24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（图二）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/>
          <p:nvPr>
            <p:custDataLst>
              <p:tags r:id="rId1"/>
            </p:custDataLst>
          </p:nvPr>
        </p:nvSpPr>
        <p:spPr>
          <a:xfrm>
            <a:off x="601137" y="976711"/>
            <a:ext cx="6705600" cy="46166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讨论下列问题</a:t>
            </a:r>
            <a:endParaRPr lang="zh-CN" altLang="en-US" sz="24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" name="Group 9"/>
          <p:cNvGrpSpPr/>
          <p:nvPr>
            <p:custDataLst>
              <p:tags r:id="rId2"/>
            </p:custDataLst>
          </p:nvPr>
        </p:nvGrpSpPr>
        <p:grpSpPr>
          <a:xfrm>
            <a:off x="1060234" y="3048726"/>
            <a:ext cx="2274888" cy="537845"/>
            <a:chOff x="873" y="2400"/>
            <a:chExt cx="1433" cy="339"/>
          </a:xfrm>
        </p:grpSpPr>
        <p:sp>
          <p:nvSpPr>
            <p:cNvPr id="4" name="Rectangle 6"/>
            <p:cNvSpPr/>
            <p:nvPr>
              <p:custDataLst>
                <p:tags r:id="rId38"/>
              </p:custDataLst>
            </p:nvPr>
          </p:nvSpPr>
          <p:spPr>
            <a:xfrm>
              <a:off x="873" y="2451"/>
              <a:ext cx="432" cy="288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rgbClr val="339966"/>
              </a:solidFill>
              <a:round/>
            </a:ln>
          </p:spPr>
          <p:txBody>
            <a:bodyPr wrap="none" anchor="ctr" anchorCtr="0"/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</a:lstStyle>
            <a:p>
              <a:pPr lvl="0" algn="ctr">
                <a:buFont typeface="Arial" panose="020B0604020202020204" pitchFamily="34" charset="0"/>
              </a:pP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" name="Line 7"/>
            <p:cNvCxnSpPr/>
            <p:nvPr>
              <p:custDataLst>
                <p:tags r:id="rId39"/>
              </p:custDataLst>
            </p:nvPr>
          </p:nvCxnSpPr>
          <p:spPr>
            <a:xfrm rot="1140000" flipV="1">
              <a:off x="1287" y="2448"/>
              <a:ext cx="720" cy="2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  <a:tailEnd type="triangle"/>
            </a:ln>
          </p:spPr>
        </p:cxnSp>
        <p:sp>
          <p:nvSpPr>
            <p:cNvPr id="6" name="Rectangle 8"/>
            <p:cNvSpPr/>
            <p:nvPr>
              <p:custDataLst>
                <p:tags r:id="rId40"/>
              </p:custDataLst>
            </p:nvPr>
          </p:nvSpPr>
          <p:spPr>
            <a:xfrm>
              <a:off x="2007" y="2400"/>
              <a:ext cx="299" cy="291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anchor="t" anchorCtr="0">
              <a:spAutoFit/>
            </a:bodyPr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</a:lstStyle>
            <a:p>
              <a:pPr lvl="0">
                <a:buFont typeface="Arial" panose="020B0604020202020204" pitchFamily="34" charset="0"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7" name="Group 23"/>
          <p:cNvGrpSpPr/>
          <p:nvPr>
            <p:custDataLst>
              <p:tags r:id="rId3"/>
            </p:custDataLst>
          </p:nvPr>
        </p:nvGrpSpPr>
        <p:grpSpPr>
          <a:xfrm>
            <a:off x="4149168" y="2538956"/>
            <a:ext cx="1066800" cy="1447800"/>
            <a:chOff x="2640" y="1920"/>
            <a:chExt cx="672" cy="912"/>
          </a:xfrm>
        </p:grpSpPr>
        <p:sp>
          <p:nvSpPr>
            <p:cNvPr id="8" name="Rectangle 13"/>
            <p:cNvSpPr/>
            <p:nvPr>
              <p:custDataLst>
                <p:tags r:id="rId35"/>
              </p:custDataLst>
            </p:nvPr>
          </p:nvSpPr>
          <p:spPr>
            <a:xfrm>
              <a:off x="2880" y="2544"/>
              <a:ext cx="432" cy="288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rgbClr val="339966"/>
              </a:solidFill>
              <a:round/>
            </a:ln>
          </p:spPr>
          <p:txBody>
            <a:bodyPr wrap="none" anchor="ctr" anchorCtr="0"/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</a:lstStyle>
            <a:p>
              <a:pPr lvl="0" algn="ctr">
                <a:buFont typeface="Arial" panose="020B0604020202020204" pitchFamily="34" charset="0"/>
              </a:pP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9" name="Line 14"/>
            <p:cNvCxnSpPr/>
            <p:nvPr>
              <p:custDataLst>
                <p:tags r:id="rId36"/>
              </p:custDataLst>
            </p:nvPr>
          </p:nvCxnSpPr>
          <p:spPr>
            <a:xfrm rot="1080000" flipH="1" flipV="1">
              <a:off x="2976" y="2016"/>
              <a:ext cx="240" cy="6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  <a:tailEnd type="triangle"/>
            </a:ln>
          </p:spPr>
        </p:cxnSp>
        <p:sp>
          <p:nvSpPr>
            <p:cNvPr id="10" name="Rectangle 15"/>
            <p:cNvSpPr/>
            <p:nvPr>
              <p:custDataLst>
                <p:tags r:id="rId37"/>
              </p:custDataLst>
            </p:nvPr>
          </p:nvSpPr>
          <p:spPr>
            <a:xfrm>
              <a:off x="2640" y="1920"/>
              <a:ext cx="299" cy="291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anchor="t" anchorCtr="0">
              <a:spAutoFit/>
            </a:bodyPr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</a:lstStyle>
            <a:p>
              <a:pPr lvl="0">
                <a:buFont typeface="Arial" panose="020B0604020202020204" pitchFamily="34" charset="0"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11" name="Text Box 24"/>
          <p:cNvSpPr/>
          <p:nvPr>
            <p:custDataLst>
              <p:tags r:id="rId4"/>
            </p:custDataLst>
          </p:nvPr>
        </p:nvSpPr>
        <p:spPr>
          <a:xfrm>
            <a:off x="601137" y="1525264"/>
            <a:ext cx="10901998" cy="1130246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若该物体同时受到这两个相互垂直的力共同作用呢，请问该物体的加速度大小和方向又是怎样的呢？</a:t>
            </a:r>
          </a:p>
        </p:txBody>
      </p:sp>
      <p:sp>
        <p:nvSpPr>
          <p:cNvPr id="12" name="Text Box 37"/>
          <p:cNvSpPr/>
          <p:nvPr>
            <p:custDataLst>
              <p:tags r:id="rId5"/>
            </p:custDataLst>
          </p:nvPr>
        </p:nvSpPr>
        <p:spPr>
          <a:xfrm>
            <a:off x="2105778" y="4992727"/>
            <a:ext cx="533400" cy="46166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3" name="Rectangle 38"/>
          <p:cNvSpPr/>
          <p:nvPr>
            <p:custDataLst>
              <p:tags r:id="rId6"/>
            </p:custDataLst>
          </p:nvPr>
        </p:nvSpPr>
        <p:spPr>
          <a:xfrm>
            <a:off x="2580728" y="5530228"/>
            <a:ext cx="474810" cy="46166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buFont typeface="Arial" panose="020B0604020202020204" pitchFamily="34" charset="0"/>
            </a:pP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" name="Rectangle 39"/>
          <p:cNvSpPr/>
          <p:nvPr>
            <p:custDataLst>
              <p:tags r:id="rId7"/>
            </p:custDataLst>
          </p:nvPr>
        </p:nvSpPr>
        <p:spPr>
          <a:xfrm>
            <a:off x="828128" y="4234828"/>
            <a:ext cx="474810" cy="46166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buFont typeface="Arial" panose="020B0604020202020204" pitchFamily="34" charset="0"/>
            </a:pP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5" name="Rectangle 40"/>
          <p:cNvSpPr/>
          <p:nvPr>
            <p:custDataLst>
              <p:tags r:id="rId8"/>
            </p:custDataLst>
          </p:nvPr>
        </p:nvSpPr>
        <p:spPr>
          <a:xfrm>
            <a:off x="1056728" y="5530228"/>
            <a:ext cx="685800" cy="457200"/>
          </a:xfrm>
          <a:prstGeom prst="rect">
            <a:avLst/>
          </a:prstGeom>
          <a:solidFill>
            <a:schemeClr val="tx2"/>
          </a:solidFill>
          <a:ln w="28575">
            <a:solidFill>
              <a:srgbClr val="339966"/>
            </a:solidFill>
            <a:round/>
          </a:ln>
        </p:spPr>
        <p:txBody>
          <a:bodyPr wrap="none" anchor="ctr" anchorCtr="0"/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algn="ctr">
              <a:buFont typeface="Arial" panose="020B0604020202020204" pitchFamily="34" charset="0"/>
            </a:pP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6" name="Line 41"/>
          <p:cNvCxnSpPr/>
          <p:nvPr>
            <p:custDataLst>
              <p:tags r:id="rId9"/>
            </p:custDataLst>
          </p:nvPr>
        </p:nvCxnSpPr>
        <p:spPr>
          <a:xfrm rot="1140000" flipV="1">
            <a:off x="1437728" y="5606428"/>
            <a:ext cx="1143000" cy="387350"/>
          </a:xfrm>
          <a:prstGeom prst="line">
            <a:avLst/>
          </a:prstGeom>
          <a:noFill/>
          <a:ln w="28575">
            <a:solidFill>
              <a:schemeClr val="tx1"/>
            </a:solidFill>
            <a:bevel/>
            <a:tailEnd type="triangle"/>
          </a:ln>
        </p:spPr>
      </p:cxnSp>
      <p:cxnSp>
        <p:nvCxnSpPr>
          <p:cNvPr id="17" name="Line 42"/>
          <p:cNvCxnSpPr/>
          <p:nvPr>
            <p:custDataLst>
              <p:tags r:id="rId10"/>
            </p:custDataLst>
          </p:nvPr>
        </p:nvCxnSpPr>
        <p:spPr>
          <a:xfrm rot="1080000" flipH="1" flipV="1">
            <a:off x="1209128" y="4692028"/>
            <a:ext cx="381000" cy="1073150"/>
          </a:xfrm>
          <a:prstGeom prst="line">
            <a:avLst/>
          </a:prstGeom>
          <a:noFill/>
          <a:ln w="28575">
            <a:solidFill>
              <a:schemeClr val="tx1"/>
            </a:solidFill>
            <a:bevel/>
            <a:tailEnd type="triangle"/>
          </a:ln>
        </p:spPr>
      </p:cxnSp>
      <p:cxnSp>
        <p:nvCxnSpPr>
          <p:cNvPr id="18" name="Line 43"/>
          <p:cNvCxnSpPr/>
          <p:nvPr>
            <p:custDataLst>
              <p:tags r:id="rId11"/>
            </p:custDataLst>
          </p:nvPr>
        </p:nvCxnSpPr>
        <p:spPr>
          <a:xfrm rot="1140000" flipV="1">
            <a:off x="1428204" y="4485654"/>
            <a:ext cx="1143000" cy="38735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bevel/>
          </a:ln>
        </p:spPr>
      </p:cxnSp>
      <p:cxnSp>
        <p:nvCxnSpPr>
          <p:cNvPr id="19" name="Line 44"/>
          <p:cNvCxnSpPr/>
          <p:nvPr>
            <p:custDataLst>
              <p:tags r:id="rId12"/>
            </p:custDataLst>
          </p:nvPr>
        </p:nvCxnSpPr>
        <p:spPr>
          <a:xfrm rot="1080000" flipH="1" flipV="1">
            <a:off x="2409278" y="4704728"/>
            <a:ext cx="381000" cy="107315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bevel/>
          </a:ln>
        </p:spPr>
      </p:cxnSp>
      <p:cxnSp>
        <p:nvCxnSpPr>
          <p:cNvPr id="20" name="Line 45"/>
          <p:cNvCxnSpPr/>
          <p:nvPr>
            <p:custDataLst>
              <p:tags r:id="rId13"/>
            </p:custDataLst>
          </p:nvPr>
        </p:nvCxnSpPr>
        <p:spPr>
          <a:xfrm rot="1140000" flipV="1">
            <a:off x="1623466" y="4542804"/>
            <a:ext cx="733425" cy="1409700"/>
          </a:xfrm>
          <a:prstGeom prst="line">
            <a:avLst/>
          </a:prstGeom>
          <a:noFill/>
          <a:ln w="28575">
            <a:solidFill>
              <a:schemeClr val="tx1"/>
            </a:solidFill>
            <a:bevel/>
            <a:tailEnd type="triangle"/>
          </a:ln>
        </p:spPr>
      </p:cxnSp>
      <p:sp>
        <p:nvSpPr>
          <p:cNvPr id="21" name="Rectangle 46"/>
          <p:cNvSpPr/>
          <p:nvPr>
            <p:custDataLst>
              <p:tags r:id="rId14"/>
            </p:custDataLst>
          </p:nvPr>
        </p:nvSpPr>
        <p:spPr>
          <a:xfrm>
            <a:off x="2656928" y="4311028"/>
            <a:ext cx="577402" cy="46166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buFont typeface="Arial" panose="020B0604020202020204" pitchFamily="34" charset="0"/>
            </a:pP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en-US" sz="24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合</a:t>
            </a:r>
          </a:p>
        </p:txBody>
      </p:sp>
      <p:cxnSp>
        <p:nvCxnSpPr>
          <p:cNvPr id="22" name="Line 47"/>
          <p:cNvCxnSpPr/>
          <p:nvPr>
            <p:custDataLst>
              <p:tags r:id="rId15"/>
            </p:custDataLst>
          </p:nvPr>
        </p:nvCxnSpPr>
        <p:spPr>
          <a:xfrm flipV="1">
            <a:off x="1409154" y="5015878"/>
            <a:ext cx="790575" cy="790575"/>
          </a:xfrm>
          <a:prstGeom prst="line">
            <a:avLst/>
          </a:prstGeom>
          <a:noFill/>
          <a:ln w="28575">
            <a:solidFill>
              <a:srgbClr val="FF0000"/>
            </a:solidFill>
            <a:bevel/>
            <a:tailEnd type="triangle"/>
          </a:ln>
        </p:spPr>
      </p:cxnSp>
      <p:sp>
        <p:nvSpPr>
          <p:cNvPr id="23" name="Text Box 48"/>
          <p:cNvSpPr/>
          <p:nvPr>
            <p:custDataLst>
              <p:tags r:id="rId16"/>
            </p:custDataLst>
          </p:nvPr>
        </p:nvSpPr>
        <p:spPr>
          <a:xfrm>
            <a:off x="5168838" y="4906792"/>
            <a:ext cx="533400" cy="46166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4" name="Rectangle 49"/>
          <p:cNvSpPr/>
          <p:nvPr>
            <p:custDataLst>
              <p:tags r:id="rId17"/>
            </p:custDataLst>
          </p:nvPr>
        </p:nvSpPr>
        <p:spPr>
          <a:xfrm>
            <a:off x="5532773" y="5579960"/>
            <a:ext cx="474810" cy="46166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buFont typeface="Arial" panose="020B0604020202020204" pitchFamily="34" charset="0"/>
            </a:pP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" name="Rectangle 50"/>
          <p:cNvSpPr/>
          <p:nvPr>
            <p:custDataLst>
              <p:tags r:id="rId18"/>
            </p:custDataLst>
          </p:nvPr>
        </p:nvSpPr>
        <p:spPr>
          <a:xfrm>
            <a:off x="3780173" y="4284560"/>
            <a:ext cx="474810" cy="46166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buFont typeface="Arial" panose="020B0604020202020204" pitchFamily="34" charset="0"/>
            </a:pP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6" name="Rectangle 51"/>
          <p:cNvSpPr/>
          <p:nvPr>
            <p:custDataLst>
              <p:tags r:id="rId19"/>
            </p:custDataLst>
          </p:nvPr>
        </p:nvSpPr>
        <p:spPr>
          <a:xfrm>
            <a:off x="4008773" y="5579960"/>
            <a:ext cx="685800" cy="457200"/>
          </a:xfrm>
          <a:prstGeom prst="rect">
            <a:avLst/>
          </a:prstGeom>
          <a:solidFill>
            <a:schemeClr val="tx2"/>
          </a:solidFill>
          <a:ln w="28575">
            <a:solidFill>
              <a:srgbClr val="339966"/>
            </a:solidFill>
            <a:round/>
          </a:ln>
        </p:spPr>
        <p:txBody>
          <a:bodyPr wrap="none" anchor="ctr" anchorCtr="0"/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algn="ctr">
              <a:buFont typeface="Arial" panose="020B0604020202020204" pitchFamily="34" charset="0"/>
            </a:pP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7" name="Line 52"/>
          <p:cNvCxnSpPr/>
          <p:nvPr>
            <p:custDataLst>
              <p:tags r:id="rId20"/>
            </p:custDataLst>
          </p:nvPr>
        </p:nvCxnSpPr>
        <p:spPr>
          <a:xfrm rot="1140000" flipV="1">
            <a:off x="4389773" y="5656160"/>
            <a:ext cx="1143000" cy="387350"/>
          </a:xfrm>
          <a:prstGeom prst="line">
            <a:avLst/>
          </a:prstGeom>
          <a:noFill/>
          <a:ln w="28575">
            <a:solidFill>
              <a:schemeClr val="tx1"/>
            </a:solidFill>
            <a:bevel/>
            <a:tailEnd type="triangle"/>
          </a:ln>
        </p:spPr>
      </p:cxnSp>
      <p:cxnSp>
        <p:nvCxnSpPr>
          <p:cNvPr id="28" name="Line 53"/>
          <p:cNvCxnSpPr/>
          <p:nvPr>
            <p:custDataLst>
              <p:tags r:id="rId21"/>
            </p:custDataLst>
          </p:nvPr>
        </p:nvCxnSpPr>
        <p:spPr>
          <a:xfrm rot="1080000" flipH="1" flipV="1">
            <a:off x="4161173" y="4741760"/>
            <a:ext cx="381000" cy="1073150"/>
          </a:xfrm>
          <a:prstGeom prst="line">
            <a:avLst/>
          </a:prstGeom>
          <a:noFill/>
          <a:ln w="28575">
            <a:solidFill>
              <a:schemeClr val="tx1"/>
            </a:solidFill>
            <a:bevel/>
            <a:tailEnd type="triangle"/>
          </a:ln>
        </p:spPr>
      </p:cxnSp>
      <p:cxnSp>
        <p:nvCxnSpPr>
          <p:cNvPr id="29" name="Line 54"/>
          <p:cNvCxnSpPr/>
          <p:nvPr>
            <p:custDataLst>
              <p:tags r:id="rId22"/>
            </p:custDataLst>
          </p:nvPr>
        </p:nvCxnSpPr>
        <p:spPr>
          <a:xfrm rot="1140000" flipV="1">
            <a:off x="4380249" y="4535386"/>
            <a:ext cx="1143000" cy="38735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bevel/>
          </a:ln>
        </p:spPr>
      </p:cxnSp>
      <p:cxnSp>
        <p:nvCxnSpPr>
          <p:cNvPr id="30" name="Line 55"/>
          <p:cNvCxnSpPr/>
          <p:nvPr>
            <p:custDataLst>
              <p:tags r:id="rId23"/>
            </p:custDataLst>
          </p:nvPr>
        </p:nvCxnSpPr>
        <p:spPr>
          <a:xfrm rot="1080000" flipH="1" flipV="1">
            <a:off x="5361323" y="4754460"/>
            <a:ext cx="381000" cy="107315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bevel/>
          </a:ln>
        </p:spPr>
      </p:cxnSp>
      <p:cxnSp>
        <p:nvCxnSpPr>
          <p:cNvPr id="31" name="Line 56"/>
          <p:cNvCxnSpPr/>
          <p:nvPr>
            <p:custDataLst>
              <p:tags r:id="rId24"/>
            </p:custDataLst>
          </p:nvPr>
        </p:nvCxnSpPr>
        <p:spPr>
          <a:xfrm rot="1140000" flipV="1">
            <a:off x="4575511" y="4592536"/>
            <a:ext cx="733425" cy="1409700"/>
          </a:xfrm>
          <a:prstGeom prst="line">
            <a:avLst/>
          </a:prstGeom>
          <a:noFill/>
          <a:ln w="28575">
            <a:solidFill>
              <a:schemeClr val="tx1"/>
            </a:solidFill>
            <a:bevel/>
            <a:tailEnd type="triangle"/>
          </a:ln>
        </p:spPr>
      </p:cxnSp>
      <p:sp>
        <p:nvSpPr>
          <p:cNvPr id="32" name="Rectangle 57"/>
          <p:cNvSpPr/>
          <p:nvPr>
            <p:custDataLst>
              <p:tags r:id="rId25"/>
            </p:custDataLst>
          </p:nvPr>
        </p:nvSpPr>
        <p:spPr>
          <a:xfrm>
            <a:off x="5608973" y="4360760"/>
            <a:ext cx="577402" cy="46166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buFont typeface="Arial" panose="020B0604020202020204" pitchFamily="34" charset="0"/>
            </a:pP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en-US" sz="24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合</a:t>
            </a:r>
          </a:p>
        </p:txBody>
      </p:sp>
      <p:cxnSp>
        <p:nvCxnSpPr>
          <p:cNvPr id="33" name="Line 58"/>
          <p:cNvCxnSpPr/>
          <p:nvPr>
            <p:custDataLst>
              <p:tags r:id="rId26"/>
            </p:custDataLst>
          </p:nvPr>
        </p:nvCxnSpPr>
        <p:spPr>
          <a:xfrm flipV="1">
            <a:off x="4361199" y="5065610"/>
            <a:ext cx="790575" cy="790575"/>
          </a:xfrm>
          <a:prstGeom prst="line">
            <a:avLst/>
          </a:prstGeom>
          <a:noFill/>
          <a:ln w="28575">
            <a:solidFill>
              <a:srgbClr val="FF0000"/>
            </a:solidFill>
            <a:bevel/>
            <a:tailEnd type="triangle"/>
          </a:ln>
        </p:spPr>
      </p:cxnSp>
      <p:sp>
        <p:nvSpPr>
          <p:cNvPr id="34" name="Rectangle 59"/>
          <p:cNvSpPr/>
          <p:nvPr>
            <p:custDataLst>
              <p:tags r:id="rId27"/>
            </p:custDataLst>
          </p:nvPr>
        </p:nvSpPr>
        <p:spPr>
          <a:xfrm>
            <a:off x="3780173" y="4665560"/>
            <a:ext cx="441146" cy="46166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buFont typeface="Arial" panose="020B0604020202020204" pitchFamily="34" charset="0"/>
            </a:pP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5" name="Rectangle 60"/>
          <p:cNvSpPr/>
          <p:nvPr>
            <p:custDataLst>
              <p:tags r:id="rId28"/>
            </p:custDataLst>
          </p:nvPr>
        </p:nvSpPr>
        <p:spPr>
          <a:xfrm>
            <a:off x="4923173" y="5716486"/>
            <a:ext cx="441146" cy="46166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buFont typeface="Arial" panose="020B0604020202020204" pitchFamily="34" charset="0"/>
            </a:pP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36" name="Line 61"/>
          <p:cNvCxnSpPr/>
          <p:nvPr>
            <p:custDataLst>
              <p:tags r:id="rId29"/>
            </p:custDataLst>
          </p:nvPr>
        </p:nvCxnSpPr>
        <p:spPr>
          <a:xfrm rot="1140000" flipV="1">
            <a:off x="4380249" y="5713310"/>
            <a:ext cx="762000" cy="265112"/>
          </a:xfrm>
          <a:prstGeom prst="line">
            <a:avLst/>
          </a:prstGeom>
          <a:noFill/>
          <a:ln w="28575">
            <a:solidFill>
              <a:srgbClr val="FF0000"/>
            </a:solidFill>
            <a:bevel/>
            <a:tailEnd type="triangle"/>
          </a:ln>
        </p:spPr>
      </p:cxnSp>
      <p:cxnSp>
        <p:nvCxnSpPr>
          <p:cNvPr id="37" name="Line 62"/>
          <p:cNvCxnSpPr/>
          <p:nvPr>
            <p:custDataLst>
              <p:tags r:id="rId30"/>
            </p:custDataLst>
          </p:nvPr>
        </p:nvCxnSpPr>
        <p:spPr>
          <a:xfrm rot="20580000" flipV="1">
            <a:off x="4237373" y="5037036"/>
            <a:ext cx="230188" cy="788988"/>
          </a:xfrm>
          <a:prstGeom prst="line">
            <a:avLst/>
          </a:prstGeom>
          <a:noFill/>
          <a:ln w="28575">
            <a:solidFill>
              <a:srgbClr val="FF0000"/>
            </a:solidFill>
            <a:bevel/>
            <a:tailEnd type="triangle"/>
          </a:ln>
        </p:spPr>
      </p:cxnSp>
      <p:cxnSp>
        <p:nvCxnSpPr>
          <p:cNvPr id="38" name="Line 63"/>
          <p:cNvCxnSpPr/>
          <p:nvPr>
            <p:custDataLst>
              <p:tags r:id="rId31"/>
            </p:custDataLst>
          </p:nvPr>
        </p:nvCxnSpPr>
        <p:spPr>
          <a:xfrm rot="1140000" flipV="1">
            <a:off x="4408823" y="4932260"/>
            <a:ext cx="762000" cy="265112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bevel/>
          </a:ln>
        </p:spPr>
      </p:cxnSp>
      <p:cxnSp>
        <p:nvCxnSpPr>
          <p:cNvPr id="39" name="Line 64"/>
          <p:cNvCxnSpPr/>
          <p:nvPr>
            <p:custDataLst>
              <p:tags r:id="rId32"/>
            </p:custDataLst>
          </p:nvPr>
        </p:nvCxnSpPr>
        <p:spPr>
          <a:xfrm rot="20580000" flipV="1">
            <a:off x="5042236" y="5056086"/>
            <a:ext cx="230188" cy="75565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bevel/>
          </a:ln>
        </p:spPr>
      </p:cxnSp>
      <p:sp>
        <p:nvSpPr>
          <p:cNvPr id="40" name="Text Box 16"/>
          <p:cNvSpPr/>
          <p:nvPr>
            <p:custDataLst>
              <p:tags r:id="rId33"/>
            </p:custDataLst>
          </p:nvPr>
        </p:nvSpPr>
        <p:spPr>
          <a:xfrm>
            <a:off x="6282410" y="2625468"/>
            <a:ext cx="4735360" cy="277576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sz="24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　 作用在物体上的每一个力都各自产生加速度，与其他力无关</a:t>
            </a:r>
            <a:r>
              <a:rPr lang="en-US" altLang="zh-CN" sz="24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  <a:r>
              <a:rPr lang="zh-CN" altLang="en-US" sz="24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而物体实际的加速度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是每个力的加速度的矢量和，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24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应为物体受到的合外力。</a:t>
            </a:r>
          </a:p>
        </p:txBody>
      </p:sp>
      <p:sp>
        <p:nvSpPr>
          <p:cNvPr id="41" name="AutoShape 65"/>
          <p:cNvSpPr/>
          <p:nvPr>
            <p:custDataLst>
              <p:tags r:id="rId34"/>
            </p:custDataLst>
          </p:nvPr>
        </p:nvSpPr>
        <p:spPr>
          <a:xfrm>
            <a:off x="9275803" y="5368457"/>
            <a:ext cx="1620838" cy="523875"/>
          </a:xfrm>
          <a:prstGeom prst="wedgeRoundRectCallout">
            <a:avLst>
              <a:gd name="adj1" fmla="val -41014"/>
              <a:gd name="adj2" fmla="val -115255"/>
              <a:gd name="adj3" fmla="val 16667"/>
            </a:avLst>
          </a:prstGeom>
          <a:solidFill>
            <a:srgbClr val="CCFF33"/>
          </a:solidFill>
          <a:ln>
            <a:solidFill>
              <a:schemeClr val="tx1"/>
            </a:solidFill>
            <a:round/>
          </a:ln>
        </p:spPr>
        <p:txBody>
          <a:bodyPr anchor="t" anchorCtr="0"/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algn="ctr">
              <a:buFont typeface="Arial" panose="020B0604020202020204" pitchFamily="34" charset="0"/>
            </a:pPr>
            <a:r>
              <a:rPr lang="zh-CN" altLang="en-US" sz="2400">
                <a:solidFill>
                  <a:srgbClr val="02080A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独立性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  <p:cond evt="onBegin" delay="0">
                          <p:tn val="7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  <p:cond evt="onBegin" delay="0">
                          <p:tn val="1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1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additive="base"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2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additive="base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2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  <p:cond evt="onBegin" delay="0">
                          <p:tn val="30"/>
                        </p:cond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additive="base"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 additive="base"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  <p:cond evt="onBegin" delay="0">
                          <p:tn val="46"/>
                        </p:cond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  <p:cond evt="onBegin" delay="0">
                          <p:tn val="54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  <p:cond evt="onBegin" delay="0">
                          <p:tn val="66"/>
                        </p:cond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71" dur="500" fill="hold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additive="base"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  <p:cond evt="onBegin" delay="0">
                          <p:tn val="74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79" dur="500" fill="hold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additive="base"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  <p:cond evt="onBegin" delay="0">
                          <p:tn val="8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87" dur="500" fill="hold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additive="base"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91" dur="500" fill="hold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 additive="base"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95" dur="500" fill="hold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 additive="base"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  <p:cond evt="onBegin" delay="0">
                          <p:tn val="98"/>
                        </p:cond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  <p:cond evt="onBegin" delay="0">
                          <p:tn val="108"/>
                        </p:cond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  <p:cond evt="onBegin" delay="0">
                          <p:tn val="11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117" dur="500" fill="hold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 animBg="1"/>
      <p:bldP spid="21" grpId="0"/>
      <p:bldP spid="23" grpId="0"/>
      <p:bldP spid="24" grpId="0"/>
      <p:bldP spid="25" grpId="0"/>
      <p:bldP spid="26" grpId="0" animBg="1"/>
      <p:bldP spid="32" grpId="0"/>
      <p:bldP spid="34" grpId="0"/>
      <p:bldP spid="35" grpId="0"/>
      <p:bldP spid="40" grpId="0"/>
      <p:bldP spid="4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9217"/>
          <p:cNvSpPr/>
          <p:nvPr>
            <p:custDataLst>
              <p:tags r:id="rId1"/>
            </p:custDataLst>
          </p:nvPr>
        </p:nvSpPr>
        <p:spPr>
          <a:xfrm>
            <a:off x="1590702" y="1175570"/>
            <a:ext cx="4980851" cy="46166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加速度的定义式与决定式：</a:t>
            </a:r>
          </a:p>
        </p:txBody>
      </p:sp>
      <p:graphicFrame>
        <p:nvGraphicFramePr>
          <p:cNvPr id="3" name="对象 9219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90702" y="2309568"/>
          <a:ext cx="2426704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4384000" imgH="9448800" progId="Equation.DSMT4">
                  <p:embed/>
                </p:oleObj>
              </mc:Choice>
              <mc:Fallback>
                <p:oleObj r:id="rId11" imgW="24384000" imgH="94488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90702" y="2309568"/>
                        <a:ext cx="2426704" cy="939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18"/>
          <p:cNvGrpSpPr/>
          <p:nvPr>
            <p:custDataLst>
              <p:tags r:id="rId3"/>
            </p:custDataLst>
          </p:nvPr>
        </p:nvGrpSpPr>
        <p:grpSpPr>
          <a:xfrm>
            <a:off x="4328773" y="1811161"/>
            <a:ext cx="5819569" cy="2238241"/>
            <a:chOff x="2156061" y="366718"/>
            <a:chExt cx="8407672" cy="2238241"/>
          </a:xfrm>
        </p:grpSpPr>
        <p:sp>
          <p:nvSpPr>
            <p:cNvPr id="5" name="燕尾形箭头 9220"/>
            <p:cNvSpPr/>
            <p:nvPr>
              <p:custDataLst>
                <p:tags r:id="rId8"/>
              </p:custDataLst>
            </p:nvPr>
          </p:nvSpPr>
          <p:spPr>
            <a:xfrm flipH="1">
              <a:off x="2156061" y="1341375"/>
              <a:ext cx="504826" cy="144463"/>
            </a:xfrm>
            <a:prstGeom prst="notchedRightArrow">
              <a:avLst>
                <a:gd name="adj1" fmla="val 50000"/>
                <a:gd name="adj2" fmla="val 87265"/>
              </a:avLst>
            </a:prstGeom>
            <a:solidFill>
              <a:schemeClr val="accent1"/>
            </a:solidFill>
            <a:ln>
              <a:solidFill>
                <a:schemeClr val="tx1"/>
              </a:solidFill>
              <a:round/>
            </a:ln>
          </p:spPr>
          <p:txBody>
            <a:bodyPr anchor="t" anchorCtr="0"/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</a:lstStyle>
            <a:p>
              <a:pPr lvl="0"/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" name="矩形 9221"/>
            <p:cNvSpPr/>
            <p:nvPr>
              <p:custDataLst>
                <p:tags r:id="rId9"/>
              </p:custDataLst>
            </p:nvPr>
          </p:nvSpPr>
          <p:spPr>
            <a:xfrm>
              <a:off x="3148991" y="366718"/>
              <a:ext cx="7414742" cy="2238241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anchor="t" anchorCtr="0">
              <a:spAutoFit/>
            </a:bodyPr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</a:lstStyle>
            <a:p>
              <a:pPr lvl="0">
                <a:lnSpc>
                  <a:spcPct val="150000"/>
                </a:lnSpc>
              </a:pPr>
              <a:r>
                <a:rPr lang="zh-CN" altLang="en-US" sz="2400">
                  <a:solidFill>
                    <a:srgbClr val="FF0066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定义式：</a:t>
              </a:r>
              <a:r>
                <a:rPr lang="zh-CN" altLang="en-US" sz="240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它给出了</a:t>
              </a:r>
              <a:r>
                <a:rPr lang="zh-CN" altLang="en-US" sz="2400">
                  <a:solidFill>
                    <a:srgbClr val="FF0066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测量物体的加速度的方法</a:t>
              </a:r>
              <a:r>
                <a:rPr lang="zh-CN" altLang="en-US" sz="240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，但加速度大小与速度</a:t>
              </a:r>
              <a:r>
                <a:rPr lang="en-US" altLang="zh-CN" sz="2400" i="1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zh-CN" altLang="en-US" sz="240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及其变化</a:t>
              </a:r>
              <a:r>
                <a:rPr lang="el-GR" altLang="zh-CN" sz="240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Δ</a:t>
              </a:r>
              <a:r>
                <a:rPr lang="en-US" altLang="zh-CN" sz="2400" i="1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zh-CN" altLang="en-US" sz="240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均无因果关系，</a:t>
              </a:r>
              <a:r>
                <a:rPr lang="en-US" altLang="zh-CN" sz="2400" i="1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40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方向与</a:t>
              </a:r>
              <a:r>
                <a:rPr lang="el-GR" altLang="zh-CN" sz="240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Δ</a:t>
              </a:r>
              <a:r>
                <a:rPr lang="en-US" altLang="zh-CN" sz="2400" i="1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zh-CN" altLang="en-US" sz="240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同向而与</a:t>
              </a:r>
              <a:r>
                <a:rPr lang="en-US" altLang="zh-CN" sz="2400" i="1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zh-CN" altLang="en-US" sz="240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方向无关</a:t>
              </a:r>
            </a:p>
          </p:txBody>
        </p:sp>
      </p:grpSp>
      <p:graphicFrame>
        <p:nvGraphicFramePr>
          <p:cNvPr id="7" name="对象 9223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2360557" y="4664701"/>
          <a:ext cx="1239838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0972800" imgH="9448800" progId="Equation.DSMT4">
                  <p:embed/>
                </p:oleObj>
              </mc:Choice>
              <mc:Fallback>
                <p:oleObj r:id="rId13" imgW="10972800" imgH="94488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60557" y="4664701"/>
                        <a:ext cx="1239838" cy="939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19"/>
          <p:cNvGrpSpPr/>
          <p:nvPr>
            <p:custDataLst>
              <p:tags r:id="rId5"/>
            </p:custDataLst>
          </p:nvPr>
        </p:nvGrpSpPr>
        <p:grpSpPr>
          <a:xfrm>
            <a:off x="3928323" y="4397254"/>
            <a:ext cx="6007173" cy="1684244"/>
            <a:chOff x="4154760" y="2827810"/>
            <a:chExt cx="6007854" cy="1684244"/>
          </a:xfrm>
        </p:grpSpPr>
        <p:sp>
          <p:nvSpPr>
            <p:cNvPr id="10" name="燕尾形箭头 9224"/>
            <p:cNvSpPr/>
            <p:nvPr>
              <p:custDataLst>
                <p:tags r:id="rId6"/>
              </p:custDataLst>
            </p:nvPr>
          </p:nvSpPr>
          <p:spPr>
            <a:xfrm flipH="1">
              <a:off x="4154760" y="3565157"/>
              <a:ext cx="749962" cy="104775"/>
            </a:xfrm>
            <a:prstGeom prst="notchedRightArrow">
              <a:avLst>
                <a:gd name="adj1" fmla="val 50000"/>
                <a:gd name="adj2" fmla="val 224179"/>
              </a:avLst>
            </a:prstGeom>
            <a:solidFill>
              <a:schemeClr val="accent1"/>
            </a:solidFill>
            <a:ln>
              <a:solidFill>
                <a:schemeClr val="tx1"/>
              </a:solidFill>
              <a:round/>
            </a:ln>
          </p:spPr>
          <p:txBody>
            <a:bodyPr anchor="t" anchorCtr="0"/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</a:lstStyle>
            <a:p>
              <a:pPr lvl="0"/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矩形 9225"/>
            <p:cNvSpPr/>
            <p:nvPr>
              <p:custDataLst>
                <p:tags r:id="rId7"/>
              </p:custDataLst>
            </p:nvPr>
          </p:nvSpPr>
          <p:spPr>
            <a:xfrm>
              <a:off x="5242613" y="2827810"/>
              <a:ext cx="4920001" cy="16842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anchor="t" anchorCtr="0">
              <a:spAutoFit/>
            </a:bodyPr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</a:lstStyle>
            <a:p>
              <a:pPr lvl="0">
                <a:lnSpc>
                  <a:spcPct val="150000"/>
                </a:lnSpc>
              </a:pPr>
              <a:r>
                <a:rPr lang="zh-CN" altLang="en-US" sz="2400">
                  <a:solidFill>
                    <a:srgbClr val="FF0066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决定式：</a:t>
              </a:r>
              <a:r>
                <a:rPr lang="zh-CN" altLang="en-US" sz="240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它揭示了力是物体产生加速度的原因，也揭示了影响物体加速度的因素</a:t>
              </a:r>
            </a:p>
          </p:txBody>
        </p:sp>
      </p:grp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0241"/>
          <p:cNvSpPr txBox="1"/>
          <p:nvPr>
            <p:custDataLst>
              <p:tags r:id="rId1"/>
            </p:custDataLst>
          </p:nvPr>
        </p:nvSpPr>
        <p:spPr>
          <a:xfrm>
            <a:off x="4384342" y="1368165"/>
            <a:ext cx="4683125" cy="49244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力和运动的关系</a:t>
            </a: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529579" y="3297930"/>
            <a:ext cx="1478280" cy="12814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合力与加速度</a:t>
            </a:r>
          </a:p>
        </p:txBody>
      </p:sp>
      <p:sp>
        <p:nvSpPr>
          <p:cNvPr id="4" name="左中括号 3"/>
          <p:cNvSpPr/>
          <p:nvPr>
            <p:custDataLst>
              <p:tags r:id="rId3"/>
            </p:custDataLst>
          </p:nvPr>
        </p:nvSpPr>
        <p:spPr>
          <a:xfrm>
            <a:off x="3409179" y="3139180"/>
            <a:ext cx="704850" cy="1668780"/>
          </a:xfrm>
          <a:prstGeom prst="leftBracket">
            <a:avLst/>
          </a:prstGeom>
          <a:solidFill>
            <a:schemeClr val="bg1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>
            <p:custDataLst>
              <p:tags r:id="rId4"/>
            </p:custDataLst>
          </p:nvPr>
        </p:nvCxnSpPr>
        <p:spPr>
          <a:xfrm flipH="1">
            <a:off x="3007859" y="3938645"/>
            <a:ext cx="36004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>
            <p:custDataLst>
              <p:tags r:id="rId5"/>
            </p:custDataLst>
          </p:nvPr>
        </p:nvCxnSpPr>
        <p:spPr>
          <a:xfrm flipV="1">
            <a:off x="3409179" y="3139180"/>
            <a:ext cx="739775" cy="67310"/>
          </a:xfrm>
          <a:prstGeom prst="straightConnector1">
            <a:avLst/>
          </a:prstGeom>
          <a:ln w="34925" cmpd="sng">
            <a:solidFill>
              <a:schemeClr val="tx2">
                <a:lumMod val="40000"/>
                <a:lumOff val="60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>
            <p:custDataLst>
              <p:tags r:id="rId6"/>
            </p:custDataLst>
          </p:nvPr>
        </p:nvCxnSpPr>
        <p:spPr>
          <a:xfrm>
            <a:off x="3409179" y="4807960"/>
            <a:ext cx="739775" cy="27305"/>
          </a:xfrm>
          <a:prstGeom prst="straightConnector1">
            <a:avLst/>
          </a:prstGeom>
          <a:ln w="34925" cmpd="sng">
            <a:solidFill>
              <a:schemeClr val="accent1">
                <a:lumMod val="40000"/>
                <a:lumOff val="60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4114029" y="2676900"/>
            <a:ext cx="2189480" cy="7251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合力的大小</a:t>
            </a:r>
          </a:p>
        </p:txBody>
      </p:sp>
      <p:sp>
        <p:nvSpPr>
          <p:cNvPr id="9" name="右箭头 14"/>
          <p:cNvSpPr/>
          <p:nvPr>
            <p:custDataLst>
              <p:tags r:id="rId8"/>
            </p:custDataLst>
          </p:nvPr>
        </p:nvSpPr>
        <p:spPr>
          <a:xfrm>
            <a:off x="6382249" y="2824220"/>
            <a:ext cx="1149350" cy="43180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7602084" y="2676900"/>
            <a:ext cx="2416175" cy="6210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加速度大小</a:t>
            </a: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6501629" y="2446067"/>
            <a:ext cx="902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决定</a:t>
            </a:r>
          </a:p>
        </p:txBody>
      </p:sp>
      <p:sp>
        <p:nvSpPr>
          <p:cNvPr id="12" name="矩形 11"/>
          <p:cNvSpPr/>
          <p:nvPr>
            <p:custDataLst>
              <p:tags r:id="rId11"/>
            </p:custDataLst>
          </p:nvPr>
        </p:nvSpPr>
        <p:spPr>
          <a:xfrm>
            <a:off x="4148954" y="4459345"/>
            <a:ext cx="2189480" cy="7251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合力的方向</a:t>
            </a:r>
          </a:p>
        </p:txBody>
      </p:sp>
      <p:sp>
        <p:nvSpPr>
          <p:cNvPr id="13" name="右箭头 19"/>
          <p:cNvSpPr/>
          <p:nvPr>
            <p:custDataLst>
              <p:tags r:id="rId12"/>
            </p:custDataLst>
          </p:nvPr>
        </p:nvSpPr>
        <p:spPr>
          <a:xfrm>
            <a:off x="6382249" y="4606030"/>
            <a:ext cx="1149350" cy="43180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6473611" y="4204440"/>
            <a:ext cx="902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决定</a:t>
            </a:r>
          </a:p>
        </p:txBody>
      </p:sp>
      <p:sp>
        <p:nvSpPr>
          <p:cNvPr id="15" name="矩形 14"/>
          <p:cNvSpPr/>
          <p:nvPr>
            <p:custDataLst>
              <p:tags r:id="rId14"/>
            </p:custDataLst>
          </p:nvPr>
        </p:nvSpPr>
        <p:spPr>
          <a:xfrm>
            <a:off x="7602084" y="4459345"/>
            <a:ext cx="2416175" cy="6210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加速度方向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3" grpId="0" animBg="1"/>
      <p:bldP spid="14" grpId="0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1"/>
          <p:cNvSpPr txBox="1"/>
          <p:nvPr/>
        </p:nvSpPr>
        <p:spPr>
          <a:xfrm>
            <a:off x="837686" y="189081"/>
            <a:ext cx="1259710" cy="64596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500"/>
              </a:lnSpc>
            </a:pPr>
            <a:r>
              <a:rPr lang="zh-CN" altLang="en-US" sz="3000" b="1" i="0">
                <a:solidFill>
                  <a:srgbClr val="000000">
                    <a:alpha val="100000"/>
                  </a:srgbClr>
                </a:solidFill>
                <a:latin typeface="思源黑体 CN Heavy"/>
                <a:ea typeface="思源黑体 CN Heavy"/>
              </a:rPr>
              <a:t>总结</a:t>
            </a:r>
          </a:p>
        </p:txBody>
      </p:sp>
      <p:sp>
        <p:nvSpPr>
          <p:cNvPr id="6" name="文本2"/>
          <p:cNvSpPr txBox="1"/>
          <p:nvPr/>
        </p:nvSpPr>
        <p:spPr>
          <a:xfrm>
            <a:off x="870394" y="927697"/>
            <a:ext cx="9963150" cy="363104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5400"/>
              </a:lnSpc>
            </a:pPr>
            <a:r>
              <a:rPr lang="zh-CN" altLang="en-US" sz="3000" b="1" i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①因果性：力是产生加速度的原因</a:t>
            </a:r>
          </a:p>
          <a:p>
            <a:pPr marL="0" algn="l">
              <a:lnSpc>
                <a:spcPts val="5400"/>
              </a:lnSpc>
            </a:pPr>
            <a:r>
              <a:rPr lang="zh-CN" altLang="en-US" sz="3000" b="1" i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②矢量性：a与F 的方向总是相同</a:t>
            </a:r>
          </a:p>
          <a:p>
            <a:pPr marL="0" algn="l">
              <a:lnSpc>
                <a:spcPts val="5400"/>
              </a:lnSpc>
            </a:pPr>
            <a:r>
              <a:rPr lang="zh-CN" altLang="en-US" sz="3000" b="1" i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③瞬时性：a与F总是同生同灭同变化</a:t>
            </a:r>
          </a:p>
          <a:p>
            <a:pPr marL="0" algn="l">
              <a:lnSpc>
                <a:spcPts val="5400"/>
              </a:lnSpc>
            </a:pPr>
            <a:r>
              <a:rPr lang="zh-CN" altLang="en-US" sz="3000" b="1" i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④独立性：各个力都会产生加速度，物体的实际加速度</a:t>
            </a:r>
          </a:p>
          <a:p>
            <a:pPr marL="0" algn="l">
              <a:lnSpc>
                <a:spcPts val="5400"/>
              </a:lnSpc>
            </a:pPr>
            <a:r>
              <a:rPr lang="zh-CN" altLang="en-US" sz="3000" b="1" i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为合加速度</a:t>
            </a:r>
          </a:p>
        </p:txBody>
      </p:sp>
      <p:sp>
        <p:nvSpPr>
          <p:cNvPr id="7" name="文本3"/>
          <p:cNvSpPr txBox="1"/>
          <p:nvPr/>
        </p:nvSpPr>
        <p:spPr>
          <a:xfrm>
            <a:off x="2967209" y="95707"/>
            <a:ext cx="4000786" cy="83274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5000"/>
              </a:lnSpc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理解牛顿第二定律</a:t>
            </a:r>
          </a:p>
        </p:txBody>
      </p:sp>
      <p:sp>
        <p:nvSpPr>
          <p:cNvPr id="8" name="文本4"/>
          <p:cNvSpPr txBox="1"/>
          <p:nvPr/>
        </p:nvSpPr>
        <p:spPr>
          <a:xfrm>
            <a:off x="649281" y="4780493"/>
            <a:ext cx="9353550" cy="878608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5400"/>
              </a:lnSpc>
            </a:pPr>
            <a:r>
              <a:rPr lang="zh-CN" altLang="en-US" sz="30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牛顿运动定律的</a:t>
            </a:r>
            <a:r>
              <a:rPr lang="zh-CN" altLang="en-US" sz="30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适应范围</a:t>
            </a:r>
            <a:r>
              <a:rPr lang="zh-CN" altLang="en-US" sz="30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：是对宏观、低速物体。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609981" y="587702"/>
            <a:ext cx="11295889" cy="3566561"/>
            <a:chOff x="0" y="0"/>
            <a:chExt cx="11295889" cy="3566561"/>
          </a:xfrm>
        </p:grpSpPr>
        <p:sp>
          <p:nvSpPr>
            <p:cNvPr id="3" name="形状4"/>
            <p:cNvSpPr txBox="1"/>
            <p:nvPr/>
          </p:nvSpPr>
          <p:spPr>
            <a:xfrm>
              <a:off x="0" y="46872"/>
              <a:ext cx="11295889" cy="3452116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4" name="文本1"/>
            <p:cNvSpPr txBox="1"/>
            <p:nvPr/>
          </p:nvSpPr>
          <p:spPr>
            <a:xfrm>
              <a:off x="1540" y="0"/>
              <a:ext cx="11294303" cy="3566561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5300"/>
                </a:lnSpc>
              </a:pPr>
              <a:r>
                <a:rPr lang="zh-CN" altLang="en-US" sz="2960" b="1" i="0">
                  <a:solidFill>
                    <a:srgbClr val="58B6E5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【课堂反馈1】</a:t>
              </a:r>
              <a:r>
                <a:rPr lang="zh-CN" altLang="en-US" sz="2960" b="1" i="0">
                  <a:solidFill>
                    <a:srgbClr val="000000">
                      <a:alpha val="100000"/>
                    </a:srgbClr>
                  </a:solidFill>
                  <a:latin typeface="华文楷体"/>
                  <a:ea typeface="华文楷体"/>
                </a:rPr>
                <a:t>下列对牛顿第二定律的理解正确的是(　　)</a:t>
              </a:r>
            </a:p>
            <a:p>
              <a:pPr marL="0" algn="l">
                <a:lnSpc>
                  <a:spcPts val="5300"/>
                </a:lnSpc>
              </a:pPr>
              <a:r>
                <a:rPr lang="zh-CN" altLang="en-US" sz="2960" b="1" i="0">
                  <a:solidFill>
                    <a:srgbClr val="000000">
                      <a:alpha val="100000"/>
                    </a:srgbClr>
                  </a:solidFill>
                  <a:latin typeface="华文楷体"/>
                  <a:ea typeface="华文楷体"/>
                </a:rPr>
                <a:t>A．由F＝ma可知，F与a成正比，m与a成反比</a:t>
              </a:r>
            </a:p>
            <a:p>
              <a:pPr marL="0" algn="l">
                <a:lnSpc>
                  <a:spcPts val="5300"/>
                </a:lnSpc>
              </a:pPr>
              <a:r>
                <a:rPr lang="zh-CN" altLang="en-US" sz="2960" b="1" i="0">
                  <a:solidFill>
                    <a:srgbClr val="000000">
                      <a:alpha val="100000"/>
                    </a:srgbClr>
                  </a:solidFill>
                  <a:latin typeface="华文楷体"/>
                  <a:ea typeface="华文楷体"/>
                </a:rPr>
                <a:t>B．牛顿第二定律说明当物体有加速度时，物体才受到外力的作用</a:t>
              </a:r>
            </a:p>
            <a:p>
              <a:pPr marL="0" algn="l">
                <a:lnSpc>
                  <a:spcPts val="5300"/>
                </a:lnSpc>
              </a:pPr>
              <a:r>
                <a:rPr lang="zh-CN" altLang="en-US" sz="2960" b="1" i="0">
                  <a:solidFill>
                    <a:srgbClr val="000000">
                      <a:alpha val="100000"/>
                    </a:srgbClr>
                  </a:solidFill>
                  <a:latin typeface="华文楷体"/>
                  <a:ea typeface="华文楷体"/>
                </a:rPr>
                <a:t>C．加速度的方向与合外力的方向一致</a:t>
              </a:r>
            </a:p>
            <a:p>
              <a:pPr marL="0" algn="l">
                <a:lnSpc>
                  <a:spcPts val="5300"/>
                </a:lnSpc>
              </a:pPr>
              <a:r>
                <a:rPr lang="zh-CN" altLang="en-US" sz="2960" b="1" i="0">
                  <a:solidFill>
                    <a:srgbClr val="000000">
                      <a:alpha val="100000"/>
                    </a:srgbClr>
                  </a:solidFill>
                  <a:latin typeface="华文楷体"/>
                  <a:ea typeface="华文楷体"/>
                </a:rPr>
                <a:t>D．当外力停止作用时，加速度随之消失</a:t>
              </a:r>
            </a:p>
          </p:txBody>
        </p:sp>
      </p:grpSp>
      <p:grpSp>
        <p:nvGrpSpPr>
          <p:cNvPr id="5" name="组合2"/>
          <p:cNvGrpSpPr/>
          <p:nvPr/>
        </p:nvGrpSpPr>
        <p:grpSpPr>
          <a:xfrm>
            <a:off x="9399387" y="700999"/>
            <a:ext cx="816214" cy="1218961"/>
            <a:chOff x="0" y="0"/>
            <a:chExt cx="816214" cy="1218961"/>
          </a:xfrm>
        </p:grpSpPr>
        <p:sp>
          <p:nvSpPr>
            <p:cNvPr id="6" name="形状5"/>
            <p:cNvSpPr txBox="1"/>
            <p:nvPr/>
          </p:nvSpPr>
          <p:spPr>
            <a:xfrm>
              <a:off x="0" y="46872"/>
              <a:ext cx="816214" cy="61470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7" name="文本2"/>
            <p:cNvSpPr txBox="1"/>
            <p:nvPr/>
          </p:nvSpPr>
          <p:spPr>
            <a:xfrm>
              <a:off x="1506" y="0"/>
              <a:ext cx="814663" cy="1218961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000"/>
                </a:lnSpc>
              </a:pPr>
              <a:r>
                <a:rPr lang="zh-CN" altLang="en-US" sz="3360" b="1" i="0">
                  <a:solidFill>
                    <a:srgbClr val="FF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</a:rPr>
                <a:t>CD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1"/>
          <p:cNvGrpSpPr/>
          <p:nvPr/>
        </p:nvGrpSpPr>
        <p:grpSpPr>
          <a:xfrm>
            <a:off x="402488" y="1690049"/>
            <a:ext cx="11235373" cy="1474998"/>
            <a:chOff x="0" y="0"/>
            <a:chExt cx="11235373" cy="1474998"/>
          </a:xfrm>
        </p:grpSpPr>
        <p:sp>
          <p:nvSpPr>
            <p:cNvPr id="4" name="形状3"/>
            <p:cNvSpPr txBox="1"/>
            <p:nvPr/>
          </p:nvSpPr>
          <p:spPr>
            <a:xfrm>
              <a:off x="3810" y="49530"/>
              <a:ext cx="11231563" cy="73866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5" name="文本2"/>
            <p:cNvSpPr txBox="1"/>
            <p:nvPr/>
          </p:nvSpPr>
          <p:spPr>
            <a:xfrm>
              <a:off x="0" y="0"/>
              <a:ext cx="11231563" cy="1474998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5000"/>
                </a:lnSpc>
              </a:pPr>
              <a:r>
                <a:rPr lang="zh-CN" altLang="en-US" sz="2800" b="1" i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由牛顿第二定律说一说为什么描述物体惯性的物理量是质量？</a:t>
              </a:r>
            </a:p>
          </p:txBody>
        </p:sp>
      </p:grpSp>
      <p:grpSp>
        <p:nvGrpSpPr>
          <p:cNvPr id="6" name="组合2"/>
          <p:cNvGrpSpPr/>
          <p:nvPr/>
        </p:nvGrpSpPr>
        <p:grpSpPr>
          <a:xfrm>
            <a:off x="435826" y="2371087"/>
            <a:ext cx="10811510" cy="1474998"/>
            <a:chOff x="0" y="0"/>
            <a:chExt cx="10811510" cy="1474998"/>
          </a:xfrm>
        </p:grpSpPr>
        <p:sp>
          <p:nvSpPr>
            <p:cNvPr id="7" name="形状4"/>
            <p:cNvSpPr txBox="1"/>
            <p:nvPr/>
          </p:nvSpPr>
          <p:spPr>
            <a:xfrm>
              <a:off x="3810" y="49530"/>
              <a:ext cx="10807700" cy="138499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8" name="文本3"/>
            <p:cNvSpPr txBox="1"/>
            <p:nvPr/>
          </p:nvSpPr>
          <p:spPr>
            <a:xfrm>
              <a:off x="0" y="0"/>
              <a:ext cx="10807700" cy="1474998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5000"/>
                </a:lnSpc>
                <a:buFont typeface="Arial"/>
                <a:buChar char=" "/>
              </a:pPr>
              <a:r>
                <a:rPr lang="zh-CN" altLang="en-US" sz="2800" b="1" i="0">
                  <a:solidFill>
                    <a:srgbClr val="FF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由牛顿第二定律：F＝ma可知在确定的作用力下，决定物体运动状态变化难易程度的因素是物体的质量。</a:t>
              </a:r>
            </a:p>
          </p:txBody>
        </p:sp>
      </p:grpSp>
      <p:sp>
        <p:nvSpPr>
          <p:cNvPr id="9" name="形状1"/>
          <p:cNvSpPr txBox="1"/>
          <p:nvPr/>
        </p:nvSpPr>
        <p:spPr>
          <a:xfrm rot="10800000" flipH="1">
            <a:off x="406298" y="1596704"/>
            <a:ext cx="10874375" cy="3175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00B050">
                <a:alpha val="100000"/>
              </a:srgbClr>
            </a:solidFill>
            <a:prstDash val="sysDash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  <a:endParaRPr/>
          </a:p>
        </p:txBody>
      </p:sp>
      <p:sp>
        <p:nvSpPr>
          <p:cNvPr id="10" name="形状2"/>
          <p:cNvSpPr txBox="1"/>
          <p:nvPr/>
        </p:nvSpPr>
        <p:spPr>
          <a:xfrm rot="10800000" flipH="1">
            <a:off x="406298" y="3889054"/>
            <a:ext cx="10874375" cy="3175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00B050">
                <a:alpha val="100000"/>
              </a:srgbClr>
            </a:solidFill>
            <a:prstDash val="sysDash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  <a:endParaRPr/>
          </a:p>
        </p:txBody>
      </p:sp>
      <p:sp>
        <p:nvSpPr>
          <p:cNvPr id="11" name="文本1"/>
          <p:cNvSpPr txBox="1"/>
          <p:nvPr/>
        </p:nvSpPr>
        <p:spPr>
          <a:xfrm>
            <a:off x="439626" y="133379"/>
            <a:ext cx="1462913" cy="83274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5000"/>
              </a:lnSpc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思考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/>
          <p:cNvSpPr/>
          <p:nvPr>
            <p:custDataLst>
              <p:tags r:id="rId1"/>
            </p:custDataLst>
          </p:nvPr>
        </p:nvSpPr>
        <p:spPr>
          <a:xfrm>
            <a:off x="2981325" y="474345"/>
            <a:ext cx="3644265" cy="77089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/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</a:defRPr>
            </a:lvl5pPr>
          </a:lstStyle>
          <a:p>
            <a:r>
              <a:rPr lang="en-US" altLang="zh-CN" sz="4400" b="1" i="1" kern="0">
                <a:solidFill>
                  <a:srgbClr val="224B9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F = ma</a:t>
            </a: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25912" y="567152"/>
            <a:ext cx="2646878" cy="584775"/>
          </a:xfrm>
          <a:prstGeom prst="rect">
            <a:avLst/>
          </a:prstGeom>
          <a:solidFill>
            <a:srgbClr val="FFE1E1"/>
          </a:solidFill>
        </p:spPr>
        <p:txBody>
          <a:bodyPr wrap="square" rtlCol="0">
            <a:spAutoFit/>
          </a:bodyPr>
          <a:lstStyle/>
          <a:p>
            <a:r>
              <a:rPr lang="zh-CN" altLang="en-US" sz="3200"/>
              <a:t>牛顿第二定律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761606" y="2042930"/>
            <a:ext cx="709147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zh-CN" altLang="en-US" sz="2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在平直路面上，质量为 </a:t>
            </a:r>
            <a:r>
              <a:rPr lang="en-US" altLang="zh-CN" sz="2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1100 </a:t>
            </a:r>
            <a:r>
              <a:rPr lang="fr-FR" altLang="zh-CN" sz="2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kg </a:t>
            </a:r>
            <a:r>
              <a:rPr lang="zh-CN" altLang="en-US" sz="2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的汽车在进行研发的测试，当速度达到 </a:t>
            </a:r>
            <a:r>
              <a:rPr lang="en-US" altLang="zh-CN" sz="2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100 </a:t>
            </a:r>
            <a:r>
              <a:rPr lang="fr-FR" altLang="zh-CN" sz="2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km/h </a:t>
            </a:r>
            <a:r>
              <a:rPr lang="zh-CN" altLang="en-US" sz="2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时取消动力，经过 </a:t>
            </a:r>
            <a:r>
              <a:rPr lang="en-US" altLang="zh-CN" sz="2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70 </a:t>
            </a:r>
            <a:r>
              <a:rPr lang="fr-FR" altLang="zh-CN" sz="2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 sz="2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停了下来。汽车受到的阻力是多少？</a:t>
            </a:r>
            <a:endParaRPr lang="en-US" altLang="zh-CN" sz="28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457200"/>
            <a:endParaRPr lang="en-US" altLang="zh-CN" sz="28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457200"/>
            <a:r>
              <a:rPr lang="zh-CN" altLang="en-US" sz="2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重新起步加速时牵引力为 </a:t>
            </a:r>
            <a:r>
              <a:rPr lang="en-US" altLang="zh-CN" sz="2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2000 </a:t>
            </a:r>
            <a:r>
              <a:rPr lang="fr-FR" altLang="zh-CN" sz="2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，产生的加速度是多少？假定试车过程中汽车受到的阻力不变。</a:t>
            </a: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966003" y="1303028"/>
            <a:ext cx="16593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zh-CN" altLang="en-US" sz="32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例题</a:t>
            </a:r>
            <a:r>
              <a:rPr lang="en-US" altLang="zh-CN" sz="32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1]</a:t>
            </a:r>
            <a:endParaRPr lang="zh-CN" altLang="en-US" sz="3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37664" y="711357"/>
            <a:ext cx="16593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>
                <a:latin typeface="+mn-ea"/>
                <a:cs typeface="Times New Roman" panose="02020603050405020304" pitchFamily="18" charset="0"/>
              </a:rPr>
              <a:t> 分析</a:t>
            </a:r>
            <a:endParaRPr lang="zh-CN" altLang="en-US" sz="2800">
              <a:latin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8184273" y="822744"/>
            <a:ext cx="3870063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indent="457200"/>
            <a:r>
              <a:rPr lang="zh-CN" altLang="en-US"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在平直路面上，质量为 </a:t>
            </a:r>
            <a:r>
              <a:rPr lang="en-US" altLang="zh-CN"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1100 </a:t>
            </a:r>
            <a:r>
              <a:rPr lang="fr-FR" altLang="zh-CN"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kg </a:t>
            </a:r>
            <a:r>
              <a:rPr lang="zh-CN" altLang="en-US"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的汽车在进行研发的测试，当速度达到 </a:t>
            </a:r>
            <a:r>
              <a:rPr lang="en-US" altLang="zh-CN"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100 </a:t>
            </a:r>
            <a:r>
              <a:rPr lang="fr-FR" altLang="zh-CN"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km/h </a:t>
            </a:r>
            <a:r>
              <a:rPr lang="zh-CN" altLang="en-US"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时取消动力，经过 </a:t>
            </a:r>
            <a:r>
              <a:rPr lang="en-US" altLang="zh-CN"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70 </a:t>
            </a:r>
            <a:r>
              <a:rPr lang="fr-FR" altLang="zh-CN"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停了下来。汽车受到的阻力是多少？假定试车过程中汽车受到的阻力不变</a:t>
            </a:r>
            <a:endParaRPr lang="en-US" altLang="zh-CN" sz="18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397100" y="772912"/>
            <a:ext cx="18806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rgbClr val="0070C0"/>
                </a:solidFill>
              </a:rPr>
              <a:t>[</a:t>
            </a:r>
            <a:r>
              <a:rPr lang="zh-CN" altLang="en-US" sz="2000">
                <a:solidFill>
                  <a:srgbClr val="0070C0"/>
                </a:solidFill>
              </a:rPr>
              <a:t>确定研究对象</a:t>
            </a:r>
            <a:r>
              <a:rPr lang="en-US" altLang="zh-CN" sz="2000">
                <a:solidFill>
                  <a:srgbClr val="0070C0"/>
                </a:solidFill>
              </a:rPr>
              <a:t>]</a:t>
            </a:r>
            <a:endParaRPr lang="zh-CN" altLang="en-US" sz="2000">
              <a:solidFill>
                <a:srgbClr val="0070C0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090926" y="2300072"/>
            <a:ext cx="5955476" cy="9435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latin typeface="宋体" pitchFamily="2" charset="-122"/>
                <a:ea typeface="宋体" pitchFamily="2" charset="-122"/>
              </a:rPr>
              <a:t>以汽车为研究对象，设汽车运动方向为</a:t>
            </a:r>
            <a:r>
              <a:rPr lang="en-US" altLang="zh-CN" sz="2000">
                <a:latin typeface="宋体" pitchFamily="2" charset="-122"/>
                <a:ea typeface="宋体" pitchFamily="2" charset="-122"/>
              </a:rPr>
              <a:t>x</a:t>
            </a:r>
            <a:r>
              <a:rPr lang="zh-CN" altLang="en-US" sz="2000">
                <a:latin typeface="宋体" pitchFamily="2" charset="-122"/>
                <a:ea typeface="宋体" pitchFamily="2" charset="-122"/>
              </a:rPr>
              <a:t>轴正方向。</a:t>
            </a:r>
            <a:endParaRPr lang="en-US" altLang="zh-CN" sz="2000">
              <a:latin typeface="宋体" pitchFamily="2" charset="-122"/>
              <a:ea typeface="宋体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latin typeface="宋体" pitchFamily="2" charset="-122"/>
                <a:ea typeface="宋体" pitchFamily="2" charset="-122"/>
              </a:rPr>
              <a:t>初速度                        </a:t>
            </a:r>
            <a:r>
              <a:rPr lang="en-US" altLang="zh-CN" sz="2000">
                <a:latin typeface="宋体" pitchFamily="2" charset="-122"/>
                <a:ea typeface="宋体" pitchFamily="2" charset="-122"/>
              </a:rPr>
              <a:t>,</a:t>
            </a:r>
            <a:endParaRPr lang="zh-CN" altLang="en-US" sz="200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397100" y="1161648"/>
            <a:ext cx="2650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rgbClr val="0070C0"/>
                </a:solidFill>
              </a:rPr>
              <a:t>[</a:t>
            </a:r>
            <a:r>
              <a:rPr lang="zh-CN" altLang="en-US" sz="2000">
                <a:solidFill>
                  <a:srgbClr val="0070C0"/>
                </a:solidFill>
              </a:rPr>
              <a:t>分析研究对象的受力</a:t>
            </a:r>
            <a:r>
              <a:rPr lang="en-US" altLang="zh-CN" sz="2000">
                <a:solidFill>
                  <a:srgbClr val="0070C0"/>
                </a:solidFill>
              </a:rPr>
              <a:t>]</a:t>
            </a:r>
            <a:endParaRPr lang="zh-CN" altLang="en-US" sz="2000">
              <a:solidFill>
                <a:srgbClr val="0070C0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397100" y="1605923"/>
            <a:ext cx="32720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rgbClr val="0070C0"/>
                </a:solidFill>
              </a:rPr>
              <a:t>[</a:t>
            </a:r>
            <a:r>
              <a:rPr lang="zh-CN" altLang="en-US" sz="2000">
                <a:solidFill>
                  <a:srgbClr val="0070C0"/>
                </a:solidFill>
              </a:rPr>
              <a:t>分析研究对象的运动情况</a:t>
            </a:r>
            <a:r>
              <a:rPr lang="en-US" altLang="zh-CN" sz="2000">
                <a:solidFill>
                  <a:srgbClr val="0070C0"/>
                </a:solidFill>
              </a:rPr>
              <a:t>]</a:t>
            </a:r>
            <a:endParaRPr lang="zh-CN" altLang="en-US" sz="2000">
              <a:solidFill>
                <a:srgbClr val="0070C0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1388613" y="2002206"/>
            <a:ext cx="46794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rgbClr val="0070C0"/>
                </a:solidFill>
              </a:rPr>
              <a:t>[</a:t>
            </a:r>
            <a:r>
              <a:rPr lang="zh-CN" altLang="en-US" sz="2000">
                <a:solidFill>
                  <a:srgbClr val="0070C0"/>
                </a:solidFill>
              </a:rPr>
              <a:t>利用牛顿第二定律</a:t>
            </a:r>
            <a:r>
              <a:rPr lang="en-US" altLang="zh-CN" sz="2000">
                <a:solidFill>
                  <a:srgbClr val="0070C0"/>
                </a:solidFill>
              </a:rPr>
              <a:t>F</a:t>
            </a:r>
            <a:r>
              <a:rPr lang="zh-CN" altLang="en-US" sz="2000" baseline="-25000">
                <a:solidFill>
                  <a:srgbClr val="0070C0"/>
                </a:solidFill>
              </a:rPr>
              <a:t>合</a:t>
            </a:r>
            <a:r>
              <a:rPr lang="en-US" altLang="zh-CN" sz="2000">
                <a:solidFill>
                  <a:srgbClr val="0070C0"/>
                </a:solidFill>
              </a:rPr>
              <a:t>=ma</a:t>
            </a:r>
            <a:r>
              <a:rPr lang="zh-CN" altLang="en-US" sz="2000">
                <a:solidFill>
                  <a:srgbClr val="0070C0"/>
                </a:solidFill>
              </a:rPr>
              <a:t>进行相关计算</a:t>
            </a:r>
            <a:r>
              <a:rPr lang="en-US" altLang="zh-CN" sz="2000">
                <a:solidFill>
                  <a:srgbClr val="0070C0"/>
                </a:solidFill>
              </a:rPr>
              <a:t>]</a:t>
            </a:r>
            <a:endParaRPr lang="zh-CN" altLang="en-US" sz="2000">
              <a:solidFill>
                <a:srgbClr val="0070C0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232610" y="2321323"/>
            <a:ext cx="16593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>
                <a:latin typeface="+mn-ea"/>
                <a:cs typeface="Times New Roman" panose="02020603050405020304" pitchFamily="18" charset="0"/>
              </a:rPr>
              <a:t> 解</a:t>
            </a:r>
            <a:endParaRPr lang="zh-CN" altLang="en-US" sz="280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274445" y="2745740"/>
                <a:ext cx="2896235" cy="554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0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=100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km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h</m:t>
                      </m:r>
                    </m:oMath>
                  </m:oMathPara>
                </a14:m>
                <a:endParaRPr lang="zh-CN" altLang="en-US" sz="2000"/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8"/>
                </p:custDataLst>
              </p:nvPr>
            </p:nvSpPr>
            <p:spPr>
              <a:xfrm>
                <a:off x="1274445" y="2745740"/>
                <a:ext cx="2896235" cy="554990"/>
              </a:xfrm>
              <a:prstGeom prst="rect">
                <a:avLst/>
              </a:prstGeom>
              <a:blipFill rotWithShape="1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3356669" y="2746348"/>
                <a:ext cx="1898220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=27.8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m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s</m:t>
                      </m:r>
                    </m:oMath>
                  </m:oMathPara>
                </a14:m>
                <a:endParaRPr lang="zh-CN" altLang="en-US" sz="2000"/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0"/>
                </p:custDataLst>
              </p:nvPr>
            </p:nvSpPr>
            <p:spPr>
              <a:xfrm>
                <a:off x="3356669" y="2746348"/>
                <a:ext cx="1898220" cy="553998"/>
              </a:xfrm>
              <a:prstGeom prst="rect">
                <a:avLst/>
              </a:prstGeom>
              <a:blipFill rotWithShape="1">
                <a:blip r:embed="rId31"/>
                <a:stretch>
                  <a:fillRect l="-3" t="-110" r="14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/>
          <p:cNvSpPr txBox="1"/>
          <p:nvPr>
            <p:custDataLst>
              <p:tags r:id="rId11"/>
            </p:custDataLst>
          </p:nvPr>
        </p:nvSpPr>
        <p:spPr>
          <a:xfrm>
            <a:off x="5078003" y="2762407"/>
            <a:ext cx="3377156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latin typeface="宋体" pitchFamily="2" charset="-122"/>
                <a:ea typeface="宋体" pitchFamily="2" charset="-122"/>
              </a:rPr>
              <a:t>末速度为</a:t>
            </a:r>
            <a:r>
              <a:rPr lang="en-US" altLang="zh-CN" sz="2000">
                <a:latin typeface="宋体" pitchFamily="2" charset="-122"/>
                <a:ea typeface="宋体" pitchFamily="2" charset="-122"/>
              </a:rPr>
              <a:t>0</a:t>
            </a:r>
            <a:r>
              <a:rPr lang="zh-CN" altLang="en-US" sz="2000">
                <a:latin typeface="宋体" pitchFamily="2" charset="-122"/>
                <a:ea typeface="宋体" pitchFamily="2" charset="-122"/>
              </a:rPr>
              <a:t>，滑行时间</a:t>
            </a:r>
            <a:r>
              <a:rPr lang="en-US" altLang="zh-CN" sz="2000">
                <a:latin typeface="宋体" pitchFamily="2" charset="-122"/>
                <a:ea typeface="宋体" pitchFamily="2" charset="-122"/>
              </a:rPr>
              <a:t>t=70s</a:t>
            </a:r>
            <a:r>
              <a:rPr lang="zh-CN" altLang="en-US" sz="2000">
                <a:latin typeface="宋体" pitchFamily="2" charset="-122"/>
                <a:ea typeface="宋体" pitchFamily="2" charset="-122"/>
              </a:rPr>
              <a:t>。</a:t>
            </a:r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8659155" y="2582933"/>
            <a:ext cx="2724150" cy="1009650"/>
          </a:xfrm>
          <a:prstGeom prst="rect">
            <a:avLst/>
          </a:prstGeom>
        </p:spPr>
      </p:pic>
      <p:cxnSp>
        <p:nvCxnSpPr>
          <p:cNvPr id="23" name="直接箭头连接符 22"/>
          <p:cNvCxnSpPr/>
          <p:nvPr>
            <p:custDataLst>
              <p:tags r:id="rId13"/>
            </p:custDataLst>
          </p:nvPr>
        </p:nvCxnSpPr>
        <p:spPr>
          <a:xfrm flipH="1">
            <a:off x="9935738" y="3087758"/>
            <a:ext cx="0" cy="82632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>
            <p:custDataLst>
              <p:tags r:id="rId14"/>
            </p:custDataLst>
          </p:nvPr>
        </p:nvCxnSpPr>
        <p:spPr>
          <a:xfrm flipH="1" flipV="1">
            <a:off x="9935738" y="2261438"/>
            <a:ext cx="0" cy="82632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>
            <p:custDataLst>
              <p:tags r:id="rId15"/>
            </p:custDataLst>
          </p:nvPr>
        </p:nvCxnSpPr>
        <p:spPr>
          <a:xfrm flipH="1">
            <a:off x="9099395" y="3096375"/>
            <a:ext cx="836343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16"/>
            </p:custDataLst>
          </p:nvPr>
        </p:nvSpPr>
        <p:spPr>
          <a:xfrm>
            <a:off x="9507416" y="223623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>
            <p:custDataLst>
              <p:tags r:id="rId17"/>
            </p:custDataLst>
          </p:nvPr>
        </p:nvSpPr>
        <p:spPr>
          <a:xfrm>
            <a:off x="9556053" y="354150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CN" alt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>
            <p:custDataLst>
              <p:tags r:id="rId18"/>
            </p:custDataLst>
          </p:nvPr>
        </p:nvSpPr>
        <p:spPr>
          <a:xfrm>
            <a:off x="1132264" y="3403446"/>
            <a:ext cx="55473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>
                <a:latin typeface="宋体" pitchFamily="2" charset="-122"/>
                <a:ea typeface="宋体" pitchFamily="2" charset="-122"/>
              </a:rPr>
              <a:t>根据匀变速直线运动速度与时间的关系，加速度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1041223" y="3906656"/>
                <a:ext cx="2911699" cy="695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0−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宋体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宋体" pitchFamily="2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宋体" pitchFamily="2" charset="-122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𝑡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=−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宋体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宋体" pitchFamily="2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宋体" pitchFamily="2" charset="-122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zh-CN" altLang="en-US" sz="2000">
                  <a:latin typeface="宋体" pitchFamily="2" charset="-122"/>
                  <a:ea typeface="宋体" pitchFamily="2" charset="-122"/>
                </a:endParaRP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3"/>
                </p:custDataLst>
              </p:nvPr>
            </p:nvSpPr>
            <p:spPr>
              <a:xfrm>
                <a:off x="1041223" y="3906656"/>
                <a:ext cx="2911699" cy="695062"/>
              </a:xfrm>
              <a:prstGeom prst="rect">
                <a:avLst/>
              </a:prstGeom>
              <a:blipFill rotWithShape="1">
                <a:blip r:embed="rId34"/>
                <a:stretch>
                  <a:fillRect l="-16" t="-20" r="2" b="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1132264" y="4720176"/>
                <a:ext cx="374081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>
                    <a:latin typeface="宋体" pitchFamily="2" charset="-122"/>
                    <a:ea typeface="宋体" pitchFamily="2" charset="-122"/>
                  </a:rPr>
                  <a:t>根据牛顿第二定律，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宋体" pitchFamily="2" charset="-122"/>
                      </a:rPr>
                      <m:t>𝐹</m:t>
                    </m:r>
                    <m:r>
                      <a:rPr lang="zh-CN" altLang="en-US" sz="2000" i="1" baseline="-25000">
                        <a:latin typeface="Cambria Math" panose="02040503050406030204" pitchFamily="18" charset="0"/>
                        <a:ea typeface="宋体" pitchFamily="2" charset="-122"/>
                      </a:rPr>
                      <m:t>阻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宋体" pitchFamily="2" charset="-122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宋体" pitchFamily="2" charset="-122"/>
                      </a:rPr>
                      <m:t>𝑚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sz="2000">
                  <a:latin typeface="宋体" pitchFamily="2" charset="-122"/>
                  <a:ea typeface="宋体" pitchFamily="2" charset="-122"/>
                </a:endParaRP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5"/>
                </p:custDataLst>
              </p:nvPr>
            </p:nvSpPr>
            <p:spPr>
              <a:xfrm>
                <a:off x="1132264" y="4720176"/>
                <a:ext cx="3740819" cy="400110"/>
              </a:xfrm>
              <a:prstGeom prst="rect">
                <a:avLst/>
              </a:prstGeom>
              <a:blipFill rotWithShape="1">
                <a:blip r:embed="rId36"/>
                <a:stretch>
                  <a:fillRect l="-2" t="-55" r="2" b="-63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1131865" y="5181745"/>
                <a:ext cx="479691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>
                    <a:latin typeface="宋体" pitchFamily="2" charset="-122"/>
                    <a:ea typeface="宋体" pitchFamily="2" charset="-122"/>
                  </a:rPr>
                  <a:t>代入上式和数据，解得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宋体" pitchFamily="2" charset="-122"/>
                      </a:rPr>
                      <m:t>𝐹</m:t>
                    </m:r>
                    <m:r>
                      <a:rPr lang="zh-CN" altLang="en-US" sz="2000" i="1" baseline="-25000">
                        <a:latin typeface="Cambria Math" panose="02040503050406030204" pitchFamily="18" charset="0"/>
                        <a:ea typeface="宋体" pitchFamily="2" charset="-122"/>
                      </a:rPr>
                      <m:t>阻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宋体" pitchFamily="2" charset="-122"/>
                      </a:rPr>
                      <m:t>=−437 </m:t>
                    </m:r>
                  </m:oMath>
                </a14:m>
                <a:r>
                  <a:rPr lang="en-US" altLang="zh-CN" sz="2000">
                    <a:latin typeface="宋体" pitchFamily="2" charset="-122"/>
                    <a:ea typeface="宋体" pitchFamily="2" charset="-122"/>
                  </a:rPr>
                  <a:t>N</a:t>
                </a:r>
                <a:endParaRPr lang="zh-CN" altLang="en-US" sz="2000">
                  <a:latin typeface="宋体" pitchFamily="2" charset="-122"/>
                  <a:ea typeface="宋体" pitchFamily="2" charset="-122"/>
                </a:endParaRP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35" name="文本框 3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7"/>
                </p:custDataLst>
              </p:nvPr>
            </p:nvSpPr>
            <p:spPr>
              <a:xfrm>
                <a:off x="1131865" y="5181745"/>
                <a:ext cx="4796918" cy="400110"/>
              </a:xfrm>
              <a:prstGeom prst="rect">
                <a:avLst/>
              </a:prstGeom>
              <a:blipFill rotWithShape="1">
                <a:blip r:embed="rId38"/>
                <a:stretch>
                  <a:fillRect l="-6" t="-36" r="9" b="-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/>
          <p:cNvSpPr txBox="1"/>
          <p:nvPr>
            <p:custDataLst>
              <p:tags r:id="rId22"/>
            </p:custDataLst>
          </p:nvPr>
        </p:nvSpPr>
        <p:spPr>
          <a:xfrm>
            <a:off x="1131865" y="5684978"/>
            <a:ext cx="6395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>
                <a:latin typeface="宋体" pitchFamily="2" charset="-122"/>
                <a:ea typeface="宋体" pitchFamily="2" charset="-122"/>
              </a:rPr>
              <a:t>故汽车受到的阻力大小为</a:t>
            </a:r>
            <a:r>
              <a:rPr lang="en-US" altLang="zh-CN" sz="2000">
                <a:latin typeface="宋体" pitchFamily="2" charset="-122"/>
                <a:ea typeface="宋体" pitchFamily="2" charset="-122"/>
              </a:rPr>
              <a:t>437N</a:t>
            </a:r>
            <a:r>
              <a:rPr lang="zh-CN" altLang="en-US" sz="2000">
                <a:latin typeface="宋体" pitchFamily="2" charset="-122"/>
                <a:ea typeface="宋体" pitchFamily="2" charset="-122"/>
              </a:rPr>
              <a:t>，方向与运动方向相反</a:t>
            </a:r>
          </a:p>
        </p:txBody>
      </p:sp>
      <p:sp>
        <p:nvSpPr>
          <p:cNvPr id="37" name="文本框 36"/>
          <p:cNvSpPr txBox="1"/>
          <p:nvPr>
            <p:custDataLst>
              <p:tags r:id="rId23"/>
            </p:custDataLst>
          </p:nvPr>
        </p:nvSpPr>
        <p:spPr>
          <a:xfrm>
            <a:off x="4735448" y="1507417"/>
            <a:ext cx="1071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求出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baseline="-25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直接箭头连接符 38"/>
          <p:cNvCxnSpPr/>
          <p:nvPr>
            <p:custDataLst>
              <p:tags r:id="rId24"/>
            </p:custDataLst>
          </p:nvPr>
        </p:nvCxnSpPr>
        <p:spPr>
          <a:xfrm flipV="1">
            <a:off x="5740131" y="1738248"/>
            <a:ext cx="928993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>
            <p:custDataLst>
              <p:tags r:id="rId25"/>
            </p:custDataLst>
          </p:nvPr>
        </p:nvSpPr>
        <p:spPr>
          <a:xfrm>
            <a:off x="5740131" y="1306189"/>
            <a:ext cx="959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solidFill>
                  <a:srgbClr val="FF0000"/>
                </a:solidFill>
              </a:rPr>
              <a:t>F</a:t>
            </a:r>
            <a:r>
              <a:rPr lang="zh-CN" altLang="en-US" sz="1800" baseline="-25000">
                <a:solidFill>
                  <a:srgbClr val="FF0000"/>
                </a:solidFill>
              </a:rPr>
              <a:t>合</a:t>
            </a:r>
            <a:r>
              <a:rPr lang="en-US" altLang="zh-CN" sz="1800">
                <a:solidFill>
                  <a:srgbClr val="FF0000"/>
                </a:solidFill>
              </a:rPr>
              <a:t>=ma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3" name="文本框 42"/>
          <p:cNvSpPr txBox="1"/>
          <p:nvPr>
            <p:custDataLst>
              <p:tags r:id="rId26"/>
            </p:custDataLst>
          </p:nvPr>
        </p:nvSpPr>
        <p:spPr>
          <a:xfrm>
            <a:off x="6753496" y="1501733"/>
            <a:ext cx="1262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求出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400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3" grpId="0"/>
      <p:bldP spid="14" grpId="0"/>
      <p:bldP spid="17" grpId="0"/>
      <p:bldP spid="29" grpId="0"/>
      <p:bldP spid="29" grpId="1"/>
      <p:bldP spid="30" grpId="0"/>
      <p:bldP spid="30" grpId="1"/>
      <p:bldP spid="31" grpId="0"/>
      <p:bldP spid="32" grpId="0"/>
      <p:bldP spid="33" grpId="0"/>
      <p:bldP spid="35" grpId="0"/>
      <p:bldP spid="36" grpId="0"/>
      <p:bldP spid="37" grpId="0"/>
      <p:bldP spid="42" grpId="0"/>
      <p:bldP spid="4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8184273" y="822744"/>
            <a:ext cx="3870063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indent="457200"/>
            <a:r>
              <a:rPr lang="zh-CN" altLang="en-US"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重新起步加速时牵引力为 </a:t>
            </a:r>
            <a:r>
              <a:rPr lang="en-US" altLang="zh-CN"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2000 </a:t>
            </a:r>
            <a:r>
              <a:rPr lang="fr-FR" altLang="zh-CN"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，产生的加速度是多少？假定试车过程中汽车受到的阻力不变。</a:t>
            </a:r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37664" y="711357"/>
            <a:ext cx="16593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>
                <a:latin typeface="+mn-ea"/>
                <a:cs typeface="Times New Roman" panose="02020603050405020304" pitchFamily="18" charset="0"/>
              </a:rPr>
              <a:t> 分析</a:t>
            </a:r>
            <a:endParaRPr lang="zh-CN" altLang="en-US" sz="2800">
              <a:latin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397100" y="772912"/>
            <a:ext cx="18806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rgbClr val="0070C0"/>
                </a:solidFill>
              </a:rPr>
              <a:t>[</a:t>
            </a:r>
            <a:r>
              <a:rPr lang="zh-CN" altLang="en-US" sz="2000">
                <a:solidFill>
                  <a:srgbClr val="0070C0"/>
                </a:solidFill>
              </a:rPr>
              <a:t>确定研究对象</a:t>
            </a:r>
            <a:r>
              <a:rPr lang="en-US" altLang="zh-CN" sz="2000">
                <a:solidFill>
                  <a:srgbClr val="0070C0"/>
                </a:solidFill>
              </a:rPr>
              <a:t>]</a:t>
            </a:r>
            <a:endParaRPr lang="zh-CN" altLang="en-US" sz="2000">
              <a:solidFill>
                <a:srgbClr val="0070C0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397100" y="1161648"/>
            <a:ext cx="2650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rgbClr val="0070C0"/>
                </a:solidFill>
              </a:rPr>
              <a:t>[</a:t>
            </a:r>
            <a:r>
              <a:rPr lang="zh-CN" altLang="en-US" sz="2000">
                <a:solidFill>
                  <a:srgbClr val="0070C0"/>
                </a:solidFill>
              </a:rPr>
              <a:t>分析研究对象的受力</a:t>
            </a:r>
            <a:r>
              <a:rPr lang="en-US" altLang="zh-CN" sz="2000">
                <a:solidFill>
                  <a:srgbClr val="0070C0"/>
                </a:solidFill>
              </a:rPr>
              <a:t>]</a:t>
            </a:r>
            <a:endParaRPr lang="zh-CN" altLang="en-US" sz="2000">
              <a:solidFill>
                <a:srgbClr val="0070C0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397100" y="1605923"/>
            <a:ext cx="32720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rgbClr val="0070C0"/>
                </a:solidFill>
              </a:rPr>
              <a:t>[</a:t>
            </a:r>
            <a:r>
              <a:rPr lang="zh-CN" altLang="en-US" sz="2000">
                <a:solidFill>
                  <a:srgbClr val="0070C0"/>
                </a:solidFill>
              </a:rPr>
              <a:t>分析研究对象的运动情况</a:t>
            </a:r>
            <a:r>
              <a:rPr lang="en-US" altLang="zh-CN" sz="2000">
                <a:solidFill>
                  <a:srgbClr val="0070C0"/>
                </a:solidFill>
              </a:rPr>
              <a:t>]</a:t>
            </a:r>
            <a:endParaRPr lang="zh-CN" altLang="en-US" sz="2000">
              <a:solidFill>
                <a:srgbClr val="0070C0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1388613" y="2002206"/>
            <a:ext cx="46794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rgbClr val="0070C0"/>
                </a:solidFill>
              </a:rPr>
              <a:t>[</a:t>
            </a:r>
            <a:r>
              <a:rPr lang="zh-CN" altLang="en-US" sz="2000">
                <a:solidFill>
                  <a:srgbClr val="0070C0"/>
                </a:solidFill>
              </a:rPr>
              <a:t>利用牛顿第二定律</a:t>
            </a:r>
            <a:r>
              <a:rPr lang="en-US" altLang="zh-CN" sz="2000">
                <a:solidFill>
                  <a:srgbClr val="0070C0"/>
                </a:solidFill>
              </a:rPr>
              <a:t>F</a:t>
            </a:r>
            <a:r>
              <a:rPr lang="zh-CN" altLang="en-US" sz="2000" baseline="-25000">
                <a:solidFill>
                  <a:srgbClr val="0070C0"/>
                </a:solidFill>
              </a:rPr>
              <a:t>合</a:t>
            </a:r>
            <a:r>
              <a:rPr lang="en-US" altLang="zh-CN" sz="2000">
                <a:solidFill>
                  <a:srgbClr val="0070C0"/>
                </a:solidFill>
              </a:rPr>
              <a:t>=ma</a:t>
            </a:r>
            <a:r>
              <a:rPr lang="zh-CN" altLang="en-US" sz="2000">
                <a:solidFill>
                  <a:srgbClr val="0070C0"/>
                </a:solidFill>
              </a:rPr>
              <a:t>进行相关计算</a:t>
            </a:r>
            <a:r>
              <a:rPr lang="en-US" altLang="zh-CN" sz="2000">
                <a:solidFill>
                  <a:srgbClr val="0070C0"/>
                </a:solidFill>
              </a:rPr>
              <a:t>]</a:t>
            </a:r>
            <a:endParaRPr lang="zh-CN" altLang="en-US" sz="2000">
              <a:solidFill>
                <a:srgbClr val="0070C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8659155" y="2582933"/>
            <a:ext cx="2724150" cy="1009650"/>
          </a:xfrm>
          <a:prstGeom prst="rect">
            <a:avLst/>
          </a:prstGeom>
        </p:spPr>
      </p:pic>
      <p:cxnSp>
        <p:nvCxnSpPr>
          <p:cNvPr id="12" name="直接箭头连接符 11"/>
          <p:cNvCxnSpPr/>
          <p:nvPr>
            <p:custDataLst>
              <p:tags r:id="rId8"/>
            </p:custDataLst>
          </p:nvPr>
        </p:nvCxnSpPr>
        <p:spPr>
          <a:xfrm flipH="1">
            <a:off x="9935738" y="3087758"/>
            <a:ext cx="0" cy="82632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>
            <p:custDataLst>
              <p:tags r:id="rId9"/>
            </p:custDataLst>
          </p:nvPr>
        </p:nvCxnSpPr>
        <p:spPr>
          <a:xfrm flipH="1" flipV="1">
            <a:off x="9935738" y="2261438"/>
            <a:ext cx="0" cy="82632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>
            <p:custDataLst>
              <p:tags r:id="rId10"/>
            </p:custDataLst>
          </p:nvPr>
        </p:nvCxnSpPr>
        <p:spPr>
          <a:xfrm flipH="1">
            <a:off x="9099395" y="3096375"/>
            <a:ext cx="836343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9507416" y="223623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9556053" y="354150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CN" alt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接箭头连接符 16"/>
          <p:cNvCxnSpPr/>
          <p:nvPr>
            <p:custDataLst>
              <p:tags r:id="rId13"/>
            </p:custDataLst>
          </p:nvPr>
        </p:nvCxnSpPr>
        <p:spPr>
          <a:xfrm>
            <a:off x="9894189" y="3096375"/>
            <a:ext cx="1201274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>
            <p:custDataLst>
              <p:tags r:id="rId14"/>
            </p:custDataLst>
          </p:nvPr>
        </p:nvSpPr>
        <p:spPr>
          <a:xfrm>
            <a:off x="10855654" y="2727043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1600" baseline="-2500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牵</a:t>
            </a:r>
            <a:endParaRPr lang="zh-CN" altLang="en-US" baseline="-25000">
              <a:latin typeface="宋体" pitchFamily="2" charset="-122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15"/>
            </p:custDataLst>
          </p:nvPr>
        </p:nvSpPr>
        <p:spPr>
          <a:xfrm>
            <a:off x="4487043" y="1496844"/>
            <a:ext cx="1262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求出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400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合</a:t>
            </a:r>
          </a:p>
        </p:txBody>
      </p:sp>
      <p:cxnSp>
        <p:nvCxnSpPr>
          <p:cNvPr id="22" name="直接箭头连接符 21"/>
          <p:cNvCxnSpPr/>
          <p:nvPr>
            <p:custDataLst>
              <p:tags r:id="rId16"/>
            </p:custDataLst>
          </p:nvPr>
        </p:nvCxnSpPr>
        <p:spPr>
          <a:xfrm flipV="1">
            <a:off x="5740131" y="1738248"/>
            <a:ext cx="928993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>
            <p:custDataLst>
              <p:tags r:id="rId17"/>
            </p:custDataLst>
          </p:nvPr>
        </p:nvSpPr>
        <p:spPr>
          <a:xfrm>
            <a:off x="5724643" y="1296853"/>
            <a:ext cx="959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solidFill>
                  <a:srgbClr val="FF0000"/>
                </a:solidFill>
              </a:rPr>
              <a:t>F</a:t>
            </a:r>
            <a:r>
              <a:rPr lang="zh-CN" altLang="en-US" sz="1800" baseline="-25000">
                <a:solidFill>
                  <a:srgbClr val="FF0000"/>
                </a:solidFill>
              </a:rPr>
              <a:t>合</a:t>
            </a:r>
            <a:r>
              <a:rPr lang="en-US" altLang="zh-CN" sz="1800">
                <a:solidFill>
                  <a:srgbClr val="FF0000"/>
                </a:solidFill>
              </a:rPr>
              <a:t>=ma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4" name="文本框 23"/>
          <p:cNvSpPr txBox="1"/>
          <p:nvPr>
            <p:custDataLst>
              <p:tags r:id="rId18"/>
            </p:custDataLst>
          </p:nvPr>
        </p:nvSpPr>
        <p:spPr>
          <a:xfrm>
            <a:off x="6753496" y="1501733"/>
            <a:ext cx="1262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求出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baseline="-25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19"/>
            </p:custDataLst>
          </p:nvPr>
        </p:nvSpPr>
        <p:spPr>
          <a:xfrm>
            <a:off x="232610" y="2321323"/>
            <a:ext cx="16593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>
                <a:latin typeface="+mn-ea"/>
                <a:cs typeface="Times New Roman" panose="02020603050405020304" pitchFamily="18" charset="0"/>
              </a:rPr>
              <a:t> 解</a:t>
            </a:r>
            <a:endParaRPr lang="zh-CN" altLang="en-US" sz="2800">
              <a:latin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20"/>
            </p:custDataLst>
          </p:nvPr>
        </p:nvSpPr>
        <p:spPr>
          <a:xfrm>
            <a:off x="1090926" y="2300072"/>
            <a:ext cx="3775393" cy="481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latin typeface="宋体" pitchFamily="2" charset="-122"/>
                <a:ea typeface="宋体" pitchFamily="2" charset="-122"/>
              </a:rPr>
              <a:t>重新起步后</a:t>
            </a:r>
            <a:r>
              <a:rPr lang="en-US" altLang="zh-CN" sz="2000">
                <a:latin typeface="宋体" pitchFamily="2" charset="-122"/>
                <a:ea typeface="宋体" pitchFamily="2" charset="-122"/>
              </a:rPr>
              <a:t>,</a:t>
            </a:r>
            <a:r>
              <a:rPr lang="zh-CN" altLang="en-US" sz="2000">
                <a:latin typeface="宋体" pitchFamily="2" charset="-122"/>
                <a:ea typeface="宋体" pitchFamily="2" charset="-122"/>
              </a:rPr>
              <a:t>汽车受到的合力为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967347" y="2842764"/>
                <a:ext cx="385336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𝐹</m:t>
                      </m:r>
                      <m:r>
                        <a:rPr lang="zh-CN" altLang="en-US" sz="2000" i="1" baseline="-25000">
                          <a:latin typeface="Cambria Math" panose="02040503050406030204" pitchFamily="18" charset="0"/>
                          <a:ea typeface="宋体" pitchFamily="2" charset="-122"/>
                        </a:rPr>
                        <m:t>合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=2000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N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−437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N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=1563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N</m:t>
                      </m:r>
                    </m:oMath>
                  </m:oMathPara>
                </a14:m>
                <a:endParaRPr lang="zh-CN" altLang="en-US" sz="2000">
                  <a:latin typeface="宋体" pitchFamily="2" charset="-122"/>
                  <a:ea typeface="宋体" pitchFamily="2" charset="-122"/>
                </a:endParaRP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7"/>
                </p:custDataLst>
              </p:nvPr>
            </p:nvSpPr>
            <p:spPr>
              <a:xfrm>
                <a:off x="967347" y="2842764"/>
                <a:ext cx="3853363" cy="553998"/>
              </a:xfrm>
              <a:prstGeom prst="rect">
                <a:avLst/>
              </a:prstGeom>
              <a:blipFill rotWithShape="1">
                <a:blip r:embed="rId28"/>
                <a:stretch>
                  <a:fillRect l="-6" t="-91" r="-4768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1090926" y="4538898"/>
                <a:ext cx="3634713" cy="4931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>
                    <a:latin typeface="宋体" pitchFamily="2" charset="-122"/>
                    <a:ea typeface="宋体" pitchFamily="2" charset="-122"/>
                  </a:rPr>
                  <a:t>代入数据，解得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宋体" pitchFamily="2" charset="-122"/>
                      </a:rPr>
                      <m:t>=1.42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ea typeface="宋体" pitchFamily="2" charset="-122"/>
                      </a:rPr>
                      <m:t>m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宋体" pitchFamily="2" charset="-122"/>
                      </a:rPr>
                      <m:t>/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s</m:t>
                        </m:r>
                      </m:e>
                      <m:sup>
                        <m:r>
                          <a:rPr lang="en-US" altLang="zh-CN" sz="2000" b="0" i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sz="2000">
                  <a:latin typeface="宋体" pitchFamily="2" charset="-122"/>
                  <a:ea typeface="宋体" pitchFamily="2" charset="-122"/>
                </a:endParaRP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9"/>
                </p:custDataLst>
              </p:nvPr>
            </p:nvSpPr>
            <p:spPr>
              <a:xfrm>
                <a:off x="1090926" y="4538898"/>
                <a:ext cx="3634713" cy="493148"/>
              </a:xfrm>
              <a:prstGeom prst="rect">
                <a:avLst/>
              </a:prstGeom>
              <a:blipFill rotWithShape="1">
                <a:blip r:embed="rId30"/>
                <a:stretch>
                  <a:fillRect l="-17" t="-112" r="-5259" b="-115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1090926" y="3526120"/>
                <a:ext cx="3740819" cy="10127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>
                    <a:latin typeface="宋体" pitchFamily="2" charset="-122"/>
                    <a:ea typeface="宋体" pitchFamily="2" charset="-122"/>
                  </a:rPr>
                  <a:t>根据牛顿第二定律，</a:t>
                </a:r>
                <a:endParaRPr lang="en-US" altLang="zh-CN" sz="2000">
                  <a:latin typeface="宋体" pitchFamily="2" charset="-122"/>
                  <a:ea typeface="宋体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𝐹</m:t>
                          </m:r>
                          <m:r>
                            <a:rPr lang="zh-CN" altLang="en-US" sz="2000" i="1" baseline="-2500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合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zh-CN" altLang="en-US" sz="2000">
                  <a:latin typeface="宋体" pitchFamily="2" charset="-122"/>
                  <a:ea typeface="宋体" pitchFamily="2" charset="-122"/>
                </a:endParaRP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29" name="文本框 2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1"/>
                </p:custDataLst>
              </p:nvPr>
            </p:nvSpPr>
            <p:spPr>
              <a:xfrm>
                <a:off x="1090926" y="3526120"/>
                <a:ext cx="3740819" cy="1012778"/>
              </a:xfrm>
              <a:prstGeom prst="rect">
                <a:avLst/>
              </a:prstGeom>
              <a:blipFill rotWithShape="1">
                <a:blip r:embed="rId32"/>
                <a:stretch>
                  <a:fillRect l="-17" t="-59" r="1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本框 29"/>
          <p:cNvSpPr txBox="1"/>
          <p:nvPr>
            <p:custDataLst>
              <p:tags r:id="rId24"/>
            </p:custDataLst>
          </p:nvPr>
        </p:nvSpPr>
        <p:spPr>
          <a:xfrm>
            <a:off x="1090926" y="5115335"/>
            <a:ext cx="7066358" cy="481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latin typeface="宋体" pitchFamily="2" charset="-122"/>
                <a:ea typeface="宋体" pitchFamily="2" charset="-122"/>
              </a:rPr>
              <a:t>故重新启动后加速度大小为</a:t>
            </a:r>
            <a:r>
              <a:rPr lang="en-US" altLang="zh-CN" sz="2000">
                <a:latin typeface="宋体" pitchFamily="2" charset="-122"/>
                <a:ea typeface="宋体" pitchFamily="2" charset="-122"/>
              </a:rPr>
              <a:t>1.42m/s</a:t>
            </a:r>
            <a:r>
              <a:rPr lang="en-US" altLang="zh-CN" sz="2000" baseline="30000">
                <a:latin typeface="宋体" pitchFamily="2" charset="-122"/>
                <a:ea typeface="宋体" pitchFamily="2" charset="-122"/>
              </a:rPr>
              <a:t>2</a:t>
            </a:r>
            <a:r>
              <a:rPr lang="en-US" altLang="zh-CN" sz="2000">
                <a:latin typeface="宋体" pitchFamily="2" charset="-122"/>
                <a:ea typeface="宋体" pitchFamily="2" charset="-122"/>
              </a:rPr>
              <a:t>,</a:t>
            </a:r>
            <a:r>
              <a:rPr lang="zh-CN" altLang="en-US" sz="2000">
                <a:latin typeface="宋体" pitchFamily="2" charset="-122"/>
                <a:ea typeface="宋体" pitchFamily="2" charset="-122"/>
              </a:rPr>
              <a:t>方向与运动方向相同。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16" grpId="0"/>
      <p:bldP spid="16" grpId="1"/>
      <p:bldP spid="20" grpId="0"/>
      <p:bldP spid="21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17189" y="1970514"/>
            <a:ext cx="3099066" cy="1218734"/>
          </a:xfrm>
          <a:prstGeom prst="rect">
            <a:avLst/>
          </a:prstGeom>
        </p:spPr>
      </p:pic>
      <p:sp>
        <p:nvSpPr>
          <p:cNvPr id="5" name="文本框 3"/>
          <p:cNvSpPr/>
          <p:nvPr>
            <p:custDataLst>
              <p:tags r:id="rId2"/>
            </p:custDataLst>
          </p:nvPr>
        </p:nvSpPr>
        <p:spPr>
          <a:xfrm>
            <a:off x="2981325" y="474345"/>
            <a:ext cx="5196205" cy="77089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/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</a:defRPr>
            </a:lvl5pPr>
          </a:lstStyle>
          <a:p>
            <a:r>
              <a:rPr lang="en-US" altLang="zh-CN" sz="4400" b="1" i="1" kern="0">
                <a:solidFill>
                  <a:srgbClr val="224B9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F = ma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25912" y="567152"/>
            <a:ext cx="2646878" cy="1077218"/>
          </a:xfrm>
          <a:prstGeom prst="rect">
            <a:avLst/>
          </a:prstGeom>
          <a:solidFill>
            <a:srgbClr val="FFE1E1"/>
          </a:solidFill>
        </p:spPr>
        <p:txBody>
          <a:bodyPr wrap="square" rtlCol="0">
            <a:spAutoFit/>
          </a:bodyPr>
          <a:lstStyle/>
          <a:p>
            <a:r>
              <a:rPr lang="zh-CN" altLang="en-US" sz="3200"/>
              <a:t>牛顿第二定律的理解</a:t>
            </a: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717189" y="3800429"/>
            <a:ext cx="3099066" cy="1174019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4007728" y="2261102"/>
            <a:ext cx="1534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</a:t>
            </a:r>
            <a:r>
              <a:rPr lang="zh-CN" altLang="en-US" sz="2800" baseline="-2500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阻</a:t>
            </a:r>
            <a:r>
              <a:rPr lang="en-US" altLang="zh-CN" sz="2800" i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 ma</a:t>
            </a:r>
            <a:r>
              <a:rPr lang="en-US" altLang="zh-CN" sz="2800" i="1" baseline="-2500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1</a:t>
            </a:r>
            <a:endParaRPr lang="zh-CN" altLang="en-US" sz="2800" i="1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4026313" y="4125828"/>
            <a:ext cx="2262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</a:t>
            </a:r>
            <a:r>
              <a:rPr lang="zh-CN" altLang="en-US" sz="2800" baseline="-2500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牵 </a:t>
            </a:r>
            <a:r>
              <a:rPr lang="en-US" altLang="zh-CN" sz="280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- </a:t>
            </a:r>
            <a:r>
              <a:rPr lang="en-US" altLang="zh-CN" sz="2800" i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</a:t>
            </a:r>
            <a:r>
              <a:rPr lang="zh-CN" altLang="en-US" sz="2800" baseline="-2500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阻</a:t>
            </a:r>
            <a:r>
              <a:rPr lang="en-US" altLang="zh-CN" sz="2800" i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 ma</a:t>
            </a:r>
            <a:r>
              <a:rPr lang="en-US" altLang="zh-CN" sz="2800" i="1" baseline="-2500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2</a:t>
            </a:r>
            <a:endParaRPr lang="zh-CN" altLang="en-US" sz="2800" i="1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6288471" y="229411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>
                <a:solidFill>
                  <a:srgbClr val="C00000"/>
                </a:solidFill>
              </a:rPr>
              <a:t>因果性</a:t>
            </a: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6288471" y="3200402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>
                <a:solidFill>
                  <a:srgbClr val="C00000"/>
                </a:solidFill>
              </a:rPr>
              <a:t>瞬时性</a:t>
            </a:r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5167294" y="2831070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0070C0"/>
                </a:solidFill>
              </a:rPr>
              <a:t>“力是原因，加速度是结果”</a:t>
            </a:r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4484131" y="3712564"/>
            <a:ext cx="3608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0070C0"/>
                </a:solidFill>
              </a:rPr>
              <a:t>“力和加速度具有瞬时对应的关系”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/>
          <p:cNvSpPr/>
          <p:nvPr>
            <p:custDataLst>
              <p:tags r:id="rId1"/>
            </p:custDataLst>
          </p:nvPr>
        </p:nvSpPr>
        <p:spPr>
          <a:xfrm>
            <a:off x="2981325" y="474345"/>
            <a:ext cx="3386455" cy="77089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/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</a:defRPr>
            </a:lvl5pPr>
          </a:lstStyle>
          <a:p>
            <a:r>
              <a:rPr lang="en-US" altLang="zh-CN" sz="4400" b="1" i="1" kern="0">
                <a:solidFill>
                  <a:srgbClr val="224B9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F = ma</a:t>
            </a: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25912" y="567152"/>
            <a:ext cx="2646878" cy="584775"/>
          </a:xfrm>
          <a:prstGeom prst="rect">
            <a:avLst/>
          </a:prstGeom>
          <a:solidFill>
            <a:srgbClr val="FFE1E1"/>
          </a:solidFill>
        </p:spPr>
        <p:txBody>
          <a:bodyPr wrap="square" rtlCol="0">
            <a:spAutoFit/>
          </a:bodyPr>
          <a:lstStyle/>
          <a:p>
            <a:r>
              <a:rPr lang="zh-CN" altLang="en-US" sz="3200"/>
              <a:t>牛顿第二定律</a:t>
            </a: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850817" y="1892687"/>
            <a:ext cx="6988492" cy="3662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20000"/>
              </a:lnSpc>
            </a:pPr>
            <a:r>
              <a:rPr lang="zh-CN" altLang="en-US" sz="2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某同学在列车车厢的顶部用细线悬挂一个小球，在列车以某一加速度渐渐启动的过程中，细线就会偏过一定角度并相对车厢保持静止，通过测定偏角的大小就能确定列车的加速度。在某次测定中，</a:t>
            </a:r>
            <a:endParaRPr lang="en-US" altLang="zh-CN" sz="28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悬线与竖直方向的夹角为</a:t>
            </a:r>
            <a:endParaRPr lang="en-US" altLang="zh-CN" sz="28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sz="2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，求列车的加速度。</a:t>
            </a: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66003" y="1303028"/>
            <a:ext cx="16593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zh-CN" altLang="en-US" sz="32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例题</a:t>
            </a:r>
            <a:r>
              <a:rPr lang="en-US" altLang="zh-CN" sz="32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2]</a:t>
            </a:r>
            <a:endParaRPr lang="zh-CN" altLang="en-US" sz="3200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120861" y="4062264"/>
            <a:ext cx="2718448" cy="17738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advTm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495923" y="2748916"/>
            <a:ext cx="6988492" cy="56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20000"/>
              </a:lnSpc>
            </a:pPr>
            <a:r>
              <a:rPr lang="zh-CN" altLang="en-US" sz="2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1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76698" y="3348729"/>
            <a:ext cx="2718448" cy="1773814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137664" y="711357"/>
            <a:ext cx="16593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>
                <a:latin typeface="+mn-ea"/>
                <a:cs typeface="Times New Roman" panose="02020603050405020304" pitchFamily="18" charset="0"/>
              </a:rPr>
              <a:t> 分析</a:t>
            </a:r>
            <a:endParaRPr lang="zh-CN" altLang="en-US" sz="2800">
              <a:latin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1397100" y="772912"/>
            <a:ext cx="18806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rgbClr val="0070C0"/>
                </a:solidFill>
              </a:rPr>
              <a:t>[</a:t>
            </a:r>
            <a:r>
              <a:rPr lang="zh-CN" altLang="en-US" sz="2000">
                <a:solidFill>
                  <a:srgbClr val="0070C0"/>
                </a:solidFill>
              </a:rPr>
              <a:t>确定研究对象</a:t>
            </a:r>
            <a:r>
              <a:rPr lang="en-US" altLang="zh-CN" sz="2000">
                <a:solidFill>
                  <a:srgbClr val="0070C0"/>
                </a:solidFill>
              </a:rPr>
              <a:t>]</a:t>
            </a:r>
            <a:endParaRPr lang="zh-CN" altLang="en-US" sz="2000">
              <a:solidFill>
                <a:srgbClr val="0070C0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1397100" y="1161648"/>
            <a:ext cx="2650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rgbClr val="0070C0"/>
                </a:solidFill>
              </a:rPr>
              <a:t>[</a:t>
            </a:r>
            <a:r>
              <a:rPr lang="zh-CN" altLang="en-US" sz="2000">
                <a:solidFill>
                  <a:srgbClr val="0070C0"/>
                </a:solidFill>
              </a:rPr>
              <a:t>分析研究对象的受力</a:t>
            </a:r>
            <a:r>
              <a:rPr lang="en-US" altLang="zh-CN" sz="2000">
                <a:solidFill>
                  <a:srgbClr val="0070C0"/>
                </a:solidFill>
              </a:rPr>
              <a:t>]</a:t>
            </a:r>
            <a:endParaRPr lang="zh-CN" altLang="en-US" sz="2000">
              <a:solidFill>
                <a:srgbClr val="0070C0"/>
              </a:solidFill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1397100" y="1605923"/>
            <a:ext cx="32720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rgbClr val="0070C0"/>
                </a:solidFill>
              </a:rPr>
              <a:t>[</a:t>
            </a:r>
            <a:r>
              <a:rPr lang="zh-CN" altLang="en-US" sz="2000">
                <a:solidFill>
                  <a:srgbClr val="0070C0"/>
                </a:solidFill>
              </a:rPr>
              <a:t>分析研究对象的运动情况</a:t>
            </a:r>
            <a:r>
              <a:rPr lang="en-US" altLang="zh-CN" sz="2000">
                <a:solidFill>
                  <a:srgbClr val="0070C0"/>
                </a:solidFill>
              </a:rPr>
              <a:t>]</a:t>
            </a:r>
            <a:endParaRPr lang="zh-CN" altLang="en-US" sz="2000">
              <a:solidFill>
                <a:srgbClr val="0070C0"/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1388613" y="2002206"/>
            <a:ext cx="46794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rgbClr val="0070C0"/>
                </a:solidFill>
              </a:rPr>
              <a:t>[</a:t>
            </a:r>
            <a:r>
              <a:rPr lang="zh-CN" altLang="en-US" sz="2000">
                <a:solidFill>
                  <a:srgbClr val="0070C0"/>
                </a:solidFill>
              </a:rPr>
              <a:t>利用牛顿第二定律</a:t>
            </a:r>
            <a:r>
              <a:rPr lang="en-US" altLang="zh-CN" sz="2000">
                <a:solidFill>
                  <a:srgbClr val="0070C0"/>
                </a:solidFill>
              </a:rPr>
              <a:t>F</a:t>
            </a:r>
            <a:r>
              <a:rPr lang="zh-CN" altLang="en-US" sz="2000" baseline="-25000">
                <a:solidFill>
                  <a:srgbClr val="0070C0"/>
                </a:solidFill>
              </a:rPr>
              <a:t>合</a:t>
            </a:r>
            <a:r>
              <a:rPr lang="en-US" altLang="zh-CN" sz="2000">
                <a:solidFill>
                  <a:srgbClr val="0070C0"/>
                </a:solidFill>
              </a:rPr>
              <a:t>=ma</a:t>
            </a:r>
            <a:r>
              <a:rPr lang="zh-CN" altLang="en-US" sz="2000">
                <a:solidFill>
                  <a:srgbClr val="0070C0"/>
                </a:solidFill>
              </a:rPr>
              <a:t>进行相关计算</a:t>
            </a:r>
            <a:r>
              <a:rPr lang="en-US" altLang="zh-CN" sz="2000">
                <a:solidFill>
                  <a:srgbClr val="0070C0"/>
                </a:solidFill>
              </a:rPr>
              <a:t>]</a:t>
            </a:r>
            <a:endParaRPr lang="zh-CN" altLang="en-US" sz="2000">
              <a:solidFill>
                <a:srgbClr val="0070C0"/>
              </a:solidFill>
            </a:endParaRPr>
          </a:p>
        </p:txBody>
      </p:sp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8184273" y="822744"/>
            <a:ext cx="3870063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indent="457200"/>
            <a:r>
              <a:rPr lang="zh-CN" altLang="en-US"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某同学在列车车厢的顶部用细线悬挂一个</a:t>
            </a:r>
            <a:r>
              <a:rPr lang="zh-CN" altLang="en-US" sz="18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小球</a:t>
            </a:r>
            <a:r>
              <a:rPr lang="zh-CN" altLang="en-US"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，在列车以某一加速度渐渐启动的过程中，细线就会</a:t>
            </a:r>
            <a:r>
              <a:rPr lang="zh-CN" altLang="en-US" sz="18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偏过一定角度并相对车厢保持静止</a:t>
            </a:r>
            <a:r>
              <a:rPr lang="zh-CN" altLang="en-US"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，通过测定偏角的大小就能确定列车的加速度。在某次测定中，悬线与竖直方向的夹角为</a:t>
            </a:r>
            <a:r>
              <a:rPr lang="en-US" altLang="zh-CN" sz="1800" i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18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求列车的加速度</a:t>
            </a:r>
            <a:r>
              <a:rPr lang="zh-CN" altLang="en-US"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18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3552668" y="76769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34923E"/>
                </a:solidFill>
              </a:rPr>
              <a:t>小球</a:t>
            </a:r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4615486" y="1393466"/>
            <a:ext cx="1262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求出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400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合</a:t>
            </a:r>
          </a:p>
        </p:txBody>
      </p:sp>
      <p:cxnSp>
        <p:nvCxnSpPr>
          <p:cNvPr id="16" name="直接箭头连接符 15"/>
          <p:cNvCxnSpPr/>
          <p:nvPr>
            <p:custDataLst>
              <p:tags r:id="rId11"/>
            </p:custDataLst>
          </p:nvPr>
        </p:nvCxnSpPr>
        <p:spPr>
          <a:xfrm flipV="1">
            <a:off x="5868574" y="1634870"/>
            <a:ext cx="928993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>
            <p:custDataLst>
              <p:tags r:id="rId12"/>
            </p:custDataLst>
          </p:nvPr>
        </p:nvSpPr>
        <p:spPr>
          <a:xfrm>
            <a:off x="5853086" y="1193475"/>
            <a:ext cx="959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solidFill>
                  <a:srgbClr val="FF0000"/>
                </a:solidFill>
              </a:rPr>
              <a:t>F</a:t>
            </a:r>
            <a:r>
              <a:rPr lang="zh-CN" altLang="en-US" sz="1800" baseline="-25000">
                <a:solidFill>
                  <a:srgbClr val="FF0000"/>
                </a:solidFill>
              </a:rPr>
              <a:t>合</a:t>
            </a:r>
            <a:r>
              <a:rPr lang="en-US" altLang="zh-CN" sz="1800">
                <a:solidFill>
                  <a:srgbClr val="FF0000"/>
                </a:solidFill>
              </a:rPr>
              <a:t>=ma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>
            <a:off x="6881939" y="1398355"/>
            <a:ext cx="1262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求出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baseline="-25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14"/>
            </p:custDataLst>
          </p:nvPr>
        </p:nvSpPr>
        <p:spPr>
          <a:xfrm>
            <a:off x="232610" y="2321323"/>
            <a:ext cx="16593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>
                <a:latin typeface="+mn-ea"/>
                <a:cs typeface="Times New Roman" panose="02020603050405020304" pitchFamily="18" charset="0"/>
              </a:rPr>
              <a:t> 解</a:t>
            </a:r>
            <a:endParaRPr lang="zh-CN" altLang="en-US" sz="2800">
              <a:latin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15"/>
            </p:custDataLst>
          </p:nvPr>
        </p:nvSpPr>
        <p:spPr>
          <a:xfrm>
            <a:off x="1090925" y="2300072"/>
            <a:ext cx="6469601" cy="957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以小球为研究对象。设小球的质量为</a:t>
            </a:r>
            <a:r>
              <a:rPr lang="en-US" altLang="zh-CN" sz="2000" i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00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，小球在竖直面内受到重力</a:t>
            </a:r>
            <a:r>
              <a:rPr lang="en-US" altLang="zh-CN" sz="2000" i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mg</a:t>
            </a:r>
            <a:r>
              <a:rPr lang="zh-CN" altLang="en-US" sz="200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、绳的拉力</a:t>
            </a:r>
            <a:r>
              <a:rPr lang="en-US" altLang="zh-CN" sz="2000" i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sz="2000" baseline="-2500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。</a:t>
            </a:r>
            <a:endParaRPr lang="zh-CN" altLang="en-US" sz="200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16"/>
            </p:custDataLst>
          </p:nvPr>
        </p:nvSpPr>
        <p:spPr>
          <a:xfrm>
            <a:off x="1090924" y="3283392"/>
            <a:ext cx="6469601" cy="957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在这两个力的作用下，小球产生的加速度</a:t>
            </a:r>
            <a:r>
              <a:rPr lang="en-US" altLang="zh-CN" sz="2000" i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00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沿水平方向，</a:t>
            </a:r>
            <a:endParaRPr lang="en-US" altLang="zh-CN" sz="200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这表明，</a:t>
            </a:r>
            <a:r>
              <a:rPr lang="en-US" altLang="zh-CN" sz="2000" i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sz="200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000" i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mg</a:t>
            </a:r>
            <a:r>
              <a:rPr lang="zh-CN" altLang="en-US" sz="200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的合力方向水平向右，</a:t>
            </a:r>
          </a:p>
        </p:txBody>
      </p:sp>
      <p:cxnSp>
        <p:nvCxnSpPr>
          <p:cNvPr id="24" name="直接箭头连接符 23"/>
          <p:cNvCxnSpPr/>
          <p:nvPr>
            <p:custDataLst>
              <p:tags r:id="rId17"/>
            </p:custDataLst>
          </p:nvPr>
        </p:nvCxnSpPr>
        <p:spPr>
          <a:xfrm flipH="1">
            <a:off x="9768469" y="4079702"/>
            <a:ext cx="0" cy="70993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>
            <p:custDataLst>
              <p:tags r:id="rId18"/>
            </p:custDataLst>
          </p:nvPr>
        </p:nvCxnSpPr>
        <p:spPr>
          <a:xfrm flipV="1">
            <a:off x="9768469" y="3429000"/>
            <a:ext cx="501804" cy="67672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>
            <p:custDataLst>
              <p:tags r:id="rId19"/>
            </p:custDataLst>
          </p:nvPr>
        </p:nvSpPr>
        <p:spPr>
          <a:xfrm>
            <a:off x="9263779" y="4312580"/>
            <a:ext cx="498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mg</a:t>
            </a:r>
            <a:endParaRPr lang="zh-CN" altLang="en-US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>
            <p:custDataLst>
              <p:tags r:id="rId20"/>
            </p:custDataLst>
          </p:nvPr>
        </p:nvSpPr>
        <p:spPr>
          <a:xfrm>
            <a:off x="10204526" y="3015999"/>
            <a:ext cx="436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直接箭头连接符 29"/>
          <p:cNvCxnSpPr/>
          <p:nvPr>
            <p:custDataLst>
              <p:tags r:id="rId21"/>
            </p:custDataLst>
          </p:nvPr>
        </p:nvCxnSpPr>
        <p:spPr>
          <a:xfrm>
            <a:off x="10255653" y="3566307"/>
            <a:ext cx="6940" cy="60941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endCxn id="36" idx="1"/>
          </p:cNvCxnSpPr>
          <p:nvPr>
            <p:custDataLst>
              <p:tags r:id="rId22"/>
            </p:custDataLst>
          </p:nvPr>
        </p:nvCxnSpPr>
        <p:spPr>
          <a:xfrm flipV="1">
            <a:off x="9825986" y="4120642"/>
            <a:ext cx="444287" cy="619076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>
            <p:custDataLst>
              <p:tags r:id="rId23"/>
            </p:custDataLst>
          </p:nvPr>
        </p:nvCxnSpPr>
        <p:spPr>
          <a:xfrm>
            <a:off x="9773148" y="4131137"/>
            <a:ext cx="549962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>
            <p:custDataLst>
              <p:tags r:id="rId24"/>
            </p:custDataLst>
          </p:nvPr>
        </p:nvSpPr>
        <p:spPr>
          <a:xfrm>
            <a:off x="10270273" y="3920587"/>
            <a:ext cx="5132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合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2583553" y="4235636"/>
                <a:ext cx="326953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r>
                        <a:rPr lang="zh-CN" altLang="en-US" sz="2000" i="1" baseline="-25000">
                          <a:latin typeface="Cambria Math" panose="020405030504060302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m:t>合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m:t>𝑚𝑔</m:t>
                      </m:r>
                      <m:func>
                        <m:func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zh-CN" altLang="en-US" sz="2000"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37" name="文本框 3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3"/>
                </p:custDataLst>
              </p:nvPr>
            </p:nvSpPr>
            <p:spPr>
              <a:xfrm>
                <a:off x="2583553" y="4235636"/>
                <a:ext cx="3269533" cy="553998"/>
              </a:xfrm>
              <a:prstGeom prst="rect">
                <a:avLst/>
              </a:prstGeom>
              <a:blipFill rotWithShape="1">
                <a:blip r:embed="rId34"/>
                <a:stretch>
                  <a:fillRect l="-11" t="-34" r="9" b="-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/>
          <p:cNvSpPr txBox="1"/>
          <p:nvPr>
            <p:custDataLst>
              <p:tags r:id="rId26"/>
            </p:custDataLst>
          </p:nvPr>
        </p:nvSpPr>
        <p:spPr>
          <a:xfrm>
            <a:off x="1062293" y="4739102"/>
            <a:ext cx="6469601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根据牛顿第二定律，小球加速度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2660649" y="5151881"/>
                <a:ext cx="3269533" cy="956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  <m:r>
                            <a:rPr lang="zh-CN" altLang="en-US" sz="2000" i="1" baseline="-25000"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合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m:t>𝑔</m:t>
                      </m:r>
                      <m:func>
                        <m:func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zh-CN" altLang="en-US" sz="2000"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39" name="文本框 3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5"/>
                </p:custDataLst>
              </p:nvPr>
            </p:nvSpPr>
            <p:spPr>
              <a:xfrm>
                <a:off x="2660649" y="5151881"/>
                <a:ext cx="3269533" cy="956737"/>
              </a:xfrm>
              <a:prstGeom prst="rect">
                <a:avLst/>
              </a:prstGeom>
              <a:blipFill rotWithShape="1">
                <a:blip r:embed="rId36"/>
                <a:stretch>
                  <a:fillRect l="-19" t="-13" r="17" b="-10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本框 39"/>
          <p:cNvSpPr txBox="1"/>
          <p:nvPr>
            <p:custDataLst>
              <p:tags r:id="rId28"/>
            </p:custDataLst>
          </p:nvPr>
        </p:nvSpPr>
        <p:spPr>
          <a:xfrm>
            <a:off x="1015494" y="5949999"/>
            <a:ext cx="6469601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方向水平向右，列车加速度与小球相同。</a:t>
            </a:r>
          </a:p>
        </p:txBody>
      </p:sp>
      <p:sp>
        <p:nvSpPr>
          <p:cNvPr id="41" name="文本框 40"/>
          <p:cNvSpPr txBox="1"/>
          <p:nvPr>
            <p:custDataLst>
              <p:tags r:id="rId29"/>
            </p:custDataLst>
          </p:nvPr>
        </p:nvSpPr>
        <p:spPr>
          <a:xfrm>
            <a:off x="418395" y="3648007"/>
            <a:ext cx="3271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rgbClr val="34923E"/>
                </a:solidFill>
              </a:rPr>
              <a:t>方法</a:t>
            </a:r>
            <a:r>
              <a:rPr lang="en-US" altLang="zh-CN" sz="2400">
                <a:solidFill>
                  <a:srgbClr val="34923E"/>
                </a:solidFill>
              </a:rPr>
              <a:t>1</a:t>
            </a:r>
            <a:endParaRPr lang="zh-CN" altLang="en-US" sz="2400">
              <a:solidFill>
                <a:srgbClr val="34923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  <p:bldP spid="17" grpId="0"/>
      <p:bldP spid="18" grpId="0"/>
      <p:bldP spid="20" grpId="0"/>
      <p:bldP spid="21" grpId="0"/>
      <p:bldP spid="28" grpId="0"/>
      <p:bldP spid="29" grpId="0"/>
      <p:bldP spid="36" grpId="0"/>
      <p:bldP spid="4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495923" y="2748916"/>
            <a:ext cx="6988492" cy="56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20000"/>
              </a:lnSpc>
            </a:pPr>
            <a:r>
              <a:rPr lang="zh-CN" altLang="en-US" sz="2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6">
            <a:extLst>
              <a:ext uri="{BEBA8EAE-BF5A-486C-A8C5-ECC9F3942E4B}">
                <a14:imgProps xmlns:a14="http://schemas.microsoft.com/office/drawing/2010/main">
                  <a14:imgLayer r:embed="rId37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76698" y="3348729"/>
            <a:ext cx="2718448" cy="1773814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137664" y="711357"/>
            <a:ext cx="16593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>
                <a:latin typeface="+mn-ea"/>
                <a:cs typeface="Times New Roman" panose="02020603050405020304" pitchFamily="18" charset="0"/>
              </a:rPr>
              <a:t> 分析</a:t>
            </a:r>
            <a:endParaRPr lang="zh-CN" altLang="en-US" sz="2800">
              <a:latin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1397100" y="772912"/>
            <a:ext cx="18806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rgbClr val="0070C0"/>
                </a:solidFill>
              </a:rPr>
              <a:t>[</a:t>
            </a:r>
            <a:r>
              <a:rPr lang="zh-CN" altLang="en-US" sz="2000">
                <a:solidFill>
                  <a:srgbClr val="0070C0"/>
                </a:solidFill>
              </a:rPr>
              <a:t>确定研究对象</a:t>
            </a:r>
            <a:r>
              <a:rPr lang="en-US" altLang="zh-CN" sz="2000">
                <a:solidFill>
                  <a:srgbClr val="0070C0"/>
                </a:solidFill>
              </a:rPr>
              <a:t>]</a:t>
            </a:r>
            <a:endParaRPr lang="zh-CN" altLang="en-US" sz="2000">
              <a:solidFill>
                <a:srgbClr val="0070C0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1397100" y="1161648"/>
            <a:ext cx="2650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rgbClr val="0070C0"/>
                </a:solidFill>
              </a:rPr>
              <a:t>[</a:t>
            </a:r>
            <a:r>
              <a:rPr lang="zh-CN" altLang="en-US" sz="2000">
                <a:solidFill>
                  <a:srgbClr val="0070C0"/>
                </a:solidFill>
              </a:rPr>
              <a:t>分析研究对象的受力</a:t>
            </a:r>
            <a:r>
              <a:rPr lang="en-US" altLang="zh-CN" sz="2000">
                <a:solidFill>
                  <a:srgbClr val="0070C0"/>
                </a:solidFill>
              </a:rPr>
              <a:t>]</a:t>
            </a:r>
            <a:endParaRPr lang="zh-CN" altLang="en-US" sz="2000">
              <a:solidFill>
                <a:srgbClr val="0070C0"/>
              </a:solidFill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1397100" y="1605923"/>
            <a:ext cx="32720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rgbClr val="0070C0"/>
                </a:solidFill>
              </a:rPr>
              <a:t>[</a:t>
            </a:r>
            <a:r>
              <a:rPr lang="zh-CN" altLang="en-US" sz="2000">
                <a:solidFill>
                  <a:srgbClr val="0070C0"/>
                </a:solidFill>
              </a:rPr>
              <a:t>分析研究对象的运动情况</a:t>
            </a:r>
            <a:r>
              <a:rPr lang="en-US" altLang="zh-CN" sz="2000">
                <a:solidFill>
                  <a:srgbClr val="0070C0"/>
                </a:solidFill>
              </a:rPr>
              <a:t>]</a:t>
            </a:r>
            <a:endParaRPr lang="zh-CN" altLang="en-US" sz="2000">
              <a:solidFill>
                <a:srgbClr val="0070C0"/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1388613" y="2002206"/>
            <a:ext cx="46794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rgbClr val="0070C0"/>
                </a:solidFill>
              </a:rPr>
              <a:t>[</a:t>
            </a:r>
            <a:r>
              <a:rPr lang="zh-CN" altLang="en-US" sz="2000">
                <a:solidFill>
                  <a:srgbClr val="0070C0"/>
                </a:solidFill>
              </a:rPr>
              <a:t>利用牛顿第二定律</a:t>
            </a:r>
            <a:r>
              <a:rPr lang="en-US" altLang="zh-CN" sz="2000">
                <a:solidFill>
                  <a:srgbClr val="0070C0"/>
                </a:solidFill>
              </a:rPr>
              <a:t>F</a:t>
            </a:r>
            <a:r>
              <a:rPr lang="zh-CN" altLang="en-US" sz="2000" baseline="-25000">
                <a:solidFill>
                  <a:srgbClr val="0070C0"/>
                </a:solidFill>
              </a:rPr>
              <a:t>合</a:t>
            </a:r>
            <a:r>
              <a:rPr lang="en-US" altLang="zh-CN" sz="2000">
                <a:solidFill>
                  <a:srgbClr val="0070C0"/>
                </a:solidFill>
              </a:rPr>
              <a:t>=ma</a:t>
            </a:r>
            <a:r>
              <a:rPr lang="zh-CN" altLang="en-US" sz="2000">
                <a:solidFill>
                  <a:srgbClr val="0070C0"/>
                </a:solidFill>
              </a:rPr>
              <a:t>进行相关计算</a:t>
            </a:r>
            <a:r>
              <a:rPr lang="en-US" altLang="zh-CN" sz="2000">
                <a:solidFill>
                  <a:srgbClr val="0070C0"/>
                </a:solidFill>
              </a:rPr>
              <a:t>]</a:t>
            </a:r>
            <a:endParaRPr lang="zh-CN" altLang="en-US" sz="2000">
              <a:solidFill>
                <a:srgbClr val="0070C0"/>
              </a:solidFill>
            </a:endParaRPr>
          </a:p>
        </p:txBody>
      </p:sp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8184273" y="822744"/>
            <a:ext cx="3870063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indent="457200"/>
            <a:r>
              <a:rPr lang="zh-CN" altLang="en-US"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某同学在列车车厢的顶部用细线悬挂一个</a:t>
            </a:r>
            <a:r>
              <a:rPr lang="zh-CN" altLang="en-US" sz="18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小球</a:t>
            </a:r>
            <a:r>
              <a:rPr lang="zh-CN" altLang="en-US"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，在列车以某一加速度渐渐启动的过程中，细线就会</a:t>
            </a:r>
            <a:r>
              <a:rPr lang="zh-CN" altLang="en-US" sz="18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偏过一定角度并相对车厢保持静止</a:t>
            </a:r>
            <a:r>
              <a:rPr lang="zh-CN" altLang="en-US"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，通过测定偏角的大小就能确定列车的加速度。在某次测定中，悬线与竖直方向的夹角为</a:t>
            </a:r>
            <a:r>
              <a:rPr lang="en-US" altLang="zh-CN" sz="1800" i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18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求列车的加速度</a:t>
            </a:r>
            <a:r>
              <a:rPr lang="zh-CN" altLang="en-US"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18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3552668" y="76769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34923E"/>
                </a:solidFill>
              </a:rPr>
              <a:t>小球</a:t>
            </a:r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4615486" y="1393466"/>
            <a:ext cx="1262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求出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400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合</a:t>
            </a:r>
          </a:p>
        </p:txBody>
      </p:sp>
      <p:cxnSp>
        <p:nvCxnSpPr>
          <p:cNvPr id="16" name="直接箭头连接符 15"/>
          <p:cNvCxnSpPr/>
          <p:nvPr>
            <p:custDataLst>
              <p:tags r:id="rId11"/>
            </p:custDataLst>
          </p:nvPr>
        </p:nvCxnSpPr>
        <p:spPr>
          <a:xfrm flipV="1">
            <a:off x="5868574" y="1634870"/>
            <a:ext cx="928993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>
            <p:custDataLst>
              <p:tags r:id="rId12"/>
            </p:custDataLst>
          </p:nvPr>
        </p:nvSpPr>
        <p:spPr>
          <a:xfrm>
            <a:off x="5853086" y="1193475"/>
            <a:ext cx="959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solidFill>
                  <a:srgbClr val="FF0000"/>
                </a:solidFill>
              </a:rPr>
              <a:t>F</a:t>
            </a:r>
            <a:r>
              <a:rPr lang="zh-CN" altLang="en-US" sz="1800" baseline="-25000">
                <a:solidFill>
                  <a:srgbClr val="FF0000"/>
                </a:solidFill>
              </a:rPr>
              <a:t>合</a:t>
            </a:r>
            <a:r>
              <a:rPr lang="en-US" altLang="zh-CN" sz="1800">
                <a:solidFill>
                  <a:srgbClr val="FF0000"/>
                </a:solidFill>
              </a:rPr>
              <a:t>=ma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>
            <a:off x="6881939" y="1398355"/>
            <a:ext cx="1262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求出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baseline="-25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14"/>
            </p:custDataLst>
          </p:nvPr>
        </p:nvSpPr>
        <p:spPr>
          <a:xfrm>
            <a:off x="232610" y="2321323"/>
            <a:ext cx="16593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>
                <a:latin typeface="+mn-ea"/>
                <a:cs typeface="Times New Roman" panose="02020603050405020304" pitchFamily="18" charset="0"/>
              </a:rPr>
              <a:t> 解</a:t>
            </a:r>
            <a:endParaRPr lang="zh-CN" altLang="en-US" sz="2800">
              <a:latin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15"/>
            </p:custDataLst>
          </p:nvPr>
        </p:nvSpPr>
        <p:spPr>
          <a:xfrm>
            <a:off x="1059585" y="2418689"/>
            <a:ext cx="6664022" cy="1418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建立如图所示的直角坐标系。将</a:t>
            </a:r>
            <a:r>
              <a:rPr lang="en-US" altLang="zh-CN" sz="2000" i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sz="200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分解为水平方向的分力和竖直方向的分力。小球在竖直方向上处于平衡状态，故合力等于水平分力。</a:t>
            </a:r>
          </a:p>
        </p:txBody>
      </p:sp>
      <p:sp>
        <p:nvSpPr>
          <p:cNvPr id="28" name="文本框 27"/>
          <p:cNvSpPr txBox="1"/>
          <p:nvPr>
            <p:custDataLst>
              <p:tags r:id="rId16"/>
            </p:custDataLst>
          </p:nvPr>
        </p:nvSpPr>
        <p:spPr>
          <a:xfrm>
            <a:off x="9274741" y="4337645"/>
            <a:ext cx="498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mg</a:t>
            </a:r>
            <a:endParaRPr lang="zh-CN" altLang="en-US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>
            <p:custDataLst>
              <p:tags r:id="rId17"/>
            </p:custDataLst>
          </p:nvPr>
        </p:nvSpPr>
        <p:spPr>
          <a:xfrm>
            <a:off x="10607971" y="2299101"/>
            <a:ext cx="436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>
            <p:custDataLst>
              <p:tags r:id="rId18"/>
            </p:custDataLst>
          </p:nvPr>
        </p:nvSpPr>
        <p:spPr>
          <a:xfrm>
            <a:off x="1059585" y="5514444"/>
            <a:ext cx="6469601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方向水平向右，列车加速度与小球相同。</a:t>
            </a:r>
          </a:p>
        </p:txBody>
      </p:sp>
      <p:sp>
        <p:nvSpPr>
          <p:cNvPr id="32" name="文本框 31"/>
          <p:cNvSpPr txBox="1"/>
          <p:nvPr>
            <p:custDataLst>
              <p:tags r:id="rId19"/>
            </p:custDataLst>
          </p:nvPr>
        </p:nvSpPr>
        <p:spPr>
          <a:xfrm>
            <a:off x="418395" y="3648007"/>
            <a:ext cx="3271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rgbClr val="34923E"/>
                </a:solidFill>
              </a:rPr>
              <a:t>方法</a:t>
            </a:r>
            <a:r>
              <a:rPr lang="en-US" altLang="zh-CN" sz="2400">
                <a:solidFill>
                  <a:srgbClr val="34923E"/>
                </a:solidFill>
              </a:rPr>
              <a:t>2</a:t>
            </a:r>
            <a:endParaRPr lang="zh-CN" altLang="en-US" sz="2400">
              <a:solidFill>
                <a:srgbClr val="34923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1104837" y="3971173"/>
                <a:ext cx="30460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>
                    <a:latin typeface="宋体" pitchFamily="2" charset="-122"/>
                    <a:ea typeface="宋体" pitchFamily="2" charset="-122"/>
                  </a:rPr>
                  <a:t>竖直方向：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𝑇</m:t>
                        </m:r>
                      </m:sub>
                    </m:sSub>
                    <m:func>
                      <m:func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cos</m:t>
                        </m:r>
                      </m:fName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𝜃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=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𝑚𝑔</m:t>
                        </m:r>
                      </m:e>
                    </m:func>
                  </m:oMath>
                </a14:m>
                <a:endParaRPr lang="zh-CN" altLang="en-US" sz="2000">
                  <a:latin typeface="宋体" pitchFamily="2" charset="-122"/>
                  <a:ea typeface="宋体" pitchFamily="2" charset="-122"/>
                </a:endParaRP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8"/>
                </p:custDataLst>
              </p:nvPr>
            </p:nvSpPr>
            <p:spPr>
              <a:xfrm>
                <a:off x="1104837" y="3971173"/>
                <a:ext cx="3046090" cy="400110"/>
              </a:xfrm>
              <a:prstGeom prst="rect">
                <a:avLst/>
              </a:prstGeom>
              <a:blipFill rotWithShape="1">
                <a:blip r:embed="rId39"/>
                <a:stretch>
                  <a:fillRect l="-19" t="-129" r="-9050" b="1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1104837" y="4528780"/>
                <a:ext cx="299671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>
                    <a:latin typeface="宋体" pitchFamily="2" charset="-122"/>
                    <a:ea typeface="宋体" pitchFamily="2" charset="-122"/>
                  </a:rPr>
                  <a:t>水平方向：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𝑇</m:t>
                        </m:r>
                      </m:sub>
                    </m:sSub>
                    <m:func>
                      <m:func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funcPr>
                      <m:fName>
                        <m:r>
                          <a:rPr lang="en-US" altLang="zh-CN" sz="20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𝑠𝑖𝑛</m:t>
                        </m:r>
                      </m:fName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𝜃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=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𝑚𝑎</m:t>
                        </m:r>
                      </m:e>
                    </m:func>
                  </m:oMath>
                </a14:m>
                <a:endParaRPr lang="zh-CN" altLang="en-US" sz="2000">
                  <a:latin typeface="宋体" pitchFamily="2" charset="-122"/>
                  <a:ea typeface="宋体" pitchFamily="2" charset="-122"/>
                </a:endParaRP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0"/>
                </p:custDataLst>
              </p:nvPr>
            </p:nvSpPr>
            <p:spPr>
              <a:xfrm>
                <a:off x="1104837" y="4528780"/>
                <a:ext cx="2996718" cy="400110"/>
              </a:xfrm>
              <a:prstGeom prst="rect">
                <a:avLst/>
              </a:prstGeom>
              <a:blipFill rotWithShape="1">
                <a:blip r:embed="rId41"/>
                <a:stretch>
                  <a:fillRect l="-19" t="-149" r="-8600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1104837" y="5064424"/>
                <a:ext cx="449924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>
                    <a:latin typeface="宋体" pitchFamily="2" charset="-122"/>
                    <a:ea typeface="宋体" pitchFamily="2" charset="-122"/>
                  </a:rPr>
                  <a:t>两式联立，解得小球加速度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宋体" pitchFamily="2" charset="-122"/>
                      </a:rPr>
                      <m:t>𝑎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宋体" pitchFamily="2" charset="-122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宋体" pitchFamily="2" charset="-122"/>
                      </a:rPr>
                      <m:t>𝑔</m:t>
                    </m:r>
                    <m:func>
                      <m:func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tan</m:t>
                        </m:r>
                      </m:fName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𝜃</m:t>
                        </m:r>
                      </m:e>
                    </m:func>
                  </m:oMath>
                </a14:m>
                <a:endParaRPr lang="zh-CN" altLang="en-US" sz="2000">
                  <a:latin typeface="宋体" pitchFamily="2" charset="-122"/>
                  <a:ea typeface="宋体" pitchFamily="2" charset="-122"/>
                </a:endParaRP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35" name="文本框 3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2"/>
                </p:custDataLst>
              </p:nvPr>
            </p:nvSpPr>
            <p:spPr>
              <a:xfrm>
                <a:off x="1104837" y="5064424"/>
                <a:ext cx="4499245" cy="400110"/>
              </a:xfrm>
              <a:prstGeom prst="rect">
                <a:avLst/>
              </a:prstGeom>
              <a:blipFill rotWithShape="1">
                <a:blip r:embed="rId43"/>
                <a:stretch>
                  <a:fillRect l="-13" t="-75" r="-1731" b="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" name="组合 74"/>
          <p:cNvGrpSpPr/>
          <p:nvPr>
            <p:custDataLst>
              <p:tags r:id="rId23"/>
            </p:custDataLst>
          </p:nvPr>
        </p:nvGrpSpPr>
        <p:grpSpPr>
          <a:xfrm>
            <a:off x="8887205" y="2963588"/>
            <a:ext cx="2210465" cy="2315861"/>
            <a:chOff x="8876698" y="2962711"/>
            <a:chExt cx="2210465" cy="2315861"/>
          </a:xfrm>
        </p:grpSpPr>
        <p:grpSp>
          <p:nvGrpSpPr>
            <p:cNvPr id="62" name="组合 61"/>
            <p:cNvGrpSpPr/>
            <p:nvPr>
              <p:custDataLst>
                <p:tags r:id="rId31"/>
              </p:custDataLst>
            </p:nvPr>
          </p:nvGrpSpPr>
          <p:grpSpPr>
            <a:xfrm>
              <a:off x="8876698" y="2962711"/>
              <a:ext cx="2210465" cy="2315861"/>
              <a:chOff x="8185128" y="2804943"/>
              <a:chExt cx="2210465" cy="2315861"/>
            </a:xfrm>
          </p:grpSpPr>
          <p:cxnSp>
            <p:nvCxnSpPr>
              <p:cNvPr id="6" name="直接箭头连接符 5"/>
              <p:cNvCxnSpPr/>
              <p:nvPr>
                <p:custDataLst>
                  <p:tags r:id="rId33"/>
                </p:custDataLst>
              </p:nvPr>
            </p:nvCxnSpPr>
            <p:spPr>
              <a:xfrm>
                <a:off x="8185128" y="3962047"/>
                <a:ext cx="2210465" cy="14919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箭头连接符 60"/>
              <p:cNvCxnSpPr/>
              <p:nvPr>
                <p:custDataLst>
                  <p:tags r:id="rId34"/>
                </p:custDataLst>
              </p:nvPr>
            </p:nvCxnSpPr>
            <p:spPr>
              <a:xfrm flipH="1" flipV="1">
                <a:off x="9073181" y="2804943"/>
                <a:ext cx="0" cy="2315861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文本框 62"/>
            <p:cNvSpPr txBox="1"/>
            <p:nvPr>
              <p:custDataLst>
                <p:tags r:id="rId32"/>
              </p:custDataLst>
            </p:nvPr>
          </p:nvSpPr>
          <p:spPr>
            <a:xfrm>
              <a:off x="9435234" y="4043796"/>
              <a:ext cx="4988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zh-CN" altLang="en-US" sz="20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77" name="直接连接符 76"/>
          <p:cNvCxnSpPr>
            <a:stCxn id="8" idx="0"/>
          </p:cNvCxnSpPr>
          <p:nvPr>
            <p:custDataLst>
              <p:tags r:id="rId24"/>
            </p:custDataLst>
          </p:nvPr>
        </p:nvCxnSpPr>
        <p:spPr>
          <a:xfrm flipH="1">
            <a:off x="10235922" y="3348729"/>
            <a:ext cx="0" cy="761566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>
            <p:custDataLst>
              <p:tags r:id="rId25"/>
            </p:custDataLst>
          </p:nvPr>
        </p:nvCxnSpPr>
        <p:spPr>
          <a:xfrm flipH="1">
            <a:off x="9764751" y="3429000"/>
            <a:ext cx="454233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>
            <p:custDataLst>
              <p:tags r:id="rId26"/>
            </p:custDataLst>
          </p:nvPr>
        </p:nvCxnSpPr>
        <p:spPr>
          <a:xfrm>
            <a:off x="9768470" y="4079702"/>
            <a:ext cx="10252" cy="75022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>
            <p:custDataLst>
              <p:tags r:id="rId27"/>
            </p:custDataLst>
          </p:nvPr>
        </p:nvCxnSpPr>
        <p:spPr>
          <a:xfrm flipV="1">
            <a:off x="9778722" y="3373446"/>
            <a:ext cx="496174" cy="736849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>
            <p:custDataLst>
              <p:tags r:id="rId28"/>
            </p:custDataLst>
          </p:nvPr>
        </p:nvCxnSpPr>
        <p:spPr>
          <a:xfrm>
            <a:off x="9768469" y="4121519"/>
            <a:ext cx="506427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/>
          <p:nvPr>
            <p:custDataLst>
              <p:tags r:id="rId29"/>
            </p:custDataLst>
          </p:nvPr>
        </p:nvCxnSpPr>
        <p:spPr>
          <a:xfrm flipH="1" flipV="1">
            <a:off x="9764751" y="3348729"/>
            <a:ext cx="0" cy="771963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>
            <p:custDataLst>
              <p:tags r:id="rId30"/>
            </p:custDataLst>
          </p:nvPr>
        </p:nvSpPr>
        <p:spPr>
          <a:xfrm>
            <a:off x="10204526" y="3015999"/>
            <a:ext cx="436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3" grpId="0"/>
      <p:bldP spid="33" grpId="0"/>
      <p:bldP spid="3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1"/>
          <p:cNvGrpSpPr/>
          <p:nvPr/>
        </p:nvGrpSpPr>
        <p:grpSpPr>
          <a:xfrm>
            <a:off x="690048" y="1598986"/>
            <a:ext cx="6168072" cy="3411207"/>
            <a:chOff x="0" y="0"/>
            <a:chExt cx="6168072" cy="3411207"/>
          </a:xfrm>
        </p:grpSpPr>
        <p:sp>
          <p:nvSpPr>
            <p:cNvPr id="4" name="形状2"/>
            <p:cNvSpPr txBox="1"/>
            <p:nvPr/>
          </p:nvSpPr>
          <p:spPr>
            <a:xfrm>
              <a:off x="3810" y="49530"/>
              <a:ext cx="6164262" cy="332422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5" name="文本4"/>
            <p:cNvSpPr txBox="1"/>
            <p:nvPr/>
          </p:nvSpPr>
          <p:spPr>
            <a:xfrm>
              <a:off x="0" y="0"/>
              <a:ext cx="6164262" cy="3411207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5000"/>
                </a:lnSpc>
                <a:buFont typeface="Arial"/>
                <a:buChar char=" "/>
              </a:pPr>
              <a:r>
                <a:rPr lang="zh-CN" altLang="en-US" sz="2800" b="1" i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由牛顿第二定律</a:t>
              </a:r>
              <a:r>
                <a:rPr lang="zh-CN" altLang="en-US" sz="2800" b="1" i="0">
                  <a:solidFill>
                    <a:srgbClr val="FF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</a:rPr>
                <a:t>F</a:t>
              </a:r>
              <a:r>
                <a:rPr lang="zh-CN" altLang="en-US" sz="2800" b="1" i="0">
                  <a:solidFill>
                    <a:srgbClr val="FF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＝</a:t>
              </a:r>
              <a:r>
                <a:rPr lang="zh-CN" altLang="en-US" sz="2800" b="1" i="0">
                  <a:solidFill>
                    <a:srgbClr val="FF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</a:rPr>
                <a:t>ma</a:t>
              </a:r>
              <a:r>
                <a:rPr lang="zh-CN" altLang="en-US" sz="2800" b="1" i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可知，如果给物体施加一个已知的力，并</a:t>
              </a:r>
              <a:r>
                <a:rPr lang="zh-CN" altLang="en-US" sz="2800" b="1" i="0">
                  <a:solidFill>
                    <a:srgbClr val="FF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测得物体在这个力作用下的加速度</a:t>
              </a:r>
              <a:r>
                <a:rPr lang="zh-CN" altLang="en-US" sz="2800" b="1" i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，就</a:t>
              </a:r>
              <a:r>
                <a:rPr lang="zh-CN" altLang="en-US" sz="2800" b="1" i="0">
                  <a:solidFill>
                    <a:srgbClr val="FF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可以求出物体的质量</a:t>
              </a:r>
              <a:r>
                <a:rPr lang="zh-CN" altLang="en-US" sz="2800" b="1" i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。这就是动力学测量质量的方法。</a:t>
              </a:r>
            </a:p>
          </p:txBody>
        </p:sp>
      </p:grpSp>
      <p:pic>
        <p:nvPicPr>
          <p:cNvPr id="6" name="图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975" y="1852879"/>
            <a:ext cx="4344988" cy="2916237"/>
          </a:xfrm>
          <a:prstGeom prst="rect">
            <a:avLst/>
          </a:prstGeom>
        </p:spPr>
      </p:pic>
      <p:sp>
        <p:nvSpPr>
          <p:cNvPr id="8" name="文本1"/>
          <p:cNvSpPr txBox="1"/>
          <p:nvPr/>
        </p:nvSpPr>
        <p:spPr>
          <a:xfrm>
            <a:off x="7826359" y="4768677"/>
            <a:ext cx="3090926" cy="83274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5000"/>
              </a:lnSpc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太空中质量的测量</a:t>
            </a:r>
          </a:p>
        </p:txBody>
      </p:sp>
      <p:sp>
        <p:nvSpPr>
          <p:cNvPr id="9" name="文本2"/>
          <p:cNvSpPr txBox="1"/>
          <p:nvPr/>
        </p:nvSpPr>
        <p:spPr>
          <a:xfrm>
            <a:off x="310410" y="-86"/>
            <a:ext cx="1640713" cy="83274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5000"/>
              </a:lnSpc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科学漫步</a:t>
            </a:r>
          </a:p>
        </p:txBody>
      </p:sp>
      <p:sp>
        <p:nvSpPr>
          <p:cNvPr id="10" name="文本3"/>
          <p:cNvSpPr txBox="1"/>
          <p:nvPr/>
        </p:nvSpPr>
        <p:spPr>
          <a:xfrm>
            <a:off x="3256864" y="291598"/>
            <a:ext cx="3453479" cy="83274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5000"/>
              </a:lnSpc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用动力学方法测质量</a:t>
            </a:r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109220" y="707390"/>
            <a:ext cx="2019300" cy="31750"/>
          </a:xfrm>
          <a:prstGeom prst="line">
            <a:avLst/>
          </a:prstGeom>
          <a:ln w="28575">
            <a:solidFill>
              <a:srgbClr val="276334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视频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8972" y="267"/>
            <a:ext cx="11489274" cy="646271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video>
              <p:cMediaNode vol="0" mute="1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4"/>
          <p:cNvSpPr/>
          <p:nvPr>
            <p:custDataLst>
              <p:tags r:id="rId1"/>
            </p:custDataLst>
          </p:nvPr>
        </p:nvSpPr>
        <p:spPr>
          <a:xfrm>
            <a:off x="810130" y="1048251"/>
            <a:ext cx="10571739" cy="103791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lIns="0" tIns="0" rIns="0" bIns="0">
            <a:sp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例题1.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光滑水平面上有一个物体，质量是</a:t>
            </a: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2㎏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，受到互成</a:t>
            </a: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  <a:r>
              <a:rPr sz="24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角的两个水平方向的力</a:t>
            </a:r>
            <a:r>
              <a:rPr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的作用。两个力的大小都是</a:t>
            </a: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10N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，这个物体的加速度是多少？</a:t>
            </a:r>
          </a:p>
        </p:txBody>
      </p:sp>
      <p:sp>
        <p:nvSpPr>
          <p:cNvPr id="15" name="Text Box 2"/>
          <p:cNvSpPr/>
          <p:nvPr>
            <p:custDataLst>
              <p:tags r:id="rId2"/>
            </p:custDataLst>
          </p:nvPr>
        </p:nvSpPr>
        <p:spPr>
          <a:xfrm>
            <a:off x="791061" y="2286449"/>
            <a:ext cx="6565830" cy="388375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>
            <a:sp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lnSpc>
                <a:spcPct val="150000"/>
              </a:lnSpc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解析：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直接求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400" baseline="-250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和的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400" baseline="-250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合力，然后用牛顿第二定律求加速度。</a:t>
            </a:r>
          </a:p>
          <a:p>
            <a:pPr marL="0" lvl="0" indent="0" eaLnBrk="1" hangingPunct="1">
              <a:lnSpc>
                <a:spcPct val="150000"/>
              </a:lnSpc>
            </a:pP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由平行四边形定则可知，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400" baseline="-250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400" baseline="-250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2400" baseline="-250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合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构成了一个等边三角形，故</a:t>
            </a:r>
          </a:p>
          <a:p>
            <a:pPr marL="0" lvl="0" indent="0" eaLnBrk="1" hangingPunct="1">
              <a:lnSpc>
                <a:spcPct val="150000"/>
              </a:lnSpc>
            </a:pP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2400" baseline="-250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合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=10 N </a:t>
            </a:r>
            <a:r>
              <a:rPr lang="en-US" altLang="zh-CN" sz="2400" baseline="-250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marL="0" lvl="0" indent="0" eaLnBrk="1" hangingPunct="1">
              <a:lnSpc>
                <a:spcPct val="150000"/>
              </a:lnSpc>
            </a:pP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2400" baseline="-250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合 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10/2 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m/s</a:t>
            </a:r>
            <a:r>
              <a:rPr lang="en-US" altLang="zh-CN" sz="2400" baseline="300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5 m/s</a:t>
            </a:r>
            <a:r>
              <a:rPr lang="en-US" altLang="zh-CN" sz="2400" baseline="300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</a:p>
          <a:p>
            <a:pPr marL="0" lvl="0" indent="0" eaLnBrk="1" hangingPunct="1">
              <a:lnSpc>
                <a:spcPct val="150000"/>
              </a:lnSpc>
            </a:pP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加速度的方向和合力方向相同。</a:t>
            </a:r>
          </a:p>
        </p:txBody>
      </p:sp>
      <p:grpSp>
        <p:nvGrpSpPr>
          <p:cNvPr id="16" name="Group 4"/>
          <p:cNvGrpSpPr/>
          <p:nvPr>
            <p:custDataLst>
              <p:tags r:id="rId3"/>
            </p:custDataLst>
          </p:nvPr>
        </p:nvGrpSpPr>
        <p:grpSpPr>
          <a:xfrm>
            <a:off x="7489740" y="3089282"/>
            <a:ext cx="2387875" cy="2008188"/>
            <a:chOff x="3969" y="1797"/>
            <a:chExt cx="1127" cy="1265"/>
          </a:xfrm>
        </p:grpSpPr>
        <p:cxnSp>
          <p:nvCxnSpPr>
            <p:cNvPr id="17" name="Line 5"/>
            <p:cNvCxnSpPr/>
            <p:nvPr>
              <p:custDataLst>
                <p:tags r:id="rId4"/>
              </p:custDataLst>
            </p:nvPr>
          </p:nvCxnSpPr>
          <p:spPr>
            <a:xfrm>
              <a:off x="4134" y="2432"/>
              <a:ext cx="713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tailEnd type="arrow"/>
            </a:ln>
          </p:spPr>
        </p:cxnSp>
        <p:cxnSp>
          <p:nvCxnSpPr>
            <p:cNvPr id="18" name="Line 6"/>
            <p:cNvCxnSpPr/>
            <p:nvPr>
              <p:custDataLst>
                <p:tags r:id="rId5"/>
              </p:custDataLst>
            </p:nvPr>
          </p:nvCxnSpPr>
          <p:spPr>
            <a:xfrm flipV="1">
              <a:off x="4127" y="1908"/>
              <a:ext cx="373" cy="5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tailEnd type="triangle"/>
            </a:ln>
          </p:spPr>
        </p:cxnSp>
        <p:cxnSp>
          <p:nvCxnSpPr>
            <p:cNvPr id="19" name="Line 7"/>
            <p:cNvCxnSpPr/>
            <p:nvPr>
              <p:custDataLst>
                <p:tags r:id="rId6"/>
              </p:custDataLst>
            </p:nvPr>
          </p:nvCxnSpPr>
          <p:spPr>
            <a:xfrm>
              <a:off x="4127" y="2438"/>
              <a:ext cx="339" cy="5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tailEnd type="triangle"/>
            </a:ln>
          </p:spPr>
        </p:cxnSp>
        <p:sp>
          <p:nvSpPr>
            <p:cNvPr id="20" name="Text Box 8"/>
            <p:cNvSpPr/>
            <p:nvPr>
              <p:custDataLst>
                <p:tags r:id="rId7"/>
              </p:custDataLst>
            </p:nvPr>
          </p:nvSpPr>
          <p:spPr>
            <a:xfrm>
              <a:off x="4740" y="2160"/>
              <a:ext cx="356" cy="33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/>
              <a:r>
                <a:rPr lang="en-US" altLang="zh-CN" sz="28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b="1" i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2800" b="1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合</a:t>
              </a:r>
              <a:endPara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9"/>
            <p:cNvSpPr/>
            <p:nvPr>
              <p:custDataLst>
                <p:tags r:id="rId8"/>
              </p:custDataLst>
            </p:nvPr>
          </p:nvSpPr>
          <p:spPr>
            <a:xfrm>
              <a:off x="3969" y="2732"/>
              <a:ext cx="335" cy="33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/>
              <a:r>
                <a:rPr lang="en-US" altLang="zh-CN" sz="28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b="1" i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b="1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2" name="Rectangle 10"/>
            <p:cNvSpPr/>
            <p:nvPr>
              <p:custDataLst>
                <p:tags r:id="rId9"/>
              </p:custDataLst>
            </p:nvPr>
          </p:nvSpPr>
          <p:spPr>
            <a:xfrm>
              <a:off x="3969" y="1797"/>
              <a:ext cx="335" cy="33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/>
              <a:r>
                <a:rPr lang="en-US" altLang="zh-CN" sz="28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b="1" i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b="1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cxnSp>
          <p:nvCxnSpPr>
            <p:cNvPr id="23" name="Line 11"/>
            <p:cNvCxnSpPr/>
            <p:nvPr>
              <p:custDataLst>
                <p:tags r:id="rId10"/>
              </p:custDataLst>
            </p:nvPr>
          </p:nvCxnSpPr>
          <p:spPr>
            <a:xfrm flipV="1">
              <a:off x="4468" y="2432"/>
              <a:ext cx="362" cy="499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miter lim="800000"/>
            </a:ln>
          </p:spPr>
        </p:cxnSp>
        <p:cxnSp>
          <p:nvCxnSpPr>
            <p:cNvPr id="24" name="Line 12"/>
            <p:cNvCxnSpPr/>
            <p:nvPr>
              <p:custDataLst>
                <p:tags r:id="rId11"/>
              </p:custDataLst>
            </p:nvPr>
          </p:nvCxnSpPr>
          <p:spPr>
            <a:xfrm>
              <a:off x="4513" y="1933"/>
              <a:ext cx="317" cy="499"/>
            </a:xfrm>
            <a:prstGeom prst="line">
              <a:avLst/>
            </a:prstGeom>
            <a:noFill/>
            <a:ln>
              <a:solidFill>
                <a:schemeClr val="tx1"/>
              </a:solidFill>
              <a:prstDash val="dash"/>
              <a:miter lim="800000"/>
            </a:ln>
          </p:spPr>
        </p:cxnSp>
      </p:grpSp>
    </p:spTree>
    <p:extLst>
      <p:ext uri="{BB962C8B-B14F-4D97-AF65-F5344CB8AC3E}">
        <p14:creationId xmlns:p14="http://schemas.microsoft.com/office/powerpoint/2010/main" val="4700523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10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117917" y="1120046"/>
            <a:ext cx="9956165" cy="3346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80670">
              <a:lnSpc>
                <a:spcPct val="150000"/>
              </a:lnSpc>
              <a:spcAft>
                <a:spcPct val="0"/>
              </a:spcAft>
              <a:tabLst>
                <a:tab pos="1028700" algn="l"/>
                <a:tab pos="1849755" algn="l"/>
                <a:tab pos="2537460" algn="l"/>
                <a:tab pos="3221355" algn="l"/>
              </a:tabLst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例题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一个有钢制滑板的雪橇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连同上面的木料的总质量为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钢与冰之间的动摩擦因数为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μ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重力加速度为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。在水平的冰道上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马通过绳子拉着雪橇前进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绳子与水平地面的夹角为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30°,</a:t>
            </a:r>
            <a:r>
              <a:rPr lang="zh-CN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当绳子拉力为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马拉着雪橇做匀加速直线运动。求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50000"/>
              </a:lnSpc>
              <a:spcAft>
                <a:spcPct val="0"/>
              </a:spcAft>
              <a:tabLst>
                <a:tab pos="1028700" algn="l"/>
                <a:tab pos="1849755" algn="l"/>
                <a:tab pos="2537460" algn="l"/>
                <a:tab pos="3221355" algn="l"/>
              </a:tabLst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雪橇受到的摩擦力大小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zh-CN" altLang="zh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50000"/>
              </a:lnSpc>
              <a:spcAft>
                <a:spcPct val="0"/>
              </a:spcAft>
              <a:tabLst>
                <a:tab pos="1028700" algn="l"/>
                <a:tab pos="1849755" algn="l"/>
                <a:tab pos="2537460" algn="l"/>
                <a:tab pos="3221355" algn="l"/>
              </a:tabLst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雪橇的加速度大小。</a:t>
            </a:r>
            <a:endParaRPr lang="zh-CN" altLang="zh-CN" sz="240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VWG1TRX92.eps"/>
          <p:cNvPicPr/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271009" y="3024265"/>
            <a:ext cx="3493780" cy="2493084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 flipH="1">
            <a:off x="11658600" y="10312400"/>
            <a:ext cx="0" cy="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306233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>
                <a:spLocks noChangeAspect="1"/>
              </p:cNvSpPr>
              <p:nvPr>
                <p:custDataLst>
                  <p:tags r:id="rId1"/>
                </p:custDataLst>
              </p:nvPr>
            </p:nvSpPr>
            <p:spPr>
              <a:xfrm>
                <a:off x="755911" y="1116450"/>
                <a:ext cx="11436089" cy="307148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80670">
                  <a:lnSpc>
                    <a:spcPct val="150000"/>
                  </a:lnSpc>
                  <a:spcAft>
                    <a:spcPct val="0"/>
                  </a:spcAft>
                  <a:tabLst>
                    <a:tab pos="1028700" algn="l"/>
                    <a:tab pos="1849755" algn="l"/>
                    <a:tab pos="2537460" algn="l"/>
                    <a:tab pos="3221355" algn="l"/>
                  </a:tabLst>
                </a:pPr>
                <a:r>
                  <a:rPr lang="zh-CN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解析</a:t>
                </a:r>
                <a:r>
                  <a:rPr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zh-CN" sz="240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此题考查牛顿第二定律的应用</a:t>
                </a:r>
                <a:r>
                  <a:rPr lang="zh-CN" altLang="en-US" sz="240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40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培养理解问题与分析问题的能力。</a:t>
                </a:r>
              </a:p>
              <a:p>
                <a:pPr indent="280670">
                  <a:lnSpc>
                    <a:spcPct val="150000"/>
                  </a:lnSpc>
                  <a:spcAft>
                    <a:spcPct val="0"/>
                  </a:spcAft>
                  <a:tabLst>
                    <a:tab pos="1028700" algn="l"/>
                    <a:tab pos="1849755" algn="l"/>
                    <a:tab pos="2537460" algn="l"/>
                    <a:tab pos="3221355" algn="l"/>
                  </a:tabLst>
                </a:pPr>
                <a:r>
                  <a:rPr lang="zh-CN" altLang="en-US" sz="240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40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sz="240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对雪橇受力分析</a:t>
                </a:r>
                <a:r>
                  <a:rPr lang="zh-CN" altLang="en-US" sz="240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40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如图所示</a:t>
                </a:r>
              </a:p>
              <a:p>
                <a:pPr indent="279400">
                  <a:lnSpc>
                    <a:spcPct val="150000"/>
                  </a:lnSpc>
                  <a:spcAft>
                    <a:spcPct val="0"/>
                  </a:spcAft>
                  <a:tabLst>
                    <a:tab pos="1028700" algn="l"/>
                    <a:tab pos="1849755" algn="l"/>
                    <a:tab pos="2537460" algn="l"/>
                    <a:tab pos="3221355" algn="l"/>
                  </a:tabLst>
                </a:pPr>
                <a:r>
                  <a:rPr lang="zh-CN" altLang="zh-CN" sz="240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雪橇所受的滑动摩擦力</a:t>
                </a:r>
                <a:r>
                  <a:rPr lang="en-US" altLang="zh-CN" sz="2400" i="1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400" i="1" baseline="-2500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400" i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=μF</a:t>
                </a:r>
                <a:r>
                  <a:rPr lang="en-US" altLang="zh-CN" sz="2400" baseline="-2500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endParaRPr lang="zh-CN" altLang="zh-CN" sz="240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50000"/>
                  </a:lnSpc>
                  <a:spcAft>
                    <a:spcPct val="0"/>
                  </a:spcAft>
                  <a:tabLst>
                    <a:tab pos="1028700" algn="l"/>
                    <a:tab pos="1849755" algn="l"/>
                    <a:tab pos="2537460" algn="l"/>
                    <a:tab pos="3221355" algn="l"/>
                  </a:tabLst>
                </a:pPr>
                <a:r>
                  <a:rPr lang="zh-CN" altLang="zh-CN" sz="240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在竖直方向有</a:t>
                </a:r>
                <a:r>
                  <a:rPr lang="en-US" altLang="zh-CN" sz="240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i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400" baseline="-2500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400" i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=mg-F</a:t>
                </a:r>
                <a:r>
                  <a:rPr lang="en-US" altLang="zh-CN" sz="240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sin 30°</a:t>
                </a:r>
                <a:endPara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50000"/>
                  </a:lnSpc>
                  <a:spcAft>
                    <a:spcPct val="0"/>
                  </a:spcAft>
                  <a:tabLst>
                    <a:tab pos="1028700" algn="l"/>
                    <a:tab pos="1849755" algn="l"/>
                    <a:tab pos="2537460" algn="l"/>
                    <a:tab pos="3221355" algn="l"/>
                  </a:tabLst>
                </a:pPr>
                <a:r>
                  <a:rPr lang="zh-CN" altLang="en-US" sz="240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sz="240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𝑚𝑔</m:t>
                        </m:r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</m:d>
                    <m:r>
                      <a:rPr lang="zh-CN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zh-CN" altLang="zh-CN" sz="240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755911" y="1116450"/>
                <a:ext cx="11436089" cy="3071482"/>
              </a:xfrm>
              <a:prstGeom prst="rect">
                <a:avLst/>
              </a:prstGeom>
              <a:blipFill rotWithShape="1">
                <a:blip r:embed="rId6"/>
                <a:stretch>
                  <a:fillRect l="-2" t="-4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VWG1TRX92A.eps"/>
          <p:cNvPicPr/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254131" y="2291313"/>
            <a:ext cx="3799532" cy="33586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55911" y="4269780"/>
                <a:ext cx="7626985" cy="201093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indent="280670">
                  <a:lnSpc>
                    <a:spcPct val="150000"/>
                  </a:lnSpc>
                  <a:spcAft>
                    <a:spcPct val="0"/>
                  </a:spcAft>
                  <a:tabLst>
                    <a:tab pos="1028065" algn="l"/>
                    <a:tab pos="1849120" algn="l"/>
                    <a:tab pos="2536825" algn="l"/>
                    <a:tab pos="3220720" algn="l"/>
                  </a:tabLst>
                </a:pPr>
                <a:r>
                  <a:rPr lang="zh-CN" altLang="en-US" sz="240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（</a:t>
                </a:r>
                <a:r>
                  <a:rPr lang="en-US" altLang="zh-CN" sz="240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2</a:t>
                </a:r>
                <a:r>
                  <a:rPr lang="zh-CN" altLang="en-US" sz="240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）</a:t>
                </a:r>
                <a:r>
                  <a:rPr lang="zh-CN" altLang="zh-CN" sz="240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雪橇做匀加速运动</a:t>
                </a:r>
                <a:r>
                  <a:rPr lang="en-US" altLang="zh-CN" sz="240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,</a:t>
                </a:r>
                <a:r>
                  <a:rPr lang="zh-CN" altLang="zh-CN" sz="240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根据牛顿第二定律得</a:t>
                </a:r>
                <a:endParaRPr lang="zh-CN" altLang="zh-CN" sz="240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indent="280670">
                  <a:lnSpc>
                    <a:spcPct val="150000"/>
                  </a:lnSpc>
                  <a:spcAft>
                    <a:spcPct val="0"/>
                  </a:spcAft>
                  <a:tabLst>
                    <a:tab pos="1028065" algn="l"/>
                    <a:tab pos="1849120" algn="l"/>
                    <a:tab pos="2536825" algn="l"/>
                    <a:tab pos="3220720" algn="l"/>
                  </a:tabLst>
                </a:pPr>
                <a:r>
                  <a:rPr lang="en-US" altLang="zh-CN" sz="2400" i="1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F</a:t>
                </a:r>
                <a:r>
                  <a:rPr lang="en-US" altLang="zh-CN" sz="240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cos 30°</a:t>
                </a:r>
                <a:r>
                  <a:rPr lang="en-US" altLang="zh-CN" sz="2400" i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-F</a:t>
                </a:r>
                <a:r>
                  <a:rPr lang="en-US" altLang="zh-CN" sz="2400" i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f</a:t>
                </a:r>
                <a:r>
                  <a:rPr lang="en-US" altLang="zh-CN" sz="2400" i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=ma</a:t>
                </a:r>
              </a:p>
              <a:p>
                <a:pPr indent="280670">
                  <a:lnSpc>
                    <a:spcPct val="150000"/>
                  </a:lnSpc>
                  <a:spcAft>
                    <a:spcPct val="0"/>
                  </a:spcAft>
                  <a:tabLst>
                    <a:tab pos="1028065" algn="l"/>
                    <a:tab pos="1849120" algn="l"/>
                    <a:tab pos="2536825" algn="l"/>
                    <a:tab pos="3220720" algn="l"/>
                  </a:tabLst>
                </a:pPr>
                <a:r>
                  <a:rPr lang="zh-CN" altLang="en-US" sz="240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解得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rPr>
                      <m:t>𝑎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+mn-ea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+mn-ea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  <a:sym typeface="+mn-ea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  <a:sym typeface="+mn-ea"/>
                              </a:rPr>
                              <m:t>3</m:t>
                            </m:r>
                          </m:e>
                        </m:rad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+mn-ea"/>
                          </a:rPr>
                          <m:t>𝐹</m:t>
                        </m:r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+mn-ea"/>
                          </a:rPr>
                          <m:t>−</m:t>
                        </m:r>
                        <m:r>
                          <a:rPr lang="zh-CN" alt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+mn-ea"/>
                          </a:rPr>
                          <m:t>𝜇</m:t>
                        </m:r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  <a:sym typeface="+mn-ea"/>
                              </a:rPr>
                              <m:t>2</m:t>
                            </m:r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  <a:sym typeface="+mn-ea"/>
                              </a:rPr>
                              <m:t>𝑚𝑔</m:t>
                            </m:r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  <a:sym typeface="+mn-ea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  <a:sym typeface="+mn-ea"/>
                              </a:rPr>
                              <m:t>𝐹</m:t>
                            </m:r>
                          </m:e>
                        </m:d>
                      </m:num>
                      <m:den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+mn-ea"/>
                          </a:rPr>
                          <m:t>2</m:t>
                        </m:r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+mn-ea"/>
                          </a:rPr>
                          <m:t>𝑚</m:t>
                        </m:r>
                      </m:den>
                    </m:f>
                  </m:oMath>
                </a14:m>
                <a:r>
                  <a:rPr lang="zh-CN" altLang="en-US" sz="240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755911" y="4269780"/>
                <a:ext cx="7626985" cy="2010935"/>
              </a:xfrm>
              <a:prstGeom prst="rect">
                <a:avLst/>
              </a:prstGeom>
              <a:blipFill rotWithShape="1">
                <a:blip r:embed="rId10"/>
                <a:stretch>
                  <a:fillRect l="-3" t="-2" r="3" b="-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237391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思维导图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998" y="1856651"/>
            <a:ext cx="6334125" cy="1771650"/>
          </a:xfrm>
          <a:prstGeom prst="rect">
            <a:avLst/>
          </a:prstGeom>
        </p:spPr>
      </p:pic>
      <p:sp>
        <p:nvSpPr>
          <p:cNvPr id="5" name="文本1"/>
          <p:cNvSpPr txBox="1"/>
          <p:nvPr/>
        </p:nvSpPr>
        <p:spPr>
          <a:xfrm>
            <a:off x="306070" y="208280"/>
            <a:ext cx="1946910" cy="628650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3000" b="1" i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</a:rPr>
              <a:t>课堂小结</a:t>
            </a:r>
          </a:p>
        </p:txBody>
      </p:sp>
      <p:cxnSp>
        <p:nvCxnSpPr>
          <p:cNvPr id="17" name="直接连接符 16"/>
          <p:cNvCxnSpPr/>
          <p:nvPr/>
        </p:nvCxnSpPr>
        <p:spPr>
          <a:xfrm flipV="1">
            <a:off x="188595" y="723265"/>
            <a:ext cx="1876425" cy="15875"/>
          </a:xfrm>
          <a:prstGeom prst="line">
            <a:avLst/>
          </a:prstGeom>
          <a:ln>
            <a:solidFill>
              <a:srgbClr val="276334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>
            <p:custDataLst>
              <p:tags r:id="rId1"/>
            </p:custDataLst>
          </p:nvPr>
        </p:nvSpPr>
        <p:spPr>
          <a:xfrm>
            <a:off x="2254812" y="1778968"/>
            <a:ext cx="8572500" cy="4558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1．当物体的质量一定时，下说法中正确的是（　　）</a:t>
            </a:r>
          </a:p>
          <a:p>
            <a:pPr>
              <a:lnSpc>
                <a:spcPct val="150000"/>
              </a:lnSpc>
            </a:pPr>
            <a:r>
              <a: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A．物体受到的合外力为零，它的速度也一定为零</a:t>
            </a:r>
          </a:p>
          <a:p>
            <a:pPr>
              <a:lnSpc>
                <a:spcPct val="150000"/>
              </a:lnSpc>
            </a:pPr>
            <a:r>
              <a: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B．物体受到的合外力为零，它的加速度也一定为零</a:t>
            </a:r>
          </a:p>
          <a:p>
            <a:pPr>
              <a:lnSpc>
                <a:spcPct val="150000"/>
              </a:lnSpc>
            </a:pPr>
            <a:r>
              <a: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C．物体受到的合外力越大，它的速度也一定越大</a:t>
            </a:r>
          </a:p>
          <a:p>
            <a:pPr>
              <a:lnSpc>
                <a:spcPct val="150000"/>
              </a:lnSpc>
            </a:pPr>
            <a:r>
              <a: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D．物体受到的合外力越大，它的加速度不一定越大</a:t>
            </a:r>
          </a:p>
        </p:txBody>
      </p:sp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8670873" y="1897463"/>
            <a:ext cx="394970" cy="551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/>
          <p:nvPr>
            <p:custDataLst>
              <p:tags r:id="rId1"/>
            </p:custDataLst>
          </p:nvPr>
        </p:nvSpPr>
        <p:spPr>
          <a:xfrm>
            <a:off x="989352" y="924885"/>
            <a:ext cx="10433154" cy="500823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>
            <a:sp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lnSpc>
                <a:spcPct val="150000"/>
              </a:lnSpc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2.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某人想测量地铁启动过程中的加速度，他把一根细绳的下端绑着一支圆珠笔，细绳的上端用电工胶布临时固定在地铁的竖直扶手上。在地铁起动后的某段加速过程中，细绳偏离了竖直方向，他用手机拍摄了当时情景的照片如下，拍摄方向跟地铁前进方向垂直。我们应该测量什么数据才能估算此时地铁的加速度（      ）</a:t>
            </a:r>
          </a:p>
          <a:p>
            <a:pPr marL="0" lvl="0" indent="0" eaLnBrk="1" hangingPunct="1">
              <a:lnSpc>
                <a:spcPct val="150000"/>
              </a:lnSpc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A.细线与竖直方向夹角</a:t>
            </a:r>
          </a:p>
          <a:p>
            <a:pPr marL="0" lvl="0" indent="0" eaLnBrk="1" hangingPunct="1">
              <a:lnSpc>
                <a:spcPct val="150000"/>
              </a:lnSpc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B.细线长度</a:t>
            </a:r>
          </a:p>
          <a:p>
            <a:pPr marL="0" lvl="0" indent="0" eaLnBrk="1" hangingPunct="1">
              <a:lnSpc>
                <a:spcPct val="150000"/>
              </a:lnSpc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C.圆珠笔质量</a:t>
            </a:r>
          </a:p>
          <a:p>
            <a:pPr marL="0" lvl="0" indent="0" eaLnBrk="1" hangingPunct="1">
              <a:lnSpc>
                <a:spcPct val="150000"/>
              </a:lnSpc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D.圆珠笔的高度</a:t>
            </a:r>
          </a:p>
        </p:txBody>
      </p:sp>
      <p:pic>
        <p:nvPicPr>
          <p:cNvPr id="3" name="图片 11"/>
          <p:cNvPicPr/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783063" y="3303509"/>
            <a:ext cx="1185395" cy="2629606"/>
          </a:xfrm>
          <a:prstGeom prst="rect">
            <a:avLst/>
          </a:prstGeom>
          <a:noFill/>
          <a:ln>
            <a:noFill/>
            <a:miter lim="800000"/>
          </a:ln>
        </p:spPr>
      </p:pic>
      <p:sp>
        <p:nvSpPr>
          <p:cNvPr id="4" name="文本框 1"/>
          <p:cNvSpPr/>
          <p:nvPr>
            <p:custDataLst>
              <p:tags r:id="rId3"/>
            </p:custDataLst>
          </p:nvPr>
        </p:nvSpPr>
        <p:spPr>
          <a:xfrm>
            <a:off x="3256785" y="3198812"/>
            <a:ext cx="484188" cy="4603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31791" y="1848516"/>
            <a:ext cx="10964545" cy="2611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8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ct val="50000"/>
              </a:spcBef>
              <a:defRPr sz="36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质量为</a:t>
            </a: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1kg</a:t>
            </a:r>
            <a:r>
              <a: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的物体受到两个大小分别为</a:t>
            </a: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2N</a:t>
            </a:r>
            <a:r>
              <a: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4N</a:t>
            </a:r>
            <a:r>
              <a: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的共点力作用，则物体的加速度大小可能是（        ）</a:t>
            </a:r>
            <a:endParaRPr lang="en-US" altLang="zh-CN" sz="2400" b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A.5m/s</a:t>
            </a:r>
            <a:r>
              <a:rPr lang="en-US" altLang="zh-CN" sz="2400" b="0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B.3m/s</a:t>
            </a:r>
            <a:r>
              <a:rPr lang="en-US" altLang="zh-CN" sz="2400" b="0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</a:p>
          <a:p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C.2m/s</a:t>
            </a:r>
            <a:r>
              <a:rPr lang="en-US" altLang="zh-CN" sz="2400" b="0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</a:t>
            </a: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D.0.5m/s</a:t>
            </a:r>
            <a:r>
              <a:rPr lang="en-US" altLang="zh-CN" sz="2400" b="0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2535618" y="2389724"/>
            <a:ext cx="1179830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/>
          <p:nvPr>
            <p:custDataLst>
              <p:tags r:id="rId1"/>
            </p:custDataLst>
          </p:nvPr>
        </p:nvSpPr>
        <p:spPr>
          <a:xfrm>
            <a:off x="1494570" y="2541134"/>
            <a:ext cx="9328327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  <a:prstDash val="sysDot"/>
            <a:round/>
          </a:ln>
        </p:spPr>
        <p:txBody>
          <a:bodyPr wrap="squar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、内容：物体加速度与合外力</a:t>
            </a:r>
            <a:r>
              <a:rPr lang="en-US" altLang="zh-CN" sz="2400" i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2400" baseline="-25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合</a:t>
            </a: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成正比，与质量</a:t>
            </a:r>
            <a:r>
              <a:rPr lang="en-US" altLang="zh-CN" sz="2400" i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成反比，加速度方向与合外力方向相同。</a:t>
            </a:r>
            <a:endParaRPr lang="en-US" altLang="zh-CN" sz="24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/>
          <p:nvPr>
            <p:custDataLst>
              <p:tags r:id="rId2"/>
            </p:custDataLst>
          </p:nvPr>
        </p:nvSpPr>
        <p:spPr>
          <a:xfrm>
            <a:off x="1494571" y="1306059"/>
            <a:ext cx="8610600" cy="46166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一、研究过程：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控制变量法；</a:t>
            </a: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得出规律：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归纳法</a:t>
            </a:r>
          </a:p>
        </p:txBody>
      </p:sp>
      <p:sp>
        <p:nvSpPr>
          <p:cNvPr id="5" name="Text Box 4"/>
          <p:cNvSpPr/>
          <p:nvPr>
            <p:custDataLst>
              <p:tags r:id="rId3"/>
            </p:custDataLst>
          </p:nvPr>
        </p:nvSpPr>
        <p:spPr>
          <a:xfrm>
            <a:off x="1516796" y="1958521"/>
            <a:ext cx="7272338" cy="46166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二、牛顿第二定律</a:t>
            </a:r>
          </a:p>
        </p:txBody>
      </p:sp>
      <p:sp>
        <p:nvSpPr>
          <p:cNvPr id="6" name="Text Box 5"/>
          <p:cNvSpPr/>
          <p:nvPr>
            <p:custDataLst>
              <p:tags r:id="rId4"/>
            </p:custDataLst>
          </p:nvPr>
        </p:nvSpPr>
        <p:spPr>
          <a:xfrm>
            <a:off x="2917607" y="3772399"/>
            <a:ext cx="1850390" cy="461665"/>
          </a:xfrm>
          <a:prstGeom prst="rect">
            <a:avLst/>
          </a:prstGeom>
          <a:noFill/>
          <a:ln w="12700">
            <a:solidFill>
              <a:srgbClr val="FF0000"/>
            </a:solidFill>
            <a:prstDash val="lgDash"/>
            <a:round/>
          </a:ln>
        </p:spPr>
        <p:txBody>
          <a:bodyPr wrap="squar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algn="ctr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2400" i="1">
                <a:solidFill>
                  <a:srgbClr val="CC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2400" baseline="-25000">
                <a:solidFill>
                  <a:srgbClr val="CC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合</a:t>
            </a:r>
            <a:r>
              <a:rPr lang="en-US" altLang="zh-CN" sz="2400">
                <a:solidFill>
                  <a:srgbClr val="CC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400" i="1">
                <a:solidFill>
                  <a:srgbClr val="CC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ma</a:t>
            </a:r>
          </a:p>
        </p:txBody>
      </p:sp>
      <p:sp>
        <p:nvSpPr>
          <p:cNvPr id="7" name="Text Box 6"/>
          <p:cNvSpPr/>
          <p:nvPr>
            <p:custDataLst>
              <p:tags r:id="rId5"/>
            </p:custDataLst>
          </p:nvPr>
        </p:nvSpPr>
        <p:spPr>
          <a:xfrm>
            <a:off x="1494571" y="3760334"/>
            <a:ext cx="2160588" cy="46166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、公式：</a:t>
            </a:r>
          </a:p>
        </p:txBody>
      </p:sp>
      <p:sp>
        <p:nvSpPr>
          <p:cNvPr id="8" name="Text Box 7"/>
          <p:cNvSpPr/>
          <p:nvPr>
            <p:custDataLst>
              <p:tags r:id="rId6"/>
            </p:custDataLst>
          </p:nvPr>
        </p:nvSpPr>
        <p:spPr>
          <a:xfrm>
            <a:off x="1494571" y="4522334"/>
            <a:ext cx="6624638" cy="46166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>
              <a:spcBef>
                <a:spcPct val="50000"/>
              </a:spcBef>
              <a:buFont typeface="Arial" panose="020B0604020202020204" pitchFamily="34" charset="0"/>
            </a:pPr>
            <a:r>
              <a:rPr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</a:t>
            </a: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、对牛顿第二定律的理解：</a:t>
            </a:r>
          </a:p>
        </p:txBody>
      </p:sp>
      <p:sp>
        <p:nvSpPr>
          <p:cNvPr id="9" name="Text Box 9"/>
          <p:cNvSpPr/>
          <p:nvPr>
            <p:custDataLst>
              <p:tags r:id="rId7"/>
            </p:custDataLst>
          </p:nvPr>
        </p:nvSpPr>
        <p:spPr>
          <a:xfrm>
            <a:off x="4932940" y="5261146"/>
            <a:ext cx="1405890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rgbClr val="FF0000"/>
            </a:solidFill>
            <a:prstDash val="sysDot"/>
            <a:round/>
          </a:ln>
        </p:spPr>
        <p:txBody>
          <a:bodyPr wrap="squar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algn="ctr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矢量性</a:t>
            </a:r>
          </a:p>
        </p:txBody>
      </p:sp>
      <p:sp>
        <p:nvSpPr>
          <p:cNvPr id="10" name="Text Box 10"/>
          <p:cNvSpPr/>
          <p:nvPr>
            <p:custDataLst>
              <p:tags r:id="rId8"/>
            </p:custDataLst>
          </p:nvPr>
        </p:nvSpPr>
        <p:spPr>
          <a:xfrm>
            <a:off x="6608705" y="5261146"/>
            <a:ext cx="1358265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rgbClr val="FF0000"/>
            </a:solidFill>
            <a:prstDash val="sysDot"/>
            <a:round/>
          </a:ln>
        </p:spPr>
        <p:txBody>
          <a:bodyPr wrap="squar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algn="ctr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瞬时性</a:t>
            </a:r>
          </a:p>
        </p:txBody>
      </p:sp>
      <p:sp>
        <p:nvSpPr>
          <p:cNvPr id="11" name="Text Box 12"/>
          <p:cNvSpPr/>
          <p:nvPr>
            <p:custDataLst>
              <p:tags r:id="rId9"/>
            </p:custDataLst>
          </p:nvPr>
        </p:nvSpPr>
        <p:spPr>
          <a:xfrm>
            <a:off x="8236845" y="5261146"/>
            <a:ext cx="1425575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rgbClr val="FF0000"/>
            </a:solidFill>
            <a:prstDash val="sysDot"/>
            <a:round/>
          </a:ln>
        </p:spPr>
        <p:txBody>
          <a:bodyPr wrap="squar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algn="ctr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独立性</a:t>
            </a:r>
          </a:p>
        </p:txBody>
      </p:sp>
      <p:sp>
        <p:nvSpPr>
          <p:cNvPr id="24" name="Text Box 9"/>
          <p:cNvSpPr/>
          <p:nvPr>
            <p:custDataLst>
              <p:tags r:id="rId10"/>
            </p:custDataLst>
          </p:nvPr>
        </p:nvSpPr>
        <p:spPr>
          <a:xfrm>
            <a:off x="1658880" y="5261146"/>
            <a:ext cx="1268730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rgbClr val="FF0000"/>
            </a:solidFill>
            <a:prstDash val="sysDot"/>
            <a:round/>
          </a:ln>
        </p:spPr>
        <p:txBody>
          <a:bodyPr wrap="squar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algn="ctr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同体性</a:t>
            </a:r>
          </a:p>
        </p:txBody>
      </p:sp>
      <p:sp>
        <p:nvSpPr>
          <p:cNvPr id="25" name="Text Box 9"/>
          <p:cNvSpPr/>
          <p:nvPr>
            <p:custDataLst>
              <p:tags r:id="rId11"/>
            </p:custDataLst>
          </p:nvPr>
        </p:nvSpPr>
        <p:spPr>
          <a:xfrm>
            <a:off x="3257175" y="5261146"/>
            <a:ext cx="1405890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rgbClr val="FF0000"/>
            </a:solidFill>
            <a:prstDash val="sysDot"/>
            <a:round/>
          </a:ln>
        </p:spPr>
        <p:txBody>
          <a:bodyPr wrap="squar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algn="ctr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因果性</a:t>
            </a:r>
          </a:p>
        </p:txBody>
      </p:sp>
      <p:sp>
        <p:nvSpPr>
          <p:cNvPr id="26" name="Text Box 5"/>
          <p:cNvSpPr/>
          <p:nvPr>
            <p:custDataLst>
              <p:tags r:id="rId12"/>
            </p:custDataLst>
          </p:nvPr>
        </p:nvSpPr>
        <p:spPr>
          <a:xfrm>
            <a:off x="5152965" y="3760333"/>
            <a:ext cx="5669932" cy="461665"/>
          </a:xfrm>
          <a:prstGeom prst="rect">
            <a:avLst/>
          </a:prstGeom>
          <a:noFill/>
          <a:ln w="12700">
            <a:solidFill>
              <a:srgbClr val="FF0000"/>
            </a:solidFill>
            <a:prstDash val="lgDash"/>
            <a:round/>
          </a:ln>
        </p:spPr>
        <p:txBody>
          <a:bodyPr wrap="squar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algn="ctr">
              <a:spcBef>
                <a:spcPct val="50000"/>
              </a:spcBef>
              <a:buFont typeface="Arial" panose="020B0604020202020204" pitchFamily="34" charset="0"/>
            </a:pPr>
            <a:r>
              <a:rPr sz="2400">
                <a:solidFill>
                  <a:srgbClr val="CC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质量（</a:t>
            </a:r>
            <a:r>
              <a:rPr lang="en-US" altLang="zh-CN" sz="2400">
                <a:solidFill>
                  <a:srgbClr val="CC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kg</a:t>
            </a:r>
            <a:r>
              <a:rPr sz="2400">
                <a:solidFill>
                  <a:srgbClr val="CC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）、长度（</a:t>
            </a:r>
            <a:r>
              <a:rPr lang="en-US" altLang="zh-CN" sz="2400">
                <a:solidFill>
                  <a:srgbClr val="CC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sz="2400">
                <a:solidFill>
                  <a:srgbClr val="CC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）、时间（</a:t>
            </a:r>
            <a:r>
              <a:rPr lang="en-US" altLang="zh-CN" sz="2400">
                <a:solidFill>
                  <a:srgbClr val="CC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sz="2400">
                <a:solidFill>
                  <a:srgbClr val="CC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 additive="base"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 additive="base"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 additive="base"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 additive="base"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 animBg="1"/>
      <p:bldP spid="7" grpId="0"/>
      <p:bldP spid="8" grpId="0"/>
      <p:bldP spid="9" grpId="0" animBg="1"/>
      <p:bldP spid="10" grpId="0" animBg="1"/>
      <p:bldP spid="11" grpId="0" animBg="1"/>
      <p:bldP spid="24" grpId="0" animBg="1"/>
      <p:bldP spid="25" grpId="0" animBg="1"/>
      <p:bldP spid="2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3.10 unknown"/>
  <p:tag name="AS_RELEASE_DATE" val="2023.03.31"/>
  <p:tag name="AS_TITLE" val="Aspose.Slides for Java"/>
  <p:tag name="AS_VERSION" val="23.3"/>
  <p:tag name="COMMONDATA" val="eyJoZGlkIjoiODViY2JkMjU3NGYzZTEwMzZmMGFkZWViYmNkYWU3ND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4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4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4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5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5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5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5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6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6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6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6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7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7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78"/>
  <p:tag name="KSO_WM_DIAGRAM_VIRTUALLY_FRAME" val="{&quot;height&quot;:617.5499877929688,&quot;left&quot;:81.7,&quot;top&quot;:36,&quot;width&quot;:771.3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79"/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8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87"/>
  <p:tag name="KSO_WM_DIAGRAM_VIRTUALLY_FRAME" val="{&quot;height&quot;:617.5499877929688,&quot;left&quot;:81.7,&quot;top&quot;:36,&quot;width&quot;:771.3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88"/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9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96"/>
  <p:tag name="KSO_WM_DIAGRAM_VIRTUALLY_FRAME" val="{&quot;height&quot;:617.5499877929688,&quot;left&quot;:81.7,&quot;top&quot;:36,&quot;width&quot;:771.3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97"/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0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05"/>
  <p:tag name="KSO_WM_DIAGRAM_VIRTUALLY_FRAME" val="{&quot;height&quot;:617.5499877929688,&quot;left&quot;:81.7,&quot;top&quot;:36,&quot;width&quot;:771.3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06"/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1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14"/>
  <p:tag name="KSO_WM_DIAGRAM_VIRTUALLY_FRAME" val="{&quot;height&quot;:617.5499877929688,&quot;left&quot;:81.7,&quot;top&quot;:36,&quot;width&quot;:771.3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15"/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1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1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19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2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2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2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2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2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2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2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29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3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3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3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3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3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36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37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38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39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4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4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4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4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45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948.9259842519687,&quot;width&quot;:2948.9259842519687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39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4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4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4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4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4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45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47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4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49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5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5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5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53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5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55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57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58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59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6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63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6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65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6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6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67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68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7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7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75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76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77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78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7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73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69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7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8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8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8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88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89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9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9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9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93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83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87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84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85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86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9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96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0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04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05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06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07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08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09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1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1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1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13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14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15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16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17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18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19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2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2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22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23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24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25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26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27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28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29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3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3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3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33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34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0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02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03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9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98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99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36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37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38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4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42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43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44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39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40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02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04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05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06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07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08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09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0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2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3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4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5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6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8"/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2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3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4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6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7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8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9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0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2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3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4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6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8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9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0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2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3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4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5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6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8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0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2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3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4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5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6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8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9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0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2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3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4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5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6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7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8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9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0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2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3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4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5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6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7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8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0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2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4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6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8"/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7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8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9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0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2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3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4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8"/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6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7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8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9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1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2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3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4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5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6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7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8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9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0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1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2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3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4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5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6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7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8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9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0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1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2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3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4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5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7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8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0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1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3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4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5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6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7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8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9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0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1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2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3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4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5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6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7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8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9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0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1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2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4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6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8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3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4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5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6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7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8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9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9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2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0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1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8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8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65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0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1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2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3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4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5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6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7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2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3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67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7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9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0"/>
</p:tagLst>
</file>

<file path=ppt/tags/tag318.xml><?xml version="1.0" encoding="utf-8"?>
<p:tagLst xmlns:p="http://schemas.openxmlformats.org/presentationml/2006/main">
  <p:tag name="AS_UNIQUEID" val="1540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63"/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64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9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1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2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52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53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55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56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57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58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59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60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61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62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63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64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65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66"/>
</p:tagLst>
</file>

<file path=ppt/tags/tag1390.xml><?xml version="1.0" encoding="utf-8"?>
<p:tagLst xmlns:p="http://schemas.openxmlformats.org/presentationml/2006/main">
  <p:tag name="AS_UNIQUEID" val="1235"/>
</p:tagLst>
</file>

<file path=ppt/tags/tag1410.xml><?xml version="1.0" encoding="utf-8"?>
<p:tagLst xmlns:p="http://schemas.openxmlformats.org/presentationml/2006/main">
  <p:tag name="AS_UNIQUEID" val="1237"/>
</p:tagLst>
</file>

<file path=ppt/tags/tag1510.xml><?xml version="1.0" encoding="utf-8"?>
<p:tagLst xmlns:p="http://schemas.openxmlformats.org/presentationml/2006/main">
  <p:tag name="AS_UNIQUEID" val="1247"/>
</p:tagLst>
</file>

<file path=ppt/tags/tag1530.xml><?xml version="1.0" encoding="utf-8"?>
<p:tagLst xmlns:p="http://schemas.openxmlformats.org/presentationml/2006/main">
  <p:tag name="AS_UNIQUEID" val="1249"/>
</p:tagLst>
</file>

<file path=ppt/tags/tag1550.xml><?xml version="1.0" encoding="utf-8"?>
<p:tagLst xmlns:p="http://schemas.openxmlformats.org/presentationml/2006/main">
  <p:tag name="AS_UNIQUEID" val="1251"/>
</p:tagLst>
</file>

<file path=ppt/tags/tag1830.xml><?xml version="1.0" encoding="utf-8"?>
<p:tagLst xmlns:p="http://schemas.openxmlformats.org/presentationml/2006/main">
  <p:tag name="AS_UNIQUEID" val="1279"/>
</p:tagLst>
</file>

<file path=ppt/tags/tag1850.xml><?xml version="1.0" encoding="utf-8"?>
<p:tagLst xmlns:p="http://schemas.openxmlformats.org/presentationml/2006/main">
  <p:tag name="AS_UNIQUEID" val="1281"/>
</p:tagLst>
</file>

<file path=ppt/tags/tag1870.xml><?xml version="1.0" encoding="utf-8"?>
<p:tagLst xmlns:p="http://schemas.openxmlformats.org/presentationml/2006/main">
  <p:tag name="AS_UNIQUEID" val="1283"/>
</p:tagLst>
</file>

<file path=ppt/tags/tag2320.xml><?xml version="1.0" encoding="utf-8"?>
<p:tagLst xmlns:p="http://schemas.openxmlformats.org/presentationml/2006/main">
  <p:tag name="AS_UNIQUEID" val="1326"/>
</p:tagLst>
</file>

<file path=ppt/tags/tag2350.xml><?xml version="1.0" encoding="utf-8"?>
<p:tagLst xmlns:p="http://schemas.openxmlformats.org/presentationml/2006/main">
  <p:tag name="AS_UNIQUEID" val="1329"/>
</p:tagLst>
</file>

<file path=ppt/tags/tag2590.xml><?xml version="1.0" encoding="utf-8"?>
<p:tagLst xmlns:p="http://schemas.openxmlformats.org/presentationml/2006/main">
  <p:tag name="AS_UNIQUEID" val="1353"/>
</p:tagLst>
</file>

<file path=ppt/tags/tag2610.xml><?xml version="1.0" encoding="utf-8"?>
<p:tagLst xmlns:p="http://schemas.openxmlformats.org/presentationml/2006/main">
  <p:tag name="AS_UNIQUEID" val="1355"/>
</p:tagLst>
</file>

<file path=ppt/tags/tag2630.xml><?xml version="1.0" encoding="utf-8"?>
<p:tagLst xmlns:p="http://schemas.openxmlformats.org/presentationml/2006/main">
  <p:tag name="AS_UNIQUEID" val="1357"/>
</p:tagLst>
</file>

<file path=ppt/tags/tag3150.xml><?xml version="1.0" encoding="utf-8"?>
<p:tagLst xmlns:p="http://schemas.openxmlformats.org/presentationml/2006/main">
  <p:tag name="AS_UNIQUEID" val="1537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微软雅黑" panose="020B0503020204020204" charset="-122"/>
        <a:cs typeface="Arial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微软雅黑" panose="020B0503020204020204" charset="-122"/>
        <a:cs typeface="Arial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2365</Words>
  <Application>Microsoft Office PowerPoint</Application>
  <PresentationFormat>宽屏</PresentationFormat>
  <Paragraphs>244</Paragraphs>
  <Slides>30</Slides>
  <Notes>0</Notes>
  <HiddenSlides>0</HiddenSlides>
  <MMClips>1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44" baseType="lpstr">
      <vt:lpstr>等线</vt:lpstr>
      <vt:lpstr>方正姚体</vt:lpstr>
      <vt:lpstr>华文楷体</vt:lpstr>
      <vt:lpstr>楷体</vt:lpstr>
      <vt:lpstr>思源黑体 CN Heavy</vt:lpstr>
      <vt:lpstr>宋体</vt:lpstr>
      <vt:lpstr>微软雅黑</vt:lpstr>
      <vt:lpstr>Arial</vt:lpstr>
      <vt:lpstr>Calibri</vt:lpstr>
      <vt:lpstr>Cambria Math</vt:lpstr>
      <vt:lpstr>Times New Roman</vt:lpstr>
      <vt:lpstr>WPS</vt:lpstr>
      <vt:lpstr>Equation.KSEE3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学科网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rbm.xkw.com</dc:creator>
  <cp:lastModifiedBy>hu bo</cp:lastModifiedBy>
  <cp:revision>5</cp:revision>
  <cp:lastPrinted>2024-11-08T17:18:34Z</cp:lastPrinted>
  <dcterms:created xsi:type="dcterms:W3CDTF">2024-11-08T17:18:34Z</dcterms:created>
  <dcterms:modified xsi:type="dcterms:W3CDTF">2024-12-02T02:32:53Z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